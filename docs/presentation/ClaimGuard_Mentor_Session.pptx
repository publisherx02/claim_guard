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e76d728-a490-1709-723b-5460f77493c6}">
          <p14:sldIdLst>
            <p14:sldId id="256"/>
            <p14:sldId id="257"/>
            <p14:sldId id="258"/>
          </p14:sldIdLst>
        </p14:section>
        <p14:section name="Core" id="{3b4dea60-84e8-5c72-1a6e-d9231f56d2a3}">
          <p14:sldIdLst>
            <p14:sldId id="259"/>
            <p14:sldId id="260"/>
            <p14:sldId id="261"/>
            <p14:sldId id="262"/>
            <p14:sldId id="263"/>
            <p14:sldId id="264"/>
            <p14:sldId id="265"/>
          </p14:sldIdLst>
        </p14:section>
        <p14:section name="Queue, load balancing and AI" id="{b1eaa0d6-9179-8c77-703f-f9b326bfeaf6}">
          <p14:sldIdLst>
            <p14:sldId id="266"/>
            <p14:sldId id="267"/>
            <p14:sldId id="268"/>
            <p14:sldId id="269"/>
            <p14:sldId id="270"/>
            <p14:sldId id="271"/>
            <p14:sldId id="272"/>
            <p14:sldId id="273"/>
            <p14:sldId id="274"/>
          </p14:sldIdLst>
        </p14:section>
        <p14:section name="Storage and built this week" id="{02906909-a041-2ab4-e420-a473b486f4db}">
          <p14:sldIdLst>
            <p14:sldId id="275"/>
            <p14:sldId id="276"/>
            <p14:sldId id="277"/>
          </p14:sldIdLst>
        </p14:section>
        <p14:section name="Less work for the operator" id="{c222081f-3a55-e453-59e2-598847e3fcd4}">
          <p14:sldIdLst>
            <p14:sldId id="278"/>
            <p14:sldId id="279"/>
            <p14:sldId id="280"/>
            <p14:sldId id="281"/>
            <p14:sldId id="282"/>
            <p14:sldId id="283"/>
            <p14:sldId id="284"/>
            <p14:sldId id="285"/>
          </p14:sldIdLst>
        </p14:section>
        <p14:section name="Trust" id="{4fea54b4-87f3-5b97-02b7-49318d03ab34}">
          <p14:sldIdLst>
            <p14:sldId id="286"/>
            <p14:sldId id="287"/>
            <p14:sldId id="288"/>
            <p14:sldId id="289"/>
            <p14:sldId id="290"/>
            <p14:sldId id="291"/>
          </p14:sldIdLst>
        </p14:section>
        <p14:section name="Close" id="{c8c97747-d8d7-8316-2562-91ff42ea7284}">
          <p14:sldIdLst>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3F"/>
                </a:solidFill>
                <a:latin typeface="+mn-lt"/>
              </a:defRPr>
            </a:pPr>
            <a:r>
              <a:rPr sz="1400" b="0" i="0" u="none" strike="noStrike">
                <a:solidFill>
                  <a:srgbClr val="0E3B3F"/>
                </a:solidFill>
                <a:latin typeface="+mn-lt"/>
              </a:rPr>
              <a:t>Simulated: hours to drain 500 claims with 20 agents</a:t>
            </a:r>
          </a:p>
        </c:rich>
      </c:tx>
      <c:layout/>
      <c:overlay val="0"/>
    </c:title>
    <c:autoTitleDeleted val="0"/>
    <c:plotArea>
      <c:layout/>
      <c:barChart>
        <c:barDir val="col"/>
        <c:grouping val="clustered"/>
        <c:varyColors val="0"/>
        <c:ser>
          <c:idx val="0"/>
          <c:order val="0"/>
          <c:tx>
            <c:strRef>
              <c:f>Sheet1!$B$1</c:f>
              <c:strCache>
                <c:ptCount val="1"/>
                <c:pt idx="0">
                  <c:v>Hours to drain 500 claims</c:v>
                </c:pt>
              </c:strCache>
            </c:strRef>
          </c:tx>
          <c:spPr>
            <a:solidFill>
              <a:srgbClr val="14746F"/>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Sheet1!$A$2:$A$5</c:f>
              <c:multiLvlStrCache>
                <c:ptCount val="4"/>
                <c:lvl>
                  <c:pt idx="0">
                    <c:v>4 seniors</c:v>
                  </c:pt>
                  <c:pt idx="1">
                    <c:v>8 seniors</c:v>
                  </c:pt>
                  <c:pt idx="2">
                    <c:v>4 seniors, four-eyes</c:v>
                  </c:pt>
                  <c:pt idx="3">
                    <c:v>8 seniors, four-eyes</c:v>
                  </c:pt>
                </c:lvl>
              </c:multiLvlStrCache>
            </c:multiLvlStrRef>
          </c:cat>
          <c:val>
            <c:numRef>
              <c:f>Sheet1!$B$2:$B$5</c:f>
              <c:numCache>
                <c:formatCode>General</c:formatCode>
                <c:ptCount val="4"/>
                <c:pt idx="0">
                  <c:v>2.97</c:v>
                </c:pt>
                <c:pt idx="1">
                  <c:v>1.82</c:v>
                </c:pt>
                <c:pt idx="2">
                  <c:v>5.66</c:v>
                </c:pt>
                <c:pt idx="3">
                  <c:v>3.07</c:v>
                </c:pt>
              </c:numCache>
            </c:numRef>
          </c:val>
        </c:ser>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71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3F"/>
                </a:solidFill>
                <a:latin typeface="+mn-lt"/>
              </a:defRPr>
            </a:pPr>
            <a:r>
              <a:rPr sz="1400" b="0" i="0" u="none" strike="noStrike">
                <a:solidFill>
                  <a:srgbClr val="0E3B3F"/>
                </a:solidFill>
                <a:latin typeface="+mn-lt"/>
              </a:rPr>
              <a:t>Proposed corrections that clear their finding</a:t>
            </a:r>
          </a:p>
        </c:rich>
      </c:tx>
      <c:layout/>
      <c:overlay val="0"/>
    </c:title>
    <c:autoTitleDeleted val="0"/>
    <c:plotArea>
      <c:layout/>
      <c:barChart>
        <c:barDir val="col"/>
        <c:grouping val="clustered"/>
        <c:varyColors val="0"/>
        <c:ser>
          <c:idx val="0"/>
          <c:order val="0"/>
          <c:tx>
            <c:strRef>
              <c:f>Sheet1!$B$1</c:f>
              <c:strCache>
                <c:ptCount val="1"/>
                <c:pt idx="0">
                  <c:v>Proposed</c:v>
                </c:pt>
              </c:strCache>
            </c:strRef>
          </c:tx>
          <c:spPr>
            <a:solidFill>
              <a:srgbClr val="8FB8B3"/>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Sheet1!$A$2:$A$4</c:f>
              <c:multiLvlStrCache>
                <c:ptCount val="3"/>
                <c:lvl>
                  <c:pt idx="0">
                    <c:v>R007 line amount</c:v>
                  </c:pt>
                  <c:pt idx="1">
                    <c:v>R012 claim total</c:v>
                  </c:pt>
                  <c:pt idx="2">
                    <c:v>R015 currency</c:v>
                  </c:pt>
                </c:lvl>
              </c:multiLvlStrCache>
            </c:multiLvlStrRef>
          </c:cat>
          <c:val>
            <c:numRef>
              <c:f>Sheet1!$B$2:$B$4</c:f>
              <c:numCache>
                <c:formatCode>General</c:formatCode>
                <c:ptCount val="3"/>
                <c:pt idx="0">
                  <c:v>30</c:v>
                </c:pt>
                <c:pt idx="1">
                  <c:v>34</c:v>
                </c:pt>
                <c:pt idx="2">
                  <c:v>29</c:v>
                </c:pt>
              </c:numCache>
            </c:numRef>
          </c:val>
        </c:ser>
        <c:ser>
          <c:idx val="1"/>
          <c:order val="1"/>
          <c:tx>
            <c:strRef>
              <c:f>Sheet1!$C$1</c:f>
              <c:strCache>
                <c:ptCount val="1"/>
                <c:pt idx="0">
                  <c:v>Cleared the finding</c:v>
                </c:pt>
              </c:strCache>
            </c:strRef>
          </c:tx>
          <c:spPr>
            <a:solidFill>
              <a:srgbClr val="14746F"/>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Sheet1!$A$2:$A$4</c:f>
              <c:multiLvlStrCache>
                <c:ptCount val="3"/>
                <c:lvl>
                  <c:pt idx="0">
                    <c:v>R007 line amount</c:v>
                  </c:pt>
                  <c:pt idx="1">
                    <c:v>R012 claim total</c:v>
                  </c:pt>
                  <c:pt idx="2">
                    <c:v>R015 currency</c:v>
                  </c:pt>
                </c:lvl>
              </c:multiLvlStrCache>
            </c:multiLvlStrRef>
          </c:cat>
          <c:val>
            <c:numRef>
              <c:f>Sheet1!$C$2:$C$4</c:f>
              <c:numCache>
                <c:formatCode>General</c:formatCode>
                <c:ptCount val="3"/>
                <c:pt idx="0">
                  <c:v>30</c:v>
                </c:pt>
                <c:pt idx="1">
                  <c:v>34</c:v>
                </c:pt>
                <c:pt idx="2">
                  <c:v>29</c:v>
                </c:pt>
              </c:numCache>
            </c:numRef>
          </c:val>
        </c:ser>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71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729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E3B3F"/>
                </a:solidFill>
                <a:latin typeface="+mn-lt"/>
              </a:defRPr>
            </a:pPr>
            <a:r>
              <a:rPr sz="1200" b="0" i="0" u="none" strike="noStrike">
                <a:solidFill>
                  <a:srgbClr val="0E3B3F"/>
                </a:solidFill>
                <a:latin typeface="+mn-lt"/>
              </a:rPr>
              <a:t>95% upper bound on the miss rate (%) after n audited claims, none missed</a:t>
            </a:r>
          </a:p>
        </c:rich>
      </c:tx>
      <c:layout/>
      <c:overlay val="0"/>
    </c:title>
    <c:autoTitleDeleted val="0"/>
    <c:plotArea>
      <c:layout/>
      <c:barChart>
        <c:barDir val="col"/>
        <c:grouping val="clustered"/>
        <c:varyColors val="0"/>
        <c:ser>
          <c:idx val="0"/>
          <c:order val="0"/>
          <c:tx>
            <c:strRef>
              <c:f>Sheet1!$B$1</c:f>
              <c:strCache>
                <c:ptCount val="1"/>
                <c:pt idx="0">
                  <c:v>Upper bound</c:v>
                </c:pt>
              </c:strCache>
            </c:strRef>
          </c:tx>
          <c:spPr>
            <a:solidFill>
              <a:srgbClr val="14746F"/>
            </a:solidFill>
            <a:effectLst/>
          </c:spPr>
          <c:invertIfNegative val="0"/>
          <c:dLbls>
            <c:numFmt formatCode="#,##0" sourceLinked="0"/>
            <c:txPr>
              <a:bodyPr/>
              <a:lstStyle/>
              <a:p>
                <a:pPr>
                  <a:defRPr b="0" i="0" strike="noStrike" sz="1200" u="none">
                    <a:solidFill>
                      <a:srgbClr val="17292B"/>
                    </a:solidFill>
                    <a:latin typeface="+mn-lt"/>
                  </a:defRPr>
                </a:pPr>
              </a:p>
            </c:txPr>
            <c:showLegendKey val="0"/>
            <c:showVal val="1"/>
            <c:showCatName val="0"/>
            <c:showSerName val="0"/>
            <c:showPercent val="0"/>
            <c:showBubbleSize val="0"/>
            <c:showLeaderLines val="0"/>
          </c:dLbls>
          <c:cat>
            <c:multiLvlStrRef>
              <c:f>Sheet1!$A$2:$A$8</c:f>
              <c:multiLvlStrCache>
                <c:ptCount val="7"/>
                <c:lvl>
                  <c:pt idx="0">
                    <c:v>30</c:v>
                  </c:pt>
                  <c:pt idx="1">
                    <c:v>60</c:v>
                  </c:pt>
                  <c:pt idx="2">
                    <c:v>150</c:v>
                  </c:pt>
                  <c:pt idx="3">
                    <c:v>300</c:v>
                  </c:pt>
                  <c:pt idx="4">
                    <c:v>600</c:v>
                  </c:pt>
                  <c:pt idx="5">
                    <c:v>1,000</c:v>
                  </c:pt>
                  <c:pt idx="6">
                    <c:v>3,000</c:v>
                  </c:pt>
                </c:lvl>
              </c:multiLvlStrCache>
            </c:multiLvlStrRef>
          </c:cat>
          <c:val>
            <c:numRef>
              <c:f>Sheet1!$B$2:$B$8</c:f>
              <c:numCache>
                <c:formatCode>General</c:formatCode>
                <c:ptCount val="7"/>
                <c:pt idx="0">
                  <c:v>9.5</c:v>
                </c:pt>
                <c:pt idx="1">
                  <c:v>4.9</c:v>
                </c:pt>
                <c:pt idx="2">
                  <c:v>2</c:v>
                </c:pt>
                <c:pt idx="3">
                  <c:v>1</c:v>
                </c:pt>
                <c:pt idx="4">
                  <c:v>0.5</c:v>
                </c:pt>
                <c:pt idx="5">
                  <c:v>0.3</c:v>
                </c:pt>
                <c:pt idx="6">
                  <c:v>0.1</c:v>
                </c:pt>
              </c:numCache>
            </c:numRef>
          </c:val>
        </c:ser>
        <c:dLbls>
          <c:numFmt formatCode="#,##0" sourceLinked="0"/>
          <c:txPr>
            <a:bodyPr/>
            <a:lstStyle/>
            <a:p>
              <a:pPr>
                <a:defRPr b="0" i="0" strike="noStrike" sz="12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1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E3B3F"/>
                </a:solidFill>
                <a:latin typeface="+mn-lt"/>
              </a:defRPr>
            </a:pPr>
            <a:r>
              <a:rPr sz="1300" b="0" i="0" u="none" strike="noStrike">
                <a:solidFill>
                  <a:srgbClr val="0E3B3F"/>
                </a:solidFill>
                <a:latin typeface="+mn-lt"/>
              </a:rPr>
              <a:t>Findings a person decides per 500 claims</a:t>
            </a:r>
          </a:p>
        </c:rich>
      </c:tx>
      <c:layout/>
      <c:overlay val="0"/>
    </c:title>
    <c:autoTitleDeleted val="0"/>
    <c:plotArea>
      <c:layout/>
      <c:barChart>
        <c:barDir val="col"/>
        <c:grouping val="clustered"/>
        <c:varyColors val="0"/>
        <c:ser>
          <c:idx val="0"/>
          <c:order val="0"/>
          <c:tx>
            <c:strRef>
              <c:f>Sheet1!$B$1</c:f>
              <c:strCache>
                <c:ptCount val="1"/>
                <c:pt idx="0">
                  <c:v>Findings</c:v>
                </c:pt>
              </c:strCache>
            </c:strRef>
          </c:tx>
          <c:spPr>
            <a:solidFill>
              <a:srgbClr val="14746F"/>
            </a:solidFill>
            <a:effectLst/>
          </c:spPr>
          <c:invertIfNegative val="0"/>
          <c:dLbls>
            <c:numFmt formatCode="#,##0" sourceLinked="0"/>
            <c:txPr>
              <a:bodyPr/>
              <a:lstStyle/>
              <a:p>
                <a:pPr>
                  <a:defRPr b="0" i="0" strike="noStrike" sz="1200" u="none">
                    <a:solidFill>
                      <a:srgbClr val="17292B"/>
                    </a:solidFill>
                    <a:latin typeface="+mn-lt"/>
                  </a:defRPr>
                </a:pPr>
              </a:p>
            </c:txPr>
            <c:showLegendKey val="0"/>
            <c:showVal val="1"/>
            <c:showCatName val="0"/>
            <c:showSerName val="0"/>
            <c:showPercent val="0"/>
            <c:showBubbleSize val="0"/>
            <c:showLeaderLines val="0"/>
          </c:dLbls>
          <c:cat>
            <c:multiLvlStrRef>
              <c:f>Sheet1!$A$2:$A$5</c:f>
              <c:multiLvlStrCache>
                <c:ptCount val="4"/>
                <c:lvl>
                  <c:pt idx="0">
                    <c:v>Today</c:v>
                  </c:pt>
                  <c:pt idx="1">
                    <c:v>Auto-clear</c:v>
                  </c:pt>
                  <c:pt idx="2">
                    <c:v>+ medium</c:v>
                  </c:pt>
                  <c:pt idx="3">
                    <c:v>+ all</c:v>
                  </c:pt>
                </c:lvl>
              </c:multiLvlStrCache>
            </c:multiLvlStrRef>
          </c:cat>
          <c:val>
            <c:numRef>
              <c:f>Sheet1!$B$2:$B$5</c:f>
              <c:numCache>
                <c:formatCode>General</c:formatCode>
                <c:ptCount val="4"/>
                <c:pt idx="0">
                  <c:v>650</c:v>
                </c:pt>
                <c:pt idx="1">
                  <c:v>650</c:v>
                </c:pt>
                <c:pt idx="2">
                  <c:v>541</c:v>
                </c:pt>
                <c:pt idx="3">
                  <c:v>399</c:v>
                </c:pt>
              </c:numCache>
            </c:numRef>
          </c:val>
        </c:ser>
        <c:dLbls>
          <c:numFmt formatCode="#,##0" sourceLinked="0"/>
          <c:txPr>
            <a:bodyPr/>
            <a:lstStyle/>
            <a:p>
              <a:pPr>
                <a:defRPr b="0" i="0" strike="noStrike" sz="12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1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and thank you for the email of 16 October. It changed how we spent the week, so I will start from it. The goal you set is a trustworthy, explainable copilot for claim pre-validation, not a production revenue-cycle platform. That is what this deck shows. It covers everything we built after the Phase 1 submission: the rule engine, the task queue and its load balancing, the cache, the AI explanation step, how the data is stored and encrypted, the new correction workflow, security and audit. Two promises before we start. Every number you will see comes from a command you can re-run, and anything simulated says so on its own slide. And the last slides say what we have not done, and I will read them out, because you should hear that from us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your email, point by point, with where we stand on each. One: human in the loop. Built, with lanes, a transparent score, four-eyes for high severity and a full audit trail. Two: all fifteen rules are right, with an F1 of 1.00 on the six hundred public claims, and the eight extra rules live in a separate pack so they never touch the benchmark. Three: the AI is grounded and has a plan for wrong output. Four: R006 stays exactly as documented, and I have three claims for you on the last slide. Five: authorization is aggregated per claim, and cross-claim is only an extension. Six: the wording is now pre-validation clearance, never approval. Seven: the JSONL schema is unchanged, with confidence null. Eight: one workflow, which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workflow you asked for, in six steps. A claim arrives in any format and the fifteen rules run in under a fifth of a millisecond. Each finding is either a fail or unable-to-assess when data is missing, and it cites the claim paths it rests on. Third, the copilot explains it and says what to ask or correct, and it never invents a value. Fourth, the officer decides: confirm, dismiss with a reason, or request information, with a senior for high severity. Fifth, the officer corrects the claim and revalidates: a what-if first, then a new version, while the original stays untouched. Sixth, everything is traceable, with both versions side by side and the measured accuracy shown. Steps three and five are what we added this week, and they are marked in 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pieces fit, and I will trace one claim from left to right. Inputs are validated at intake, and anything unreadable is quarantined with a reason. The rule engine produces the result, and intake writes it to MongoDB, which is the source of truth, together with a marker saying "publish this claim". A relay publishes that marker to Redis Streams, and a pool of consumers takes the work. The AI explanation step sits behind a circuit breaker, a budget, a cache and a grounding guard. The dispatcher then deals the claim into a personal inbox, the officer decides in the console, and a correction becomes a new version that goes through the same path again. Along the bottom are the records. The key idea: Redis only carries work. If we lose it, we lose nothing, because the marker is still in MongoDB.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"what is it made of". Everything is one Rust workspace of twelve crates, built so that a crate never reaches upward: the rule engine knows nothing of the web, and the web layer knows nothing of the database. The rules are YARA-X rule packs, matched over fact lines that one Rust function per rule extracts, so what the pack sees and what the result says cannot drift apart. Money uses exact decimals, so two and a half and two point five zero behave identically. MongoDB stores everything durable. Redis Streams carries work. The model is Gemma 3 4B served locally through Ollama; the protocol is the standard one, so a different server can replace it. Documents go through Tesseract and a vision model in an isolated reader. Passwords use bcrypt, sign-in uses an authenticator code, and the records use signed hash chains. The console is plain JavaScript embedded in the one binary.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the decisions we made and what we measured for each, with the weak spot said first. Rules decide and the AI explains, instead of an agent that decides. With the same hosted model on the same claims we scored 97.5 against 11.5, but the agent's endpoint failed in ten of twelve runs, and our correctness is structural, so I do not present that as an independent win. For the local model we chose Gemma 3 4B: ninety-seven percent usable in a live test, about three seconds; MedGemma was lower and four times slower, and no Qwen3 setting worked on the whole set. YARA-X: you asked us to benchmark it, and plain Python was about eleven times faster in that build. We lost the speed argument and say so. Rust: it used seven megabytes where Java used two hundred eighty-three and Node over a thousand, and the language changes a reviewer's wait by under a thirtieth of a percent. And MongoDB with a real queue follows your direction of 27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correctness, I want to be upfront. The F1 is 1.00 on all six hundred public claims: four hundred development, a hundred and fifty validation and fifty stress. Zero of three thousand and fifteen clean results were wrongly flagged, and the ninety-five percent bound on the false-alarm rate is 1.9 percent. The Rust engine runs in 0.19 milliseconds per claim and agrees exactly with the Python reference on ten thousand six hundred claims. Missing data gives unable-to-assess, never a pass. R006 is exactly as documented, and R009 aggregates per authorization within one claim. The advisory rules are kept apart. The caveat is the one on the slide: the public set is synthetic, so a perfect score is not proof about real claims, and nine of fifteen rules have no failing example in the fifty-claim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was it tested. Four numbers. An independent oracle, written from the rulebook alone and importing nothing from our code, agrees with the engine on a hundred and seven thousand generated claims, with zero disagreements. Thirty-seven thousand boundary mutants of claims. Three hundred seventy-four tests pass in the Rust workspace; the ones needing MongoDB or Redis run when those are present. And one thousand seven hundred ninety-five tests behind the Python reference build, which the Rust build matches exactly. Below: against the answer key, F1 of 1.00 on the six hundred public claims and on nine labelled example sets in three evidence tiers. Against attack: a hundred and sixteen black-box checks, four hundred thousand fuzzed requests, and ninety-three deliberate breakages of security and queue rules, each caught. And in a real browser, we walked the correction flow, file import, live updates and the audit alarm in Chrome.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Claims do not arrive tidy, so intake treats every file as untrusted until proven. FHIR bundles, CSV tables and JSONL give identical claims and identical reports on all six hundred public claims. Twelve thousand randomly damaged FHIR bundles reached the same accept-or-quarantine verdict as the reference. For PDFs and photos, a gate in the server checks the size, the real type from the first bytes, and refuses files that hide a second format. Then the reader runs in its own isolated container, with two independent readers cross-checked. On two hundred and forty synthetic documents it read ninety-seven point four percent of fields correctly, with one silent error. A reading is only ever a draft, and the clerk compares every field with the page. Real paper, handwriting and Arabic are not tested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for OCR early, so here it is. A PDF or photo first meets a gate in the server: a size cap, the real file type from the first bytes, and a refusal of files hiding a second format. Then it goes to a reader in its own container with no network. If the PDF has a text layer, we use it. Otherwise Tesseract reads the page, and a local vision model, Unlimited-OCR, reads it again as a second, independent reader; we cross-check the two. Extraction reads labelled fields and tables, accepts dates only when they are unambiguous, and checks identifiers against the catalogue. The result is a draft: the page is shown beside editable fields and a person ticks that every field was compared. On two hundred forty synthetic documents the default reads ninety-seven point four percent of fields correctly, and only one wrong field went unflagged. Phone photos are the weak case, eighty-eight percent. Real paper, handwriting and Arabic are untested.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task queue, in two slides. This first one is how a claim moves. At intake, one atomic write stores the claim, its triage receipt and a marker saying "publish pending". Unique indexes mean that the same claim version, or the same input under the same rule pack, is stored once, however many times it is sent. After that the claim moves through a fixed set of states: triaged, explained or explanation skipped, ready, leased, decided, and rechecked if it is corrected. Every move is a single conditional update in MongoDB, filtered on the state the claim is expected to be in, which also appends the event. Fifty callers racing for the same claim, exactly one wins. The database enforces this, not code that could race. A claim is never edited: a correction is a new version, and only the newest version is ever dealt.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half: delivery, retries and failures. You asked for Celery or ARQ. Those are Python libraries; this is the same pattern in Rust on Redis Streams, which is question three at the end. The outbox relay publishes, and clears the marker only after Redis accepted. A consumer group and a pool of threads process the claims. The size of the pool is a setting, and it is also the most the model is ever asked at once, so a burst waits in the stream, never in front of the model. A message is acknowledged only after the work finished. A consumer that dies has its message taken over by another after an idle time longer than the model deadline; otherwise a slow but live consumer would have its work stolen. A poison claim becomes a dead letter after three deliveries. Duplicates change nothing, and forged messages are ignored. If Redis is down, the markers wait in MongoDB. A lost message is republished after fifteen minutes. Each guarantee has a test, including against a real Redis.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about load balancing, and this is it. We never show an officer the whole pool. Each person holds at most twenty-five claims, leased one by one, and the dispatcher tops the inbox up when it falls below five, so nobody waits while work exists. To deal, it first finds eligible agents: active, on shift, with room and the right permission. It shuffles the claims with a logged random seed, then sorts them by score plus half a point per hour waited, so an old easy claim eventually outranks a fresh hard one. Each claim goes to the eligible agent with the least work so far, which is greedy balancing. It respects conflicts of interest: nobody gets a later version of a claim they decided, or one they already signed. Every deal stores its inputs and seed, so we can replay it and prove the assignments are what the algorithm gives. In simulation, the load among seniors varies by 4.5 percent, and no claim was ever in two inboxes.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work reaches people. Every flagged finding earns points: a fail on a high-severity rule counts four, down to one for a medium-severity unable-to-assess. Green means nothing flagged. Lane A is one to three flagged findings with a score under ten, and lane B is the rest. The score is deliberately simple and transparent, as you asked, and its numbers live in a versioned configuration, not in code. High severity needs a senior, a different senior countersigns blind, and a third settles a disagreement. No route lets anyone assign or move a claim. The chart is a simulation with simulated people and a simulated clock: draining five hundred claims takes about three hours with four seniors, and nearly six with four-eyes. Two hundred and fifty-three of the five hundred need a senior, so seniors are the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is the reason the model is not a bottleneck. What is cached is an explanation template: text with the placeholders value and line, keyed by the rule, the failure shape, the prompt version and the model. The model never sees a claim value, so the cached text can contain none. What is never cached: the filled text, the claim values, and anything about permissions. A demotion must apply at once. The grounding guard runs again on the filled text every time, cached or not. We measured this under load this week: three hundred ninety-nine claims with findings, seven hundred seventy-seven findings, the real engine and the real model. With an empty cache, ninety point five percent of findings needed no model call. Once warm, it is ninety-seven point seven. Cache entries expire by themselves after seven days. Five failures in a row open the breaker, and the hard deadline is ninety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keep the AI from saying something it should not. First, the model sees only the rule text and never a claim value. Second, its text is checked mechanically: invented values, clinical or fraud talk, approval or payment words, even disguised ones, garbled script and repetition. Third, any failure leaves the engine's own explanation in place: if the model is slow, down, over budget or rejected, the finding and its text stay. Fourth, we red-teamed prompt injection with a real model; it found one hole, we closed it and added a test. In the load test the guard refused templates containing phrases like "have a valid" and "are correct", because the finding did not cover them. That is the guard working. The cost is that a refused template is not cached, so those claims ask the model again. I am honest about the sample: in one twenty-five-case run, seventeen answers fell back to the template. With no model configured at all, the system still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also asked for a retrieval system, and this is it: Ask the rulebook. It searches the text of the fifteen rules and the payer policy table as it is now, and each passage names its source, such as the rule or the policy and its table version. It uses plain ranking, BM25, so there is no model and no network, and the answer is the quoted passage itself. Nothing is generated, so nothing can be invented, and a question that barely touches the documents is refused rather than answered with a guess. On twenty-six reviewer-style questions it returned the right passage first eighty-eight percent of the time and in the top three ninety-six percent. All five off-topic or clinical questions were refused. It never reads a claim, so it adds no privacy risk. The limit: it matches words, so a question that uses none of the document's words can miss. A dense retriever is possible later, but it would have to beat these numbers on the same questions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how the data is stored, and that it is encrypted. MongoDB holds everything durable. In the claims collection, each claim version is stored with its receipt, and the claim, the rule results, the advisory results, the AI explanations, the corrections and every reviewer decision are encrypted field by field, inside the application, before they reach the database. The method is a Fernet token: AES-128 in CBC mode with an HMAC-SHA256 tag. The envelope also names the claim, the version and the field it belongs to, so someone with database access cannot swap one claim's evidence under another claim; it is detected and refused. What stays readable is only what the database needs to route work: ids, state, lane, score, timestamps, hashes, and a keyed hash of the patient id, which lets us find a patient's earlier claims without the id being readable. Users are stored with a bcrypt hash and an encrypted authenticator seed. Redis holds only the message "run claim X, version V", no claim data. The audit logs are encrypted on disk. Honest limits: whoever holds the key sees everything, and the shape of the data is visible, for example how many claims there are and in which lanes. The key can be rotated with one command, which I will show on the backup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told us in September that the system must respect Middle East data-protection law, so here is each family of obligation and what the system does. Data stays inside: the engine, the queue and the AI make no outside calls. The one optional call sends a hash to a timestamp authority. Minimisation: reviewers see pseudonyms, unmasking needs a permission and a reason and is limited to sixty claims an hour, and the AI never sees a claim value. Access control: four levels enforced on the server. Security: encryption at rest and in transit, two-factor sign-in, revocable sessions and a tamper-evident audit. Accuracy: we never edit a claim, a correction is a new version. Two obligations are not built, and they are in red. Rights of the person: we can find all the claims of one person without the identifier being readable, but there is no export or erasure. And retention: short-lived data expires, but there is no retention period for claims and logs yet, which needs a decision from the insurer. No software is compliant by itself; the law binds the organisation that runs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the two things built this week, and it answers your request for correction assistance and a reviewer summary. On the left is the reviewer copilot panel on a real claim. It gives one summary: how many findings, which severity, and the order that clears the claim fastest. It gives one suggestion per finding, of three kinds: a value to correct, a value to check against the source, or information to ask the provider for. We built it with code, on purpose, with no model. Every sentence is built from the finding and the claim, so it cites a rule and claim paths, and that makes grounding something we can test rather than hope for. A value is proposed only if it follows from other values on the same claim, and no identifier can be edited. A claim with no finding reads pre-validation clearance, not payer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thing built this week is what-if and recheck. The officer edits a field, or presses "try this" on a proposal. The engine runs on a copy and shows each rule before and after: cleared, still flagged, or a new problem. Nothing is saved. Then, with a reason and a tick confirming the value was checked against the source, the correction is saved as version two, which goes through triage like any claim. Version one stays exactly as received and is closed, and the findings that were cleared are recorded with the reviewer's reason. The controls matter. Only the holder of the claim can try or apply a correction. Clearing a high-severity finding needs the same senior authority as deciding it, so correcting data cannot be a way around sign-off. Identifiers cannot be edited, and the reason may not contain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measured the copilot against the real engine on the six hundred public claims. There are seven hundred seventy-seven flagged findings, each with exactly one suggestion. Of the proposed corrections, every one cleared the finding it was proposed for: thirty of thirty on line amounts, thirty-four of thirty-four on claim totals, twenty-nine of twenty-nine on currency. Applying all proposals on a claim created zero new findings, no cited path was missing from the claim, and no text had approval or payment words. Four thousand two hundred attempts to edit an identifier were all refused. The measurement also caught a real bug: the first version fixed the line amount alone and created a new total failure in twenty-five of thirty cases. The copilot now proposes the line and the total together. The limit is on the slide: only three rules have computable fixes, and the reviewer still checks the figure against the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making the operator's day easier, which is what you encouraged us to do beyond the minimum. There are four levers. Confirming needs no typed reason, because confirming agrees with the engine, while dismissing still needs one. Bulk confirm, auto-clear of green claims and auto-request of information are all off by default, each with a random audit sample and an exact bound on the miss rate. In simulation, the number of findings a person decides per five hundred claims dropped from six hundred fifty to three hundred ninety-nine, minus thirty-nine percent, with none wrong against the answer key. Everything here is simulated reviewers on the real pipeline. Time per finding has not been measured. The first real step is a timed session with a few officers, which is question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the lever slides, the work-reduction ideas you encouraged. Auto-clear. A claim with nothing flagged and an intact set of fifteen results can be cleared by the system rather than verified by a person. It is off by default. When it is on, a random five percent still go to a person, and the draw is written on the claim so each one can be checked. A damaged claim, or one with any flagged finding, is never cleared by the system. On the six hundred labelled claims, in twenty random batches of five hundred, the system cleared one hundred fifty-nine claims a batch by itself, thirty-two percent, and none of them had a finding in the answer key. The chart is the honest part: the audit can only prove a small miss rate if it is big enough. With zero misses in three hundred audited claims, we can say with ninety-five percent confidence that the miss rate is at most one percent. The administrator's audit panel shows the escalation rate with that exact bound, and advises keeping five percent until three hundred audited claims are resolved. This is synthetic data where the engine equals the key, so it shows what the policy does here, not what a hospital would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lever: auto-request. Many findings only say that data is missing. They need no judgment to ask the provider about. With this setting, the system records the request-information decision itself, with the reason taken from the rulebook's own corrective-action text, never from claim data. A claim that also has real findings keeps them for a person. A random share is handled by a person in full, and the audit counts how often that person also asked for the information. The table is measured on the real pipeline. Today a person decides six hundred fifty findings per five hundred claims. Auto-clear alone changes nothing there, because it only removes whole green claims. Adding auto-request for medium severity takes it to five hundred forty-one, minus seventeen percent. Adding all severities takes it to three hundred ninety-nine, minus thirty-nine percent, with zero requests on a finding the answer key does not call missing data. Note the unit: this is findings and claims, not minutes. We have not measured review time, and the slide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lever, and the smallest: confirming. Confirming agrees with the engine, so it needs no typed reason, while dismissing still does, because dismissing overrides the engine. There is a confirm button on each finding, a confirm-all on a claim, and when the last finding is decided the console opens the next claim. That is on. Bulk confirm is off by default. It is only for rules whose findings reviewers almost always uphold: a rule qualifies when the exact lower bound of its upheld rate is above a setting, from at least twenty decisions by at least three reviewers. The inbox then has a By rule view: the operator opens the list, looks at the findings, and confirms them all. The guards are all on the server: the rule must qualify at that moment, each claim goes through the normal decision path with leases, clearance, two-senior sign-off and both logs, a random share is left for a full review, and bulk decisions never count as evidence about the rule, otherwise a rubber stamp would keep a bad rule eligible. The limits are on the slide: the look-at-the-list step is enforced by the screen only, and the evidence came from simulated reviewers.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warned us that a model trained on artificial decisions might only reproduce the rules, so we tested that honestly. On the left is the workload report, which is live and read-only. It reads reviewer confirmations and dismissals per rule, and it lists rules reviewers keep overriding, which are candidates to retune, and rules almost always upheld, which are candidates for lighter review. In simulation it found both bad rules in twenty of twenty histories, with no false alarms. On the right is the fine-tuned model, Laya. It learned the rulebook: accuracy 0.97 against 0.63 zero-shot. But its labels are the engine's own, it finds only sixty-four percent of real failures, and it cannot save an operator time after the engine has run. So we archived it. It is not in the decision path, and a confidence is never shown as a probability.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advisory rules, kept apart from the fifteen. They have their own ids, file and schema, and they never change an official result. E101 to E103 look across claims: a duplicate line, an authorization exhausted across claims, a daily quantity across claims. E102 is the cross-claim authorization usage you described, working on explicitly synthetic history, and it fires only when earlier claims contributed units, so it never double-reports what R009 already fails. E001 to E005 follow published practice on bundling, modifiers and diagnosis, but their attributes are invented and labelled so, which means they cannot fire on public data by design. Four thousand eight hundred of four thousand eight hundred results agree with an independent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things we built that are not on the main path, so I will be quick. First, payer rules as data. The fifteen rules are code, hashed with the build, and nobody can edit them. But what a payer contract says, such as the submission window, the allowed providers, the services needing authorization and the price and quantity limits, is a table an administrator can change. A change is validated, shown as a list of differences, needs a reason, and with two administrators must be approved by a different one with a fresh code. Each applied change becomes a numbered version in a hash-chained log, and the rulebook hash in every receipt covers the table. Second, the specification, written for our UML teacher: twenty use cases, each with a main scenario, alternatives and failures, fourteen UML diagrams that we checked against the code, such as the state machine and the database collections, a catalogue of failures and recovery, and a French cahier des charges. Third, live updates: the console learns of a change in under two seconds, instead of polling every twenty, and the stream carries no claim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each person sees. A viewer sees all claims, read only. A reviewer or senior has the inbox, claim review with the copilot, what-if and recheck, Ask the rulebook, and import from files. An administrator has the queue overview, submit claims, routing settings, users, payer rules, system health, and the audit and trace pages, but cannot decide a claim. Pages are chosen by the permissions the server reports: what you may not do is not offered at all, and the server checks again on every request. Server text is only ever shown as text, and a test scans every script for ways to inject markup. There is also a desktop app: one file of about twenty-seven megabytes that shows the same console in its own window, published as a pre-release with a hash. A clickable mobile prototype exists, but after your meeting of 27 September the web console is the main target. Not done: a manual accessibility audit and a phone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security, four numbers. A hundred and sixteen black-box attack checks, all passing. Ninety-three deliberate breakages of the security and queue rules, each caught by a test. Four hundred thousand fuzzed requests through the API. And an unmasking limit of sixty claims an hour per person. Underneath: identity is badge, password and authenticator code, with four clearance levels enforced on the server, and a hidden action is not offered at all, not just disabled. Reviewers see pseudonyms, and unmasking needs its own permission, a reason, and that hourly limit. The most dangerous administrator actions need a second administrator. Claims, results and corrections are encrypted at rest. What is not done: nobody outside our team has attacked it, and one person holding two accounts is logged but not prevented.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engineering details on sign-in. The usual weakness of an account lock is that a stranger who knows a badge number can keep that person out. Ours only keeps out clients the owner has never signed in from. A client the owner signed in from is remembered for thirty days, as a keyed hash. Each badge and client pair gets five failures in fifteen minutes, after which only that client is refused, and each address as a whole gets a hundred. A correct sign-in by the owner clears the lock. The counters live in the database, updated atomically and expiring by themselves, so a restart or a second process sees the same counts. And every kind of refusal looks the same from outside: unknown badge, wrong password, wrong code, replayed code, locked, inactive. We timed eight of them with the real password cost, and they all took between eighty point three and eighty-two point six milliseconds, within three percent. What is still true: a stranger can keep someone out of a new device for fifteen minutes, and the timing was measured in-process, not across a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operational pieces we built because a security system that cannot be restored is not finished. Backup. One script writes one encrypted file, AES-256 with six hundred thousand key-stretching rounds, holding both databases, both audit logs and the audit mirror, plus a checksum, and it never overwrites. Restore refuses a wrong key, a damaged file, or contents that fail their checksums. We proved it by destroying everything: we put users and twelve claims in through the real API, backed up, destroyed every volume, restored, and checked that the same administrator signs in with the same password and authenticator and that the audit chains verify. The test found two real problems, both fixed: the restore replaced the database's own accounts mid-way, and the first script reported success after a failure. Key rotation. One command re-encrypts every stored claim, result, explanation, decision and name under a new key, stops rather than damaging anything, can be repeated after an interruption, and has a dry run. A second command does the same for authenticator seeds, so nobody has to enrol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We built a flood harness with sixteen checks. Three thousand idle connections. Three hundred busy clients for twenty seconds: twenty-nine thousand seven hundred requests, all answered. Two hundred clients hammering a protected route without a session, every one refused. A four-hundred-client sign-in flood: ordinary refusals first, then the rate limit, and no server error. And a hundred clients sending large bodies. Through all of it, a polite client was still answered in one to twelve milliseconds, memory peaked at eighty-seven megabytes against sixty-six idle, and the server was healthy afterwards. This is one machine and one address, so it is not a distributed attack. Beside it, nineteen checks in a real Chrome planted script-injection payloads in claim notes, invoice numbers, provider ids, names and even failed sign-in badges, and opened every screen: nothing ran, and the text showed as plain text. Add the four hundred thousand fuzzed requests and the ninety-three deliberate breakages, each caught by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important moment is written down. When a claim is received we record the input hash, the rule pack hash and the result hash. When a finding is decided, we record who, what, why, and the original status. A what-if is recorded with who and how many changes, and nothing else is kept. A saved correction links both versions by input hash and records each change from and to. Unmasking an identifier is recorded and counted against an hourly limit. On the right, the tamper evidence: logs are hash-chained and signed, an append-only mirror refuses to follow an edited log, a trusted timestamp from an outside authority can anchor the head, and a ledger has Ed25519 checkpoints and Merkle proofs. In the demo I will rewrite an audit row, and the health panel goes red within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model measured here, and it is the speed of the AI step, nothing about servers. The laptop has an RTX 4060 with 8 gigabytes. With Ollama's default settings, it serves one request at a time: about fifty-three explanations a minute, at any concurrency. With eight parallel slots and flash attention, it reaches one hundred thirty-seven a minute, with no errors, and it stops improving past eight parallel requests. The better test is the card below: three hundred ninety-nine claims through the real explanation step, with an empty cache. Seventy-four model calls answered seven hundred seventy-seven findings, and the run took forty-nine seconds, about four hundred ninety claims a minute. With a warm cache, about two thousand. So the model is not the limit. It is a debug build on one laptop, so treat the numbers as measurements of this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for credibility, so I will read it, and then I will answer the questions I expect. The public data is synthetic, so perfect scores do not show how real claims behave. The savings are simulated, and there has been no timed session with real reviewers. Real paper, handwriting and Arabic documents are untested. Subject access, erasure and retention are designed but not built, and one administrator can switch on the automatic modes without a second approval, with no automatic brake. A correction creates a new version in our system, but we do not write it back to the hospital's own system. The copilot has computable fixes for three rules, and for the rest it asks or checks. And nobody outside the team has attacked it. Expected questions. Why is F1 one point zero? Because the public claims are synthetic: it shows the engine is deterministic and correct against the documented rules, not that it works on real claims; the next step is real exports. Why a language model at all, when the cache serves most explanations? Because it phrases a new rule or failure shape once, the guard checks it, the cache keeps it, and without a model the system still works. Why YARA-X? We benchmarked it against plain Python and Python was faster in that build, so I will not claim speed. Our case is structural: the rules are readable files kept apart from code, hashed with the build, and they cannot have side effects. Will four-eyes become a bottleneck? Yes, it roughly doubles senior load in our simulation; it applies only to high-severity findings, and the thresholds are a versioned setting. What about the source system? We never edit a claim; every correction is a signed new version, and the write-back is an integration step we have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before the demo, three ideas for where this could go, and I want to be clear that these are plans, not things we have built. One: attach a standard code to every finding. Each of our fifteen and eight rules would carry the matching claim adjustment reason or NPHIES error code as a badge in the console, so our language matches the remittance advice your billing teams read. We would need the official value sets from you rather than guessing. Two: payer overlays. Today a payer's contract is one versioned, approved policy table. The next step is payer-specific rule sets chosen by the insurer on the claim, so the same claim can pass for one payer and fail for another. Three: a proper time-saved study. Two matched packs of thirty claims, half the reviewers using the console first and half the baseline first, so learning effects cancel. We would log the median handling time per claim, the seeded errors missed and the clean claims wrongly flagged, and ask a short workload survey. That is question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demo, I will follow your six steps. A claim with a wrong amount arrives. The senior opens it and sees the summary and evidence. We try a what-if and every check would pass. We apply it with a reason, which creates version two. The trace shows both versions, who changed what and why. Then I rewrite an audit row and the alarm goes red. After that, four questions for you. First, R006 and R013: three public claims, CG-B10B19D8A56A, CG-00348A9B1AAD and CG-EC233ACB399D, split one service into a plain line and an EDU-SEPARATE line, and the rules pass them as documented, but the total quantity exceeds the per-line limit. Is that intended? Second, is pre-validation clear the right label? Third, is a Redis Streams queue in Rust acceptable in place of Celery or ARQ? Fourth, could we run a timed session with a few officers?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3B3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SECTION">
    <p:bg>
      <p:bgPr>
        <a:solidFill>
          <a:srgbClr val="0E3B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424160" cy="1280160"/>
          </a:xfrm>
          <a:prstGeom prst="rect">
            <a:avLst/>
          </a:prstGeom>
          <a:noFill/>
          <a:ln/>
        </p:spPr>
        <p:txBody>
          <a:bodyPr wrap="square" rtlCol="0"/>
          <a:lstStyle>
            <a:lvl1pPr indent="0" marL="0">
              <a:buNone/>
              <a:defRPr lang="en-US" sz="4400" b="1" dirty="0">
                <a:solidFill>
                  <a:srgbClr val="FFFFFF"/>
                </a:solidFill>
                <a:latin typeface="Cambria" pitchFamily="34" charset="0"/>
                <a:ea typeface="Cambria" pitchFamily="34" charset="-122"/>
                <a:cs typeface="Cambria" pitchFamily="34" charset="-120"/>
              </a:defRPr>
            </a:lvl1pPr>
          </a:lstStyle>
          <a:p>
            <a:pPr indent="0" marL="0">
              <a:buNone/>
            </a:pPr>
            <a:endParaRPr lang="en-US" sz="4400" dirty="0"/>
          </a:p>
        </p:txBody>
      </p:sp>
      <p:sp>
        <p:nvSpPr>
          <p:cNvPr id="3" name="Text 0"/>
          <p:cNvSpPr/>
          <p:nvPr>
            <p:ph idx="101" type="body" hasCustomPrompt="1"/>
          </p:nvPr>
        </p:nvSpPr>
        <p:spPr>
          <a:xfrm>
            <a:off x="822960" y="3474720"/>
            <a:ext cx="9601200" cy="1097280"/>
          </a:xfrm>
          <a:prstGeom prst="rect">
            <a:avLst/>
          </a:prstGeom>
          <a:noFill/>
          <a:ln/>
        </p:spPr>
        <p:txBody>
          <a:bodyPr wrap="square" rtlCol="0"/>
          <a:lstStyle>
            <a:lvl1pPr indent="0" marL="0">
              <a:buNone/>
              <a:defRPr lang="en-US" sz="2000" dirty="0">
                <a:solidFill>
                  <a:srgbClr val="CADCD9"/>
                </a:solidFill>
                <a:latin typeface="Calibri" pitchFamily="34" charset="0"/>
                <a:ea typeface="Calibri" pitchFamily="34" charset="-122"/>
                <a:cs typeface="Calibri" pitchFamily="34" charset="-120"/>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200" b="1" dirty="0">
                <a:solidFill>
                  <a:srgbClr val="0E3B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822960" y="1554480"/>
            <a:ext cx="10058400" cy="118872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ClaimGuard</a:t>
            </a:r>
            <a:endParaRPr lang="en-US" sz="6600" dirty="0"/>
          </a:p>
        </p:txBody>
      </p:sp>
      <p:sp>
        <p:nvSpPr>
          <p:cNvPr id="3" name="subtitle"/>
          <p:cNvSpPr txBox="1"/>
          <p:nvPr/>
        </p:nvSpPr>
        <p:spPr>
          <a:xfrm>
            <a:off x="822960" y="2834640"/>
            <a:ext cx="9326880" cy="1188720"/>
          </a:xfrm>
          <a:prstGeom prst="rect">
            <a:avLst/>
          </a:prstGeom>
          <a:noFill/>
          <a:ln/>
        </p:spPr>
        <p:txBody>
          <a:bodyPr wrap="square" lIns="0" tIns="0" rIns="0" bIns="0" rtlCol="0" anchor="t"/>
          <a:lstStyle/>
          <a:p>
            <a:pPr indent="0" marL="0">
              <a:buNone/>
            </a:pPr>
            <a:r>
              <a:rPr lang="en-US" sz="2400" dirty="0">
                <a:solidFill>
                  <a:srgbClr val="CADCD9"/>
                </a:solidFill>
              </a:rPr>
              <a:t>A copilot that helps a claims officer understand a claim, decide, correct it and revalidate it, with every step on record</a:t>
            </a:r>
            <a:endParaRPr lang="en-US" sz="2400" dirty="0"/>
          </a:p>
        </p:txBody>
      </p:sp>
      <p:sp>
        <p:nvSpPr>
          <p:cNvPr id="4" name="tag"/>
          <p:cNvSpPr/>
          <p:nvPr/>
        </p:nvSpPr>
        <p:spPr>
          <a:xfrm>
            <a:off x="822960" y="4480560"/>
            <a:ext cx="16459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822960" y="4480560"/>
            <a:ext cx="1645920" cy="274320"/>
          </a:xfrm>
          <a:prstGeom prst="rect">
            <a:avLst/>
          </a:prstGeom>
          <a:noFill/>
          <a:ln/>
        </p:spPr>
        <p:txBody>
          <a:bodyPr wrap="square" lIns="0" tIns="0" rIns="0" bIns="0" rtlCol="0" anchor="ctr"/>
          <a:lstStyle/>
          <a:p>
            <a:pPr algn="ctr" indent="0" marL="0">
              <a:buNone/>
            </a:pPr>
            <a:r>
              <a:rPr lang="en-US" sz="1100" b="1" dirty="0">
                <a:solidFill>
                  <a:srgbClr val="17292B"/>
                </a:solidFill>
              </a:rPr>
              <a:t>Mentor session</a:t>
            </a:r>
            <a:endParaRPr lang="en-US" sz="1100" dirty="0"/>
          </a:p>
        </p:txBody>
      </p:sp>
      <p:sp>
        <p:nvSpPr>
          <p:cNvPr id="6" name="tagline"/>
          <p:cNvSpPr txBox="1"/>
          <p:nvPr/>
        </p:nvSpPr>
        <p:spPr>
          <a:xfrm>
            <a:off x="822960" y="4937760"/>
            <a:ext cx="9144000" cy="731520"/>
          </a:xfrm>
          <a:prstGeom prst="rect">
            <a:avLst/>
          </a:prstGeom>
          <a:noFill/>
          <a:ln/>
        </p:spPr>
        <p:txBody>
          <a:bodyPr wrap="square" lIns="0" tIns="0" rIns="0" bIns="0" rtlCol="0" anchor="t"/>
          <a:lstStyle/>
          <a:p>
            <a:pPr indent="0" marL="0">
              <a:buNone/>
            </a:pPr>
            <a:r>
              <a:rPr lang="en-US" sz="1600" dirty="0">
                <a:solidFill>
                  <a:srgbClr val="8FB8B3"/>
                </a:solidFill>
              </a:rPr>
              <a:t>Sunday 18 October 2026. Everything built since the Phase 1 submission, measured, with what is not done said plainly.</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Your email of 16 October, point by point</a:t>
            </a:r>
            <a:endParaRPr lang="en-US" sz="3200" dirty="0"/>
          </a:p>
        </p:txBody>
      </p:sp>
      <p:graphicFrame>
        <p:nvGraphicFramePr>
          <p:cNvPr id="3"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57200"/>
                <a:gridCol w="5852160"/>
                <a:gridCol w="4754880"/>
              </a:tblGrid>
              <a:tr h="530352">
                <a:tc>
                  <a:txBody>
                    <a:bodyPr/>
                    <a:lstStyle/>
                    <a:p>
                      <a:pPr indent="0" marL="0">
                        <a:buNone/>
                      </a:pPr>
                      <a:r>
                        <a:rPr lang="en-US" sz="1400" b="1" dirty="0">
                          <a:solidFill>
                            <a:srgbClr val="FFFFFF"/>
                          </a:solidFill>
                        </a:rPr>
                        <a:t>#</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What you asked for</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Where we stand</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30352">
                <a:tc>
                  <a:txBody>
                    <a:bodyPr/>
                    <a:lstStyle/>
                    <a:p>
                      <a:pPr indent="0" marL="0">
                        <a:buNone/>
                      </a:pPr>
                      <a:r>
                        <a:rPr lang="en-US" sz="1400" dirty="0">
                          <a:solidFill>
                            <a:srgbClr val="17292B"/>
                          </a:solidFill>
                        </a:rPr>
                        <a:t>1</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Human in the loop: confirm, dismiss with reason, request information, correct and revalidate, prioritised and traceable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Built. Lanes and a transparent score, four-eyes on high severity, full audit trail</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2</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All 15 rules right; extra rules kept apart from the benchmark</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F1 1.00 on 600 public claims. 8 advisory rules in a separate pack</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400" dirty="0">
                          <a:solidFill>
                            <a:srgbClr val="17292B"/>
                          </a:solidFill>
                        </a:rPr>
                        <a:t>3</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AI that helps a claims officer, grounded, with a plan for wrong output</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Explainer, correction assistant, what-if, reviewer summary, feedback analysis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4</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R006 as documented; three public claims to review together</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Kept as documented. Three claims to discuss (slide 22)</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400" dirty="0">
                          <a:solidFill>
                            <a:srgbClr val="17292B"/>
                          </a:solidFill>
                        </a:rPr>
                        <a:t>5</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Authorization aggregated per claim; cross-claim only as an extension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R009 per claim. Cross-claim is advisory rule E102, separate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6</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Pre-validation clearance, not payer approval</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Wording fixed in the console. Auto-clear exists, off by default, audited</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400" dirty="0">
                          <a:solidFill>
                            <a:srgbClr val="17292B"/>
                          </a:solidFill>
                        </a:rPr>
                        <a:t>7</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Keep the JSONL schema; confidence null, not_probabilistic</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Unchanged and enforced in the audit log</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8</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One convincing end-to-end workflow</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Six steps run in the console (next slide)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workflow you described, running end to end</a:t>
            </a:r>
            <a:endParaRPr lang="en-US" sz="3200" dirty="0"/>
          </a:p>
        </p:txBody>
      </p:sp>
      <p:sp>
        <p:nvSpPr>
          <p:cNvPr id="4" name="step card 1"/>
          <p:cNvSpPr/>
          <p:nvPr/>
        </p:nvSpPr>
        <p:spPr>
          <a:xfrm>
            <a:off x="548640" y="1508760"/>
            <a:ext cx="3520440" cy="2148840"/>
          </a:xfrm>
          <a:prstGeom prst="roundRect">
            <a:avLst>
              <a:gd name="adj" fmla="val 5106"/>
            </a:avLst>
          </a:prstGeom>
          <a:solidFill>
            <a:srgbClr val="F2F6F5"/>
          </a:solidFill>
          <a:ln w="12700">
            <a:solidFill>
              <a:srgbClr val="F2F6F5"/>
            </a:solidFill>
            <a:prstDash val="solid"/>
          </a:ln>
        </p:spPr>
      </p:sp>
      <p:sp>
        <p:nvSpPr>
          <p:cNvPr id="5" name="badge"/>
          <p:cNvSpPr/>
          <p:nvPr/>
        </p:nvSpPr>
        <p:spPr>
          <a:xfrm>
            <a:off x="777240" y="1737360"/>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tep title"/>
          <p:cNvSpPr txBox="1"/>
          <p:nvPr/>
        </p:nvSpPr>
        <p:spPr>
          <a:xfrm>
            <a:off x="777240"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Claim received and validated</a:t>
            </a:r>
            <a:endParaRPr lang="en-US" sz="1800" dirty="0"/>
          </a:p>
        </p:txBody>
      </p:sp>
      <p:sp>
        <p:nvSpPr>
          <p:cNvPr id="8" name="step text"/>
          <p:cNvSpPr txBox="1"/>
          <p:nvPr/>
        </p:nvSpPr>
        <p:spPr>
          <a:xfrm>
            <a:off x="777240"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FHIR, CSV, JSONL, PDF or photo. 15 rules, 0.19 ms per claim</a:t>
            </a:r>
            <a:endParaRPr lang="en-US" sz="1400" dirty="0"/>
          </a:p>
        </p:txBody>
      </p:sp>
      <p:sp>
        <p:nvSpPr>
          <p:cNvPr id="9" name="step card 2"/>
          <p:cNvSpPr/>
          <p:nvPr/>
        </p:nvSpPr>
        <p:spPr>
          <a:xfrm>
            <a:off x="4325112" y="1508760"/>
            <a:ext cx="3520440" cy="2148840"/>
          </a:xfrm>
          <a:prstGeom prst="roundRect">
            <a:avLst>
              <a:gd name="adj" fmla="val 5106"/>
            </a:avLst>
          </a:prstGeom>
          <a:solidFill>
            <a:srgbClr val="F2F6F5"/>
          </a:solidFill>
          <a:ln w="12700">
            <a:solidFill>
              <a:srgbClr val="F2F6F5"/>
            </a:solidFill>
            <a:prstDash val="solid"/>
          </a:ln>
        </p:spPr>
      </p:sp>
      <p:sp>
        <p:nvSpPr>
          <p:cNvPr id="10" name="badge"/>
          <p:cNvSpPr/>
          <p:nvPr/>
        </p:nvSpPr>
        <p:spPr>
          <a:xfrm>
            <a:off x="4553712" y="1737360"/>
            <a:ext cx="384048" cy="384048"/>
          </a:xfrm>
          <a:prstGeom prst="ellipse">
            <a:avLst/>
          </a:prstGeom>
          <a:solidFill>
            <a:srgbClr val="14746F"/>
          </a:solidFill>
          <a:ln w="12700">
            <a:solidFill>
              <a:srgbClr val="14746F"/>
            </a:solidFill>
            <a:prstDash val="solid"/>
          </a:ln>
        </p:spPr>
      </p:sp>
      <p:sp>
        <p:nvSpPr>
          <p:cNvPr id="11" name="badge text"/>
          <p:cNvSpPr txBox="1"/>
          <p:nvPr/>
        </p:nvSpPr>
        <p:spPr>
          <a:xfrm>
            <a:off x="4553712"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tep title"/>
          <p:cNvSpPr txBox="1"/>
          <p:nvPr/>
        </p:nvSpPr>
        <p:spPr>
          <a:xfrm>
            <a:off x="4553712"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Errors, doubts and evidence</a:t>
            </a:r>
            <a:endParaRPr lang="en-US" sz="1800" dirty="0"/>
          </a:p>
        </p:txBody>
      </p:sp>
      <p:sp>
        <p:nvSpPr>
          <p:cNvPr id="13" name="step text"/>
          <p:cNvSpPr txBox="1"/>
          <p:nvPr/>
        </p:nvSpPr>
        <p:spPr>
          <a:xfrm>
            <a:off x="4553712"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FAIL, or UNABLE_TO_ASSESS when data is missing. Each finding cites claim paths</a:t>
            </a:r>
            <a:endParaRPr lang="en-US" sz="1400" dirty="0"/>
          </a:p>
        </p:txBody>
      </p:sp>
      <p:sp>
        <p:nvSpPr>
          <p:cNvPr id="14" name="step card 3"/>
          <p:cNvSpPr/>
          <p:nvPr/>
        </p:nvSpPr>
        <p:spPr>
          <a:xfrm>
            <a:off x="8101584" y="1508760"/>
            <a:ext cx="3520440" cy="2148840"/>
          </a:xfrm>
          <a:prstGeom prst="roundRect">
            <a:avLst>
              <a:gd name="adj" fmla="val 5106"/>
            </a:avLst>
          </a:prstGeom>
          <a:solidFill>
            <a:srgbClr val="FFF1DB"/>
          </a:solidFill>
          <a:ln w="12700">
            <a:solidFill>
              <a:srgbClr val="FFF1DB"/>
            </a:solidFill>
            <a:prstDash val="solid"/>
          </a:ln>
        </p:spPr>
      </p:sp>
      <p:sp>
        <p:nvSpPr>
          <p:cNvPr id="15" name="badge"/>
          <p:cNvSpPr/>
          <p:nvPr/>
        </p:nvSpPr>
        <p:spPr>
          <a:xfrm>
            <a:off x="8330184" y="1737360"/>
            <a:ext cx="384048" cy="384048"/>
          </a:xfrm>
          <a:prstGeom prst="ellipse">
            <a:avLst/>
          </a:prstGeom>
          <a:solidFill>
            <a:srgbClr val="C47A12"/>
          </a:solidFill>
          <a:ln w="12700">
            <a:solidFill>
              <a:srgbClr val="C47A12"/>
            </a:solidFill>
            <a:prstDash val="solid"/>
          </a:ln>
        </p:spPr>
      </p:sp>
      <p:sp>
        <p:nvSpPr>
          <p:cNvPr id="16" name="badge text"/>
          <p:cNvSpPr txBox="1"/>
          <p:nvPr/>
        </p:nvSpPr>
        <p:spPr>
          <a:xfrm>
            <a:off x="8330184"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ag"/>
          <p:cNvSpPr/>
          <p:nvPr/>
        </p:nvSpPr>
        <p:spPr>
          <a:xfrm>
            <a:off x="10204704" y="1783080"/>
            <a:ext cx="1188720" cy="274320"/>
          </a:xfrm>
          <a:prstGeom prst="roundRect">
            <a:avLst>
              <a:gd name="adj" fmla="val 50000"/>
            </a:avLst>
          </a:prstGeom>
          <a:solidFill>
            <a:srgbClr val="F2A541"/>
          </a:solidFill>
          <a:ln w="12700">
            <a:solidFill>
              <a:srgbClr val="F2A541"/>
            </a:solidFill>
            <a:prstDash val="solid"/>
          </a:ln>
        </p:spPr>
      </p:sp>
      <p:sp>
        <p:nvSpPr>
          <p:cNvPr id="18" name="tag text"/>
          <p:cNvSpPr txBox="1"/>
          <p:nvPr/>
        </p:nvSpPr>
        <p:spPr>
          <a:xfrm>
            <a:off x="10204704" y="1783080"/>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built this week</a:t>
            </a:r>
            <a:endParaRPr lang="en-US" sz="1100" dirty="0"/>
          </a:p>
        </p:txBody>
      </p:sp>
      <p:sp>
        <p:nvSpPr>
          <p:cNvPr id="19" name="step title"/>
          <p:cNvSpPr txBox="1"/>
          <p:nvPr/>
        </p:nvSpPr>
        <p:spPr>
          <a:xfrm>
            <a:off x="8330184"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Copilot explains and advises</a:t>
            </a:r>
            <a:endParaRPr lang="en-US" sz="1800" dirty="0"/>
          </a:p>
        </p:txBody>
      </p:sp>
      <p:sp>
        <p:nvSpPr>
          <p:cNvPr id="20" name="step text"/>
          <p:cNvSpPr txBox="1"/>
          <p:nvPr/>
        </p:nvSpPr>
        <p:spPr>
          <a:xfrm>
            <a:off x="8330184"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Summary, what to ask or correct, never an invented value</a:t>
            </a:r>
            <a:endParaRPr lang="en-US" sz="1400" dirty="0"/>
          </a:p>
        </p:txBody>
      </p:sp>
      <p:sp>
        <p:nvSpPr>
          <p:cNvPr id="21" name="step card 4"/>
          <p:cNvSpPr/>
          <p:nvPr/>
        </p:nvSpPr>
        <p:spPr>
          <a:xfrm>
            <a:off x="548640" y="3931920"/>
            <a:ext cx="3520440" cy="2148840"/>
          </a:xfrm>
          <a:prstGeom prst="roundRect">
            <a:avLst>
              <a:gd name="adj" fmla="val 5106"/>
            </a:avLst>
          </a:prstGeom>
          <a:solidFill>
            <a:srgbClr val="F2F6F5"/>
          </a:solidFill>
          <a:ln w="12700">
            <a:solidFill>
              <a:srgbClr val="F2F6F5"/>
            </a:solidFill>
            <a:prstDash val="solid"/>
          </a:ln>
        </p:spPr>
      </p:sp>
      <p:sp>
        <p:nvSpPr>
          <p:cNvPr id="22" name="badge"/>
          <p:cNvSpPr/>
          <p:nvPr/>
        </p:nvSpPr>
        <p:spPr>
          <a:xfrm>
            <a:off x="777240" y="4160520"/>
            <a:ext cx="384048" cy="384048"/>
          </a:xfrm>
          <a:prstGeom prst="ellipse">
            <a:avLst/>
          </a:prstGeom>
          <a:solidFill>
            <a:srgbClr val="14746F"/>
          </a:solidFill>
          <a:ln w="12700">
            <a:solidFill>
              <a:srgbClr val="14746F"/>
            </a:solidFill>
            <a:prstDash val="solid"/>
          </a:ln>
        </p:spPr>
      </p:sp>
      <p:sp>
        <p:nvSpPr>
          <p:cNvPr id="23" name="badge text"/>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4" name="step title"/>
          <p:cNvSpPr txBox="1"/>
          <p:nvPr/>
        </p:nvSpPr>
        <p:spPr>
          <a:xfrm>
            <a:off x="777240"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Officer decides</a:t>
            </a:r>
            <a:endParaRPr lang="en-US" sz="1800" dirty="0"/>
          </a:p>
        </p:txBody>
      </p:sp>
      <p:sp>
        <p:nvSpPr>
          <p:cNvPr id="25" name="step text"/>
          <p:cNvSpPr txBox="1"/>
          <p:nvPr/>
        </p:nvSpPr>
        <p:spPr>
          <a:xfrm>
            <a:off x="777240"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Confirm, dismiss with a reason, request information. Seniors for high severity</a:t>
            </a:r>
            <a:endParaRPr lang="en-US" sz="1400" dirty="0"/>
          </a:p>
        </p:txBody>
      </p:sp>
      <p:sp>
        <p:nvSpPr>
          <p:cNvPr id="26" name="step card 5"/>
          <p:cNvSpPr/>
          <p:nvPr/>
        </p:nvSpPr>
        <p:spPr>
          <a:xfrm>
            <a:off x="4325112" y="3931920"/>
            <a:ext cx="3520440" cy="2148840"/>
          </a:xfrm>
          <a:prstGeom prst="roundRect">
            <a:avLst>
              <a:gd name="adj" fmla="val 5106"/>
            </a:avLst>
          </a:prstGeom>
          <a:solidFill>
            <a:srgbClr val="FFF1DB"/>
          </a:solidFill>
          <a:ln w="12700">
            <a:solidFill>
              <a:srgbClr val="FFF1DB"/>
            </a:solidFill>
            <a:prstDash val="solid"/>
          </a:ln>
        </p:spPr>
      </p:sp>
      <p:sp>
        <p:nvSpPr>
          <p:cNvPr id="27" name="badge"/>
          <p:cNvSpPr/>
          <p:nvPr/>
        </p:nvSpPr>
        <p:spPr>
          <a:xfrm>
            <a:off x="4553712" y="4160520"/>
            <a:ext cx="384048" cy="384048"/>
          </a:xfrm>
          <a:prstGeom prst="ellipse">
            <a:avLst/>
          </a:prstGeom>
          <a:solidFill>
            <a:srgbClr val="C47A12"/>
          </a:solidFill>
          <a:ln w="12700">
            <a:solidFill>
              <a:srgbClr val="C47A12"/>
            </a:solidFill>
            <a:prstDash val="solid"/>
          </a:ln>
        </p:spPr>
      </p:sp>
      <p:sp>
        <p:nvSpPr>
          <p:cNvPr id="28" name="badge text"/>
          <p:cNvSpPr txBox="1"/>
          <p:nvPr/>
        </p:nvSpPr>
        <p:spPr>
          <a:xfrm>
            <a:off x="4553712"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9" name="tag"/>
          <p:cNvSpPr/>
          <p:nvPr/>
        </p:nvSpPr>
        <p:spPr>
          <a:xfrm>
            <a:off x="6428232" y="4206240"/>
            <a:ext cx="1188720" cy="274320"/>
          </a:xfrm>
          <a:prstGeom prst="roundRect">
            <a:avLst>
              <a:gd name="adj" fmla="val 50000"/>
            </a:avLst>
          </a:prstGeom>
          <a:solidFill>
            <a:srgbClr val="F2A541"/>
          </a:solidFill>
          <a:ln w="12700">
            <a:solidFill>
              <a:srgbClr val="F2A541"/>
            </a:solidFill>
            <a:prstDash val="solid"/>
          </a:ln>
        </p:spPr>
      </p:sp>
      <p:sp>
        <p:nvSpPr>
          <p:cNvPr id="30" name="tag text"/>
          <p:cNvSpPr txBox="1"/>
          <p:nvPr/>
        </p:nvSpPr>
        <p:spPr>
          <a:xfrm>
            <a:off x="6428232" y="4206240"/>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built this week</a:t>
            </a:r>
            <a:endParaRPr lang="en-US" sz="1100" dirty="0"/>
          </a:p>
        </p:txBody>
      </p:sp>
      <p:sp>
        <p:nvSpPr>
          <p:cNvPr id="31" name="step title"/>
          <p:cNvSpPr txBox="1"/>
          <p:nvPr/>
        </p:nvSpPr>
        <p:spPr>
          <a:xfrm>
            <a:off x="4553712"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Correct and revalidate</a:t>
            </a:r>
            <a:endParaRPr lang="en-US" sz="1800" dirty="0"/>
          </a:p>
        </p:txBody>
      </p:sp>
      <p:sp>
        <p:nvSpPr>
          <p:cNvPr id="32" name="step text"/>
          <p:cNvSpPr txBox="1"/>
          <p:nvPr/>
        </p:nvSpPr>
        <p:spPr>
          <a:xfrm>
            <a:off x="4553712"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What-if first, then a new version. The original stays untouched</a:t>
            </a:r>
            <a:endParaRPr lang="en-US" sz="1400" dirty="0"/>
          </a:p>
        </p:txBody>
      </p:sp>
      <p:sp>
        <p:nvSpPr>
          <p:cNvPr id="33" name="step card 6"/>
          <p:cNvSpPr/>
          <p:nvPr/>
        </p:nvSpPr>
        <p:spPr>
          <a:xfrm>
            <a:off x="8101584" y="3931920"/>
            <a:ext cx="3520440" cy="2148840"/>
          </a:xfrm>
          <a:prstGeom prst="roundRect">
            <a:avLst>
              <a:gd name="adj" fmla="val 5106"/>
            </a:avLst>
          </a:prstGeom>
          <a:solidFill>
            <a:srgbClr val="F2F6F5"/>
          </a:solidFill>
          <a:ln w="12700">
            <a:solidFill>
              <a:srgbClr val="F2F6F5"/>
            </a:solidFill>
            <a:prstDash val="solid"/>
          </a:ln>
        </p:spPr>
      </p:sp>
      <p:sp>
        <p:nvSpPr>
          <p:cNvPr id="34" name="badge"/>
          <p:cNvSpPr/>
          <p:nvPr/>
        </p:nvSpPr>
        <p:spPr>
          <a:xfrm>
            <a:off x="8330184" y="4160520"/>
            <a:ext cx="384048" cy="384048"/>
          </a:xfrm>
          <a:prstGeom prst="ellipse">
            <a:avLst/>
          </a:prstGeom>
          <a:solidFill>
            <a:srgbClr val="14746F"/>
          </a:solidFill>
          <a:ln w="12700">
            <a:solidFill>
              <a:srgbClr val="14746F"/>
            </a:solidFill>
            <a:prstDash val="solid"/>
          </a:ln>
        </p:spPr>
      </p:sp>
      <p:sp>
        <p:nvSpPr>
          <p:cNvPr id="35" name="badge text"/>
          <p:cNvSpPr txBox="1"/>
          <p:nvPr/>
        </p:nvSpPr>
        <p:spPr>
          <a:xfrm>
            <a:off x="8330184"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6" name="step title"/>
          <p:cNvSpPr txBox="1"/>
          <p:nvPr/>
        </p:nvSpPr>
        <p:spPr>
          <a:xfrm>
            <a:off x="8330184"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Traceable, with limits shown</a:t>
            </a:r>
            <a:endParaRPr lang="en-US" sz="1800" dirty="0"/>
          </a:p>
        </p:txBody>
      </p:sp>
      <p:sp>
        <p:nvSpPr>
          <p:cNvPr id="37" name="step text"/>
          <p:cNvSpPr txBox="1"/>
          <p:nvPr/>
        </p:nvSpPr>
        <p:spPr>
          <a:xfrm>
            <a:off x="8330184"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Signed audit trail, both versions side by side, measured accuracy</a:t>
            </a:r>
            <a:endParaRPr lang="en-US" sz="1400" dirty="0"/>
          </a:p>
        </p:txBody>
      </p:sp>
      <p:sp>
        <p:nvSpPr>
          <p:cNvPr id="38"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All numbers in this deck come from commands you can re-run. Anything simulated says so on its slide.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system fits together</a:t>
            </a:r>
            <a:endParaRPr lang="en-US" sz="3200" dirty="0"/>
          </a:p>
        </p:txBody>
      </p:sp>
      <p:sp>
        <p:nvSpPr>
          <p:cNvPr id="4" name="box Inputs"/>
          <p:cNvSpPr/>
          <p:nvPr/>
        </p:nvSpPr>
        <p:spPr>
          <a:xfrm>
            <a:off x="548640" y="1600200"/>
            <a:ext cx="1874520" cy="960120"/>
          </a:xfrm>
          <a:prstGeom prst="roundRect">
            <a:avLst>
              <a:gd name="adj" fmla="val 9524"/>
            </a:avLst>
          </a:prstGeom>
          <a:solidFill>
            <a:srgbClr val="5C7173"/>
          </a:solidFill>
          <a:ln w="12700">
            <a:solidFill>
              <a:srgbClr val="5C7173"/>
            </a:solidFill>
            <a:prstDash val="solid"/>
          </a:ln>
        </p:spPr>
      </p:sp>
      <p:sp>
        <p:nvSpPr>
          <p:cNvPr id="5" name="box text Inputs"/>
          <p:cNvSpPr txBox="1"/>
          <p:nvPr/>
        </p:nvSpPr>
        <p:spPr>
          <a:xfrm>
            <a:off x="621792"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Inputs</a:t>
            </a:r>
            <a:endParaRPr lang="en-US" sz="1400" dirty="0"/>
          </a:p>
          <a:p>
            <a:pPr algn="ctr" indent="0" marL="0">
              <a:buNone/>
            </a:pPr>
            <a:r>
              <a:rPr lang="en-US" sz="1100" dirty="0">
                <a:solidFill>
                  <a:srgbClr val="DDEEEB"/>
                </a:solidFill>
              </a:rPr>
              <a:t>FHIR, CSV, JSONL, PDF, photo</a:t>
            </a:r>
            <a:endParaRPr lang="en-US" sz="1400" dirty="0"/>
          </a:p>
        </p:txBody>
      </p:sp>
      <p:sp>
        <p:nvSpPr>
          <p:cNvPr id="6" name="arrow"/>
          <p:cNvSpPr/>
          <p:nvPr/>
        </p:nvSpPr>
        <p:spPr>
          <a:xfrm>
            <a:off x="2459736" y="2080260"/>
            <a:ext cx="310896" cy="0"/>
          </a:xfrm>
          <a:prstGeom prst="line">
            <a:avLst/>
          </a:prstGeom>
          <a:noFill/>
          <a:ln w="22225">
            <a:solidFill>
              <a:srgbClr val="5C7173"/>
            </a:solidFill>
            <a:prstDash val="solid"/>
            <a:tailEnd type="triangle"/>
          </a:ln>
        </p:spPr>
      </p:sp>
      <p:sp>
        <p:nvSpPr>
          <p:cNvPr id="7" name="box Intake"/>
          <p:cNvSpPr/>
          <p:nvPr/>
        </p:nvSpPr>
        <p:spPr>
          <a:xfrm>
            <a:off x="2807208" y="1600200"/>
            <a:ext cx="1874520" cy="960120"/>
          </a:xfrm>
          <a:prstGeom prst="roundRect">
            <a:avLst>
              <a:gd name="adj" fmla="val 9524"/>
            </a:avLst>
          </a:prstGeom>
          <a:solidFill>
            <a:srgbClr val="14746F"/>
          </a:solidFill>
          <a:ln w="12700">
            <a:solidFill>
              <a:srgbClr val="14746F"/>
            </a:solidFill>
            <a:prstDash val="solid"/>
          </a:ln>
        </p:spPr>
      </p:sp>
      <p:sp>
        <p:nvSpPr>
          <p:cNvPr id="8" name="box text Intake"/>
          <p:cNvSpPr txBox="1"/>
          <p:nvPr/>
        </p:nvSpPr>
        <p:spPr>
          <a:xfrm>
            <a:off x="2880360"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Intake</a:t>
            </a:r>
            <a:endParaRPr lang="en-US" sz="1400" dirty="0"/>
          </a:p>
          <a:p>
            <a:pPr algn="ctr" indent="0" marL="0">
              <a:buNone/>
            </a:pPr>
            <a:r>
              <a:rPr lang="en-US" sz="1100" dirty="0">
                <a:solidFill>
                  <a:srgbClr val="DDEEEB"/>
                </a:solidFill>
              </a:rPr>
              <a:t>validate, quarantine, reader sandbox</a:t>
            </a:r>
            <a:endParaRPr lang="en-US" sz="1400" dirty="0"/>
          </a:p>
        </p:txBody>
      </p:sp>
      <p:sp>
        <p:nvSpPr>
          <p:cNvPr id="9" name="arrow"/>
          <p:cNvSpPr/>
          <p:nvPr/>
        </p:nvSpPr>
        <p:spPr>
          <a:xfrm>
            <a:off x="4718304" y="2080260"/>
            <a:ext cx="310896" cy="0"/>
          </a:xfrm>
          <a:prstGeom prst="line">
            <a:avLst/>
          </a:prstGeom>
          <a:noFill/>
          <a:ln w="22225">
            <a:solidFill>
              <a:srgbClr val="5C7173"/>
            </a:solidFill>
            <a:prstDash val="solid"/>
            <a:tailEnd type="triangle"/>
          </a:ln>
        </p:spPr>
      </p:sp>
      <p:sp>
        <p:nvSpPr>
          <p:cNvPr id="10" name="box Rule engine"/>
          <p:cNvSpPr/>
          <p:nvPr/>
        </p:nvSpPr>
        <p:spPr>
          <a:xfrm>
            <a:off x="5065776" y="1600200"/>
            <a:ext cx="1874520" cy="960120"/>
          </a:xfrm>
          <a:prstGeom prst="roundRect">
            <a:avLst>
              <a:gd name="adj" fmla="val 9524"/>
            </a:avLst>
          </a:prstGeom>
          <a:solidFill>
            <a:srgbClr val="0E3B3F"/>
          </a:solidFill>
          <a:ln w="12700">
            <a:solidFill>
              <a:srgbClr val="0E3B3F"/>
            </a:solidFill>
            <a:prstDash val="solid"/>
          </a:ln>
        </p:spPr>
      </p:sp>
      <p:sp>
        <p:nvSpPr>
          <p:cNvPr id="11" name="box text Rule engine"/>
          <p:cNvSpPr txBox="1"/>
          <p:nvPr/>
        </p:nvSpPr>
        <p:spPr>
          <a:xfrm>
            <a:off x="5138928"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Rule engine</a:t>
            </a:r>
            <a:endParaRPr lang="en-US" sz="1400" dirty="0"/>
          </a:p>
          <a:p>
            <a:pPr algn="ctr" indent="0" marL="0">
              <a:buNone/>
            </a:pPr>
            <a:r>
              <a:rPr lang="en-US" sz="1100" dirty="0">
                <a:solidFill>
                  <a:srgbClr val="DDEEEB"/>
                </a:solidFill>
              </a:rPr>
              <a:t>15 rules, YARA-X, 0.19 ms</a:t>
            </a:r>
            <a:endParaRPr lang="en-US" sz="1400" dirty="0"/>
          </a:p>
        </p:txBody>
      </p:sp>
      <p:sp>
        <p:nvSpPr>
          <p:cNvPr id="12" name="arrow"/>
          <p:cNvSpPr/>
          <p:nvPr/>
        </p:nvSpPr>
        <p:spPr>
          <a:xfrm>
            <a:off x="6976872" y="2080260"/>
            <a:ext cx="310896" cy="0"/>
          </a:xfrm>
          <a:prstGeom prst="line">
            <a:avLst/>
          </a:prstGeom>
          <a:noFill/>
          <a:ln w="22225">
            <a:solidFill>
              <a:srgbClr val="5C7173"/>
            </a:solidFill>
            <a:prstDash val="solid"/>
            <a:tailEnd type="triangle"/>
          </a:ln>
        </p:spPr>
      </p:sp>
      <p:sp>
        <p:nvSpPr>
          <p:cNvPr id="13" name="box MongoDB"/>
          <p:cNvSpPr/>
          <p:nvPr/>
        </p:nvSpPr>
        <p:spPr>
          <a:xfrm>
            <a:off x="7324344" y="1600200"/>
            <a:ext cx="1874520" cy="960120"/>
          </a:xfrm>
          <a:prstGeom prst="roundRect">
            <a:avLst>
              <a:gd name="adj" fmla="val 9524"/>
            </a:avLst>
          </a:prstGeom>
          <a:solidFill>
            <a:srgbClr val="14746F"/>
          </a:solidFill>
          <a:ln w="12700">
            <a:solidFill>
              <a:srgbClr val="14746F"/>
            </a:solidFill>
            <a:prstDash val="solid"/>
          </a:ln>
        </p:spPr>
      </p:sp>
      <p:sp>
        <p:nvSpPr>
          <p:cNvPr id="14" name="box text MongoDB"/>
          <p:cNvSpPr txBox="1"/>
          <p:nvPr/>
        </p:nvSpPr>
        <p:spPr>
          <a:xfrm>
            <a:off x="7397496"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MongoDB</a:t>
            </a:r>
            <a:endParaRPr lang="en-US" sz="1400" dirty="0"/>
          </a:p>
          <a:p>
            <a:pPr algn="ctr" indent="0" marL="0">
              <a:buNone/>
            </a:pPr>
            <a:r>
              <a:rPr lang="en-US" sz="1100" dirty="0">
                <a:solidFill>
                  <a:srgbClr val="DDEEEB"/>
                </a:solidFill>
              </a:rPr>
              <a:t>claims and results sealed at rest</a:t>
            </a:r>
            <a:endParaRPr lang="en-US" sz="1400" dirty="0"/>
          </a:p>
        </p:txBody>
      </p:sp>
      <p:sp>
        <p:nvSpPr>
          <p:cNvPr id="15" name="arrow"/>
          <p:cNvSpPr/>
          <p:nvPr/>
        </p:nvSpPr>
        <p:spPr>
          <a:xfrm>
            <a:off x="9235440" y="2080260"/>
            <a:ext cx="310896" cy="0"/>
          </a:xfrm>
          <a:prstGeom prst="line">
            <a:avLst/>
          </a:prstGeom>
          <a:noFill/>
          <a:ln w="22225">
            <a:solidFill>
              <a:srgbClr val="5C7173"/>
            </a:solidFill>
            <a:prstDash val="solid"/>
            <a:tailEnd type="triangle"/>
          </a:ln>
        </p:spPr>
      </p:sp>
      <p:sp>
        <p:nvSpPr>
          <p:cNvPr id="16" name="box Redis Streams"/>
          <p:cNvSpPr/>
          <p:nvPr/>
        </p:nvSpPr>
        <p:spPr>
          <a:xfrm>
            <a:off x="9582912" y="1600200"/>
            <a:ext cx="1874520" cy="960120"/>
          </a:xfrm>
          <a:prstGeom prst="roundRect">
            <a:avLst>
              <a:gd name="adj" fmla="val 9524"/>
            </a:avLst>
          </a:prstGeom>
          <a:solidFill>
            <a:srgbClr val="8C4A3A"/>
          </a:solidFill>
          <a:ln w="12700">
            <a:solidFill>
              <a:srgbClr val="8C4A3A"/>
            </a:solidFill>
            <a:prstDash val="solid"/>
          </a:ln>
        </p:spPr>
      </p:sp>
      <p:sp>
        <p:nvSpPr>
          <p:cNvPr id="17" name="box text Redis Streams"/>
          <p:cNvSpPr txBox="1"/>
          <p:nvPr/>
        </p:nvSpPr>
        <p:spPr>
          <a:xfrm>
            <a:off x="9656064"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Redis Streams</a:t>
            </a:r>
            <a:endParaRPr lang="en-US" sz="1400" dirty="0"/>
          </a:p>
          <a:p>
            <a:pPr algn="ctr" indent="0" marL="0">
              <a:buNone/>
            </a:pPr>
            <a:r>
              <a:rPr lang="en-US" sz="1100" dirty="0">
                <a:solidFill>
                  <a:srgbClr val="DDEEEB"/>
                </a:solidFill>
              </a:rPr>
              <a:t>consumer group, concurrency cap</a:t>
            </a:r>
            <a:endParaRPr lang="en-US" sz="1400" dirty="0"/>
          </a:p>
        </p:txBody>
      </p:sp>
      <p:sp>
        <p:nvSpPr>
          <p:cNvPr id="18" name="box AI explanation"/>
          <p:cNvSpPr/>
          <p:nvPr/>
        </p:nvSpPr>
        <p:spPr>
          <a:xfrm>
            <a:off x="9582912" y="3246120"/>
            <a:ext cx="1874520" cy="960120"/>
          </a:xfrm>
          <a:prstGeom prst="roundRect">
            <a:avLst>
              <a:gd name="adj" fmla="val 9524"/>
            </a:avLst>
          </a:prstGeom>
          <a:solidFill>
            <a:srgbClr val="6E4B8B"/>
          </a:solidFill>
          <a:ln w="12700">
            <a:solidFill>
              <a:srgbClr val="6E4B8B"/>
            </a:solidFill>
            <a:prstDash val="solid"/>
          </a:ln>
        </p:spPr>
      </p:sp>
      <p:sp>
        <p:nvSpPr>
          <p:cNvPr id="19" name="box text AI explanation"/>
          <p:cNvSpPr txBox="1"/>
          <p:nvPr/>
        </p:nvSpPr>
        <p:spPr>
          <a:xfrm>
            <a:off x="9656064"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AI explanation</a:t>
            </a:r>
            <a:endParaRPr lang="en-US" sz="1400" dirty="0"/>
          </a:p>
          <a:p>
            <a:pPr algn="ctr" indent="0" marL="0">
              <a:buNone/>
            </a:pPr>
            <a:r>
              <a:rPr lang="en-US" sz="1100" dirty="0">
                <a:solidFill>
                  <a:srgbClr val="DDEEEB"/>
                </a:solidFill>
              </a:rPr>
              <a:t>breaker, budget, cache, grounding guard</a:t>
            </a:r>
            <a:endParaRPr lang="en-US" sz="1400" dirty="0"/>
          </a:p>
        </p:txBody>
      </p:sp>
      <p:sp>
        <p:nvSpPr>
          <p:cNvPr id="20" name="arrow"/>
          <p:cNvSpPr/>
          <p:nvPr/>
        </p:nvSpPr>
        <p:spPr>
          <a:xfrm flipH="1">
            <a:off x="9235440" y="3726180"/>
            <a:ext cx="310896" cy="0"/>
          </a:xfrm>
          <a:prstGeom prst="line">
            <a:avLst/>
          </a:prstGeom>
          <a:noFill/>
          <a:ln w="22225">
            <a:solidFill>
              <a:srgbClr val="5C7173"/>
            </a:solidFill>
            <a:prstDash val="solid"/>
            <a:tailEnd type="triangle"/>
          </a:ln>
        </p:spPr>
      </p:sp>
      <p:sp>
        <p:nvSpPr>
          <p:cNvPr id="21" name="box Dispatcher"/>
          <p:cNvSpPr/>
          <p:nvPr/>
        </p:nvSpPr>
        <p:spPr>
          <a:xfrm>
            <a:off x="7324344" y="3246120"/>
            <a:ext cx="1874520" cy="960120"/>
          </a:xfrm>
          <a:prstGeom prst="roundRect">
            <a:avLst>
              <a:gd name="adj" fmla="val 9524"/>
            </a:avLst>
          </a:prstGeom>
          <a:solidFill>
            <a:srgbClr val="14746F"/>
          </a:solidFill>
          <a:ln w="12700">
            <a:solidFill>
              <a:srgbClr val="14746F"/>
            </a:solidFill>
            <a:prstDash val="solid"/>
          </a:ln>
        </p:spPr>
      </p:sp>
      <p:sp>
        <p:nvSpPr>
          <p:cNvPr id="22" name="box text Dispatcher"/>
          <p:cNvSpPr txBox="1"/>
          <p:nvPr/>
        </p:nvSpPr>
        <p:spPr>
          <a:xfrm>
            <a:off x="7397496"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Dispatcher</a:t>
            </a:r>
            <a:endParaRPr lang="en-US" sz="1400" dirty="0"/>
          </a:p>
          <a:p>
            <a:pPr algn="ctr" indent="0" marL="0">
              <a:buNone/>
            </a:pPr>
            <a:r>
              <a:rPr lang="en-US" sz="1100" dirty="0">
                <a:solidFill>
                  <a:srgbClr val="DDEEEB"/>
                </a:solidFill>
              </a:rPr>
              <a:t>lanes, leases, personal inboxes</a:t>
            </a:r>
            <a:endParaRPr lang="en-US" sz="1400" dirty="0"/>
          </a:p>
        </p:txBody>
      </p:sp>
      <p:sp>
        <p:nvSpPr>
          <p:cNvPr id="23" name="arrow"/>
          <p:cNvSpPr/>
          <p:nvPr/>
        </p:nvSpPr>
        <p:spPr>
          <a:xfrm flipH="1">
            <a:off x="6976872" y="3726180"/>
            <a:ext cx="310896" cy="0"/>
          </a:xfrm>
          <a:prstGeom prst="line">
            <a:avLst/>
          </a:prstGeom>
          <a:noFill/>
          <a:ln w="22225">
            <a:solidFill>
              <a:srgbClr val="5C7173"/>
            </a:solidFill>
            <a:prstDash val="solid"/>
            <a:tailEnd type="triangle"/>
          </a:ln>
        </p:spPr>
      </p:sp>
      <p:sp>
        <p:nvSpPr>
          <p:cNvPr id="24" name="box Console"/>
          <p:cNvSpPr/>
          <p:nvPr/>
        </p:nvSpPr>
        <p:spPr>
          <a:xfrm>
            <a:off x="5065776" y="3246120"/>
            <a:ext cx="1874520" cy="960120"/>
          </a:xfrm>
          <a:prstGeom prst="roundRect">
            <a:avLst>
              <a:gd name="adj" fmla="val 9524"/>
            </a:avLst>
          </a:prstGeom>
          <a:solidFill>
            <a:srgbClr val="0E3B3F"/>
          </a:solidFill>
          <a:ln w="12700">
            <a:solidFill>
              <a:srgbClr val="0E3B3F"/>
            </a:solidFill>
            <a:prstDash val="solid"/>
          </a:ln>
        </p:spPr>
      </p:sp>
      <p:sp>
        <p:nvSpPr>
          <p:cNvPr id="25" name="box text Console"/>
          <p:cNvSpPr txBox="1"/>
          <p:nvPr/>
        </p:nvSpPr>
        <p:spPr>
          <a:xfrm>
            <a:off x="5138928"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Console</a:t>
            </a:r>
            <a:endParaRPr lang="en-US" sz="1400" dirty="0"/>
          </a:p>
          <a:p>
            <a:pPr algn="ctr" indent="0" marL="0">
              <a:buNone/>
            </a:pPr>
            <a:r>
              <a:rPr lang="en-US" sz="1100" dirty="0">
                <a:solidFill>
                  <a:srgbClr val="DDEEEB"/>
                </a:solidFill>
              </a:rPr>
              <a:t>inbox, copilot, what-if, recheck</a:t>
            </a:r>
            <a:endParaRPr lang="en-US" sz="1400" dirty="0"/>
          </a:p>
        </p:txBody>
      </p:sp>
      <p:sp>
        <p:nvSpPr>
          <p:cNvPr id="26" name="arrow"/>
          <p:cNvSpPr/>
          <p:nvPr/>
        </p:nvSpPr>
        <p:spPr>
          <a:xfrm flipH="1">
            <a:off x="4718304" y="3726180"/>
            <a:ext cx="310896" cy="0"/>
          </a:xfrm>
          <a:prstGeom prst="line">
            <a:avLst/>
          </a:prstGeom>
          <a:noFill/>
          <a:ln w="22225">
            <a:solidFill>
              <a:srgbClr val="5C7173"/>
            </a:solidFill>
            <a:prstDash val="solid"/>
            <a:tailEnd type="triangle"/>
          </a:ln>
        </p:spPr>
      </p:sp>
      <p:sp>
        <p:nvSpPr>
          <p:cNvPr id="27" name="box Decision"/>
          <p:cNvSpPr/>
          <p:nvPr/>
        </p:nvSpPr>
        <p:spPr>
          <a:xfrm>
            <a:off x="2807208" y="3246120"/>
            <a:ext cx="1874520" cy="960120"/>
          </a:xfrm>
          <a:prstGeom prst="roundRect">
            <a:avLst>
              <a:gd name="adj" fmla="val 9524"/>
            </a:avLst>
          </a:prstGeom>
          <a:solidFill>
            <a:srgbClr val="14746F"/>
          </a:solidFill>
          <a:ln w="12700">
            <a:solidFill>
              <a:srgbClr val="14746F"/>
            </a:solidFill>
            <a:prstDash val="solid"/>
          </a:ln>
        </p:spPr>
      </p:sp>
      <p:sp>
        <p:nvSpPr>
          <p:cNvPr id="28" name="box text Decision"/>
          <p:cNvSpPr txBox="1"/>
          <p:nvPr/>
        </p:nvSpPr>
        <p:spPr>
          <a:xfrm>
            <a:off x="2880360"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Decision</a:t>
            </a:r>
            <a:endParaRPr lang="en-US" sz="1400" dirty="0"/>
          </a:p>
          <a:p>
            <a:pPr algn="ctr" indent="0" marL="0">
              <a:buNone/>
            </a:pPr>
            <a:r>
              <a:rPr lang="en-US" sz="1100" dirty="0">
                <a:solidFill>
                  <a:srgbClr val="DDEEEB"/>
                </a:solidFill>
              </a:rPr>
              <a:t>badge, reason, four-eyes</a:t>
            </a:r>
            <a:endParaRPr lang="en-US" sz="1400" dirty="0"/>
          </a:p>
        </p:txBody>
      </p:sp>
      <p:sp>
        <p:nvSpPr>
          <p:cNvPr id="29" name="arrow"/>
          <p:cNvSpPr/>
          <p:nvPr/>
        </p:nvSpPr>
        <p:spPr>
          <a:xfrm flipH="1">
            <a:off x="2459736" y="3726180"/>
            <a:ext cx="310896" cy="0"/>
          </a:xfrm>
          <a:prstGeom prst="line">
            <a:avLst/>
          </a:prstGeom>
          <a:noFill/>
          <a:ln w="22225">
            <a:solidFill>
              <a:srgbClr val="5C7173"/>
            </a:solidFill>
            <a:prstDash val="solid"/>
            <a:tailEnd type="triangle"/>
          </a:ln>
        </p:spPr>
      </p:sp>
      <p:sp>
        <p:nvSpPr>
          <p:cNvPr id="30" name="box New version"/>
          <p:cNvSpPr/>
          <p:nvPr/>
        </p:nvSpPr>
        <p:spPr>
          <a:xfrm>
            <a:off x="548640" y="3246120"/>
            <a:ext cx="1874520" cy="960120"/>
          </a:xfrm>
          <a:prstGeom prst="roundRect">
            <a:avLst>
              <a:gd name="adj" fmla="val 9524"/>
            </a:avLst>
          </a:prstGeom>
          <a:solidFill>
            <a:srgbClr val="C47A12"/>
          </a:solidFill>
          <a:ln w="12700">
            <a:solidFill>
              <a:srgbClr val="C47A12"/>
            </a:solidFill>
            <a:prstDash val="solid"/>
          </a:ln>
        </p:spPr>
      </p:sp>
      <p:sp>
        <p:nvSpPr>
          <p:cNvPr id="31" name="box text New version"/>
          <p:cNvSpPr txBox="1"/>
          <p:nvPr/>
        </p:nvSpPr>
        <p:spPr>
          <a:xfrm>
            <a:off x="621792"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New version</a:t>
            </a:r>
            <a:endParaRPr lang="en-US" sz="1400" dirty="0"/>
          </a:p>
          <a:p>
            <a:pPr algn="ctr" indent="0" marL="0">
              <a:buNone/>
            </a:pPr>
            <a:r>
              <a:rPr lang="en-US" sz="1100" dirty="0">
                <a:solidFill>
                  <a:srgbClr val="DDEEEB"/>
                </a:solidFill>
              </a:rPr>
              <a:t>corrected claim, validated again</a:t>
            </a:r>
            <a:endParaRPr lang="en-US" sz="1400" dirty="0"/>
          </a:p>
        </p:txBody>
      </p:sp>
      <p:sp>
        <p:nvSpPr>
          <p:cNvPr id="32" name="arrow"/>
          <p:cNvSpPr/>
          <p:nvPr/>
        </p:nvSpPr>
        <p:spPr>
          <a:xfrm>
            <a:off x="10520172" y="2578608"/>
            <a:ext cx="0" cy="649224"/>
          </a:xfrm>
          <a:prstGeom prst="line">
            <a:avLst/>
          </a:prstGeom>
          <a:noFill/>
          <a:ln w="22225">
            <a:solidFill>
              <a:srgbClr val="5C7173"/>
            </a:solidFill>
            <a:prstDash val="solid"/>
            <a:tailEnd type="triangle"/>
          </a:ln>
        </p:spPr>
      </p:sp>
      <p:sp>
        <p:nvSpPr>
          <p:cNvPr id="33" name="records band"/>
          <p:cNvSpPr/>
          <p:nvPr/>
        </p:nvSpPr>
        <p:spPr>
          <a:xfrm>
            <a:off x="548640" y="4572000"/>
            <a:ext cx="11064240" cy="1371600"/>
          </a:xfrm>
          <a:prstGeom prst="roundRect">
            <a:avLst>
              <a:gd name="adj" fmla="val 8000"/>
            </a:avLst>
          </a:prstGeom>
          <a:solidFill>
            <a:srgbClr val="F2F6F5"/>
          </a:solidFill>
          <a:ln w="12700">
            <a:solidFill>
              <a:srgbClr val="F2F6F5"/>
            </a:solidFill>
            <a:prstDash val="solid"/>
          </a:ln>
        </p:spPr>
      </p:sp>
      <p:sp>
        <p:nvSpPr>
          <p:cNvPr id="34" name="band title"/>
          <p:cNvSpPr txBox="1"/>
          <p:nvPr/>
        </p:nvSpPr>
        <p:spPr>
          <a:xfrm>
            <a:off x="777240" y="4645152"/>
            <a:ext cx="3657600" cy="320040"/>
          </a:xfrm>
          <a:prstGeom prst="rect">
            <a:avLst/>
          </a:prstGeom>
          <a:noFill/>
          <a:ln/>
        </p:spPr>
        <p:txBody>
          <a:bodyPr wrap="square" lIns="0" tIns="0" rIns="0" bIns="0" rtlCol="0" anchor="ctr"/>
          <a:lstStyle/>
          <a:p>
            <a:pPr indent="0" marL="0">
              <a:buNone/>
            </a:pPr>
            <a:r>
              <a:rPr lang="en-US" sz="1400" b="1" dirty="0">
                <a:solidFill>
                  <a:srgbClr val="0E3B3F"/>
                </a:solidFill>
              </a:rPr>
              <a:t>Records and people</a:t>
            </a:r>
            <a:endParaRPr lang="en-US" sz="1400" dirty="0"/>
          </a:p>
        </p:txBody>
      </p:sp>
      <p:sp>
        <p:nvSpPr>
          <p:cNvPr id="35" name="record Review log"/>
          <p:cNvSpPr txBox="1"/>
          <p:nvPr/>
        </p:nvSpPr>
        <p:spPr>
          <a:xfrm>
            <a:off x="77724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Review log</a:t>
            </a:r>
            <a:endParaRPr lang="en-US" sz="1400" dirty="0"/>
          </a:p>
          <a:p>
            <a:pPr indent="0" marL="0">
              <a:buNone/>
            </a:pPr>
            <a:r>
              <a:rPr lang="en-US" sz="1200" dirty="0">
                <a:solidFill>
                  <a:srgbClr val="5C7173"/>
                </a:solidFill>
              </a:rPr>
              <a:t>hash-chained, signed</a:t>
            </a:r>
            <a:endParaRPr lang="en-US" sz="1400" dirty="0"/>
          </a:p>
        </p:txBody>
      </p:sp>
      <p:sp>
        <p:nvSpPr>
          <p:cNvPr id="36" name="record Security log"/>
          <p:cNvSpPr txBox="1"/>
          <p:nvPr/>
        </p:nvSpPr>
        <p:spPr>
          <a:xfrm>
            <a:off x="347472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Security log</a:t>
            </a:r>
            <a:endParaRPr lang="en-US" sz="1400" dirty="0"/>
          </a:p>
          <a:p>
            <a:pPr indent="0" marL="0">
              <a:buNone/>
            </a:pPr>
            <a:r>
              <a:rPr lang="en-US" sz="1200" dirty="0">
                <a:solidFill>
                  <a:srgbClr val="5C7173"/>
                </a:solidFill>
              </a:rPr>
              <a:t>every access and decision</a:t>
            </a:r>
            <a:endParaRPr lang="en-US" sz="1400" dirty="0"/>
          </a:p>
        </p:txBody>
      </p:sp>
      <p:sp>
        <p:nvSpPr>
          <p:cNvPr id="37" name="record Ledger"/>
          <p:cNvSpPr txBox="1"/>
          <p:nvPr/>
        </p:nvSpPr>
        <p:spPr>
          <a:xfrm>
            <a:off x="617220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Ledger</a:t>
            </a:r>
            <a:endParaRPr lang="en-US" sz="1400" dirty="0"/>
          </a:p>
          <a:p>
            <a:pPr indent="0" marL="0">
              <a:buNone/>
            </a:pPr>
            <a:r>
              <a:rPr lang="en-US" sz="1200" dirty="0">
                <a:solidFill>
                  <a:srgbClr val="5C7173"/>
                </a:solidFill>
              </a:rPr>
              <a:t>Ed25519 checkpoints, Merkle proofs</a:t>
            </a:r>
            <a:endParaRPr lang="en-US" sz="1400" dirty="0"/>
          </a:p>
        </p:txBody>
      </p:sp>
      <p:sp>
        <p:nvSpPr>
          <p:cNvPr id="38" name="record Access control"/>
          <p:cNvSpPr txBox="1"/>
          <p:nvPr/>
        </p:nvSpPr>
        <p:spPr>
          <a:xfrm>
            <a:off x="886968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Access control</a:t>
            </a:r>
            <a:endParaRPr lang="en-US" sz="1400" dirty="0"/>
          </a:p>
          <a:p>
            <a:pPr indent="0" marL="0">
              <a:buNone/>
            </a:pPr>
            <a:r>
              <a:rPr lang="en-US" sz="1200" dirty="0">
                <a:solidFill>
                  <a:srgbClr val="5C7173"/>
                </a:solidFill>
              </a:rPr>
              <a:t>4 clearance levels, pseudonymised identifiers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it is made of</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371600"/>
                <a:gridCol w="5486400"/>
                <a:gridCol w="4206240"/>
              </a:tblGrid>
              <a:tr h="402336">
                <a:tc>
                  <a:txBody>
                    <a:bodyPr/>
                    <a:lstStyle/>
                    <a:p>
                      <a:pPr indent="0" marL="0">
                        <a:buNone/>
                      </a:pPr>
                      <a:r>
                        <a:rPr lang="en-US" sz="1150" b="1" dirty="0">
                          <a:solidFill>
                            <a:srgbClr val="FFFFFF"/>
                          </a:solidFill>
                        </a:rPr>
                        <a:t>Layer</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we used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it gives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02336">
                <a:tc>
                  <a:txBody>
                    <a:bodyPr/>
                    <a:lstStyle/>
                    <a:p>
                      <a:pPr indent="0" marL="0">
                        <a:buNone/>
                      </a:pPr>
                      <a:r>
                        <a:rPr lang="en-US" sz="1150" dirty="0">
                          <a:solidFill>
                            <a:srgbClr val="17292B"/>
                          </a:solidFill>
                        </a:rPr>
                        <a:t>Language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Rust, one workspace of 12 crates. The engine knows nothing of the web, the web layer nothing of the database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One binary, memory safe, each layer tested alone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Rules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YARA-X rule packs over fact lines that one Rust function per rule extracts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Readable rule files, hashed with the build, 0.19 ms a claim</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Numbers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Exact decimals and integers; JSON numbers keep their text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Money rounds exactly: 2.5 and 2.50 behave the same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Storage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MongoDB: claim versions, configurations, deals, dead letters, cache, counters, users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Unique indexes and conditional updates make the database enforce the rules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Queue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Redis Streams with a consumer group, plus an outbox in MongoDB</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At-least-once delivery, nothing lost if Redis is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AI</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Gemma 3 4B served locally (Ollama; any server with the same protocol)</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No outside call, no claim value in the prompt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Documents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Tesseract and a vision model, in an isolated reader</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Two independent readers cross-checked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Identity</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bcrypt, authenticator code (TOTP), signed session tokens, CSRF defence, 4 levels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Two factors, revocable sessions, server-side permissions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Records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Hash-chained signed logs, Ed25519 checkpoints, Merkle proofs, RFC 3161 timestamp</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An edit to history is detected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Console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Plain JavaScript embedded in the binary, live updates by server-sent events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No separate web server to run</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Choices we made, and what we measured</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1920240"/>
                <a:gridCol w="4480560"/>
                <a:gridCol w="2743200"/>
              </a:tblGrid>
              <a:tr h="457200">
                <a:tc>
                  <a:txBody>
                    <a:bodyPr/>
                    <a:lstStyle/>
                    <a:p>
                      <a:pPr indent="0" marL="0">
                        <a:buNone/>
                      </a:pPr>
                      <a:r>
                        <a:rPr lang="en-US" sz="1150" b="1" dirty="0">
                          <a:solidFill>
                            <a:srgbClr val="FFFFFF"/>
                          </a:solidFill>
                        </a:rPr>
                        <a:t>Decision</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Instead of</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we measured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Weak spot, said first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150" dirty="0">
                          <a:solidFill>
                            <a:srgbClr val="17292B"/>
                          </a:solidFill>
                        </a:rPr>
                        <a:t>Rules decide, the AI explains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An agent that decides (LangGraph)</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Same model, same claims: 97.5 against 11.5 strict (21.1 lenient). The agent's endpoint failed in 10 of 12 runs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12 claims. Our correctness is structural, not an independent finding</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Gemma 3 4B, run locally</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Qwen3 4B, MedGemma 4B</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Gemma: 97.2% usable live (35 of 36), median about 3 s. MedGemma 83.3% and about 4 times slower. no Qwen3 setting worked on the whole set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Small test sets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YARA-X rule packs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Plain Python functions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In the Python build, plain Python was about 11 times faster per claim</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We lost the speed argument and say so. The case is structural: rule text apart from code, hashed, no side effects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Rust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Python, Java, Node, C#, Go</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Rust used 7 MB where Java used 283 MB and Node 1,168 MB. The language changes a reviewer's wait by under 0.03%</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Measured on one machine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MongoDB and Redis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SQLite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The mentor's direction of 27 September: a NoSQL store and a real queue, on premises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Throughput measured on one laptop only</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Rule correctness: the 15 reference rules, measured</a:t>
            </a:r>
            <a:endParaRPr lang="en-US" sz="3200" dirty="0"/>
          </a:p>
        </p:txBody>
      </p:sp>
      <p:sp>
        <p:nvSpPr>
          <p:cNvPr id="4" name="stat"/>
          <p:cNvSpPr txBox="1"/>
          <p:nvPr/>
        </p:nvSpPr>
        <p:spPr>
          <a:xfrm>
            <a:off x="548640" y="1417320"/>
            <a:ext cx="25603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1.00</a:t>
            </a:r>
            <a:endParaRPr lang="en-US" sz="4400" dirty="0"/>
          </a:p>
        </p:txBody>
      </p:sp>
      <p:sp>
        <p:nvSpPr>
          <p:cNvPr id="5" name="stat label"/>
          <p:cNvSpPr txBox="1"/>
          <p:nvPr/>
        </p:nvSpPr>
        <p:spPr>
          <a:xfrm>
            <a:off x="5486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F1 on all 600 public claims (400 development, 150 validation, 50 stress)</a:t>
            </a:r>
            <a:endParaRPr lang="en-US" sz="1400" dirty="0"/>
          </a:p>
        </p:txBody>
      </p:sp>
      <p:sp>
        <p:nvSpPr>
          <p:cNvPr id="6" name="stat"/>
          <p:cNvSpPr txBox="1"/>
          <p:nvPr/>
        </p:nvSpPr>
        <p:spPr>
          <a:xfrm>
            <a:off x="3291840" y="1417320"/>
            <a:ext cx="25603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0 of 3,015</a:t>
            </a:r>
            <a:endParaRPr lang="en-US" sz="3200" dirty="0"/>
          </a:p>
        </p:txBody>
      </p:sp>
      <p:sp>
        <p:nvSpPr>
          <p:cNvPr id="7" name="stat label"/>
          <p:cNvSpPr txBox="1"/>
          <p:nvPr/>
        </p:nvSpPr>
        <p:spPr>
          <a:xfrm>
            <a:off x="32918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clean results wrongly flagged. 95% bound on false-alarm claims: 1.9%</a:t>
            </a:r>
            <a:endParaRPr lang="en-US" sz="1400" dirty="0"/>
          </a:p>
        </p:txBody>
      </p:sp>
      <p:sp>
        <p:nvSpPr>
          <p:cNvPr id="8" name="stat"/>
          <p:cNvSpPr txBox="1"/>
          <p:nvPr/>
        </p:nvSpPr>
        <p:spPr>
          <a:xfrm>
            <a:off x="6035040" y="1417320"/>
            <a:ext cx="25603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0.19 ms</a:t>
            </a:r>
            <a:endParaRPr lang="en-US" sz="4400" dirty="0"/>
          </a:p>
        </p:txBody>
      </p:sp>
      <p:sp>
        <p:nvSpPr>
          <p:cNvPr id="9" name="stat label"/>
          <p:cNvSpPr txBox="1"/>
          <p:nvPr/>
        </p:nvSpPr>
        <p:spPr>
          <a:xfrm>
            <a:off x="60350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per claim in the rule engine. The model, not the engine, is the slow step</a:t>
            </a:r>
            <a:endParaRPr lang="en-US" sz="1400" dirty="0"/>
          </a:p>
        </p:txBody>
      </p:sp>
      <p:sp>
        <p:nvSpPr>
          <p:cNvPr id="10" name="stat"/>
          <p:cNvSpPr txBox="1"/>
          <p:nvPr/>
        </p:nvSpPr>
        <p:spPr>
          <a:xfrm>
            <a:off x="8778240" y="1417320"/>
            <a:ext cx="283464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10,600</a:t>
            </a:r>
            <a:endParaRPr lang="en-US" sz="4400" dirty="0"/>
          </a:p>
        </p:txBody>
      </p:sp>
      <p:sp>
        <p:nvSpPr>
          <p:cNvPr id="11" name="stat label"/>
          <p:cNvSpPr txBox="1"/>
          <p:nvPr/>
        </p:nvSpPr>
        <p:spPr>
          <a:xfrm>
            <a:off x="8778240" y="2286000"/>
            <a:ext cx="2834640" cy="822960"/>
          </a:xfrm>
          <a:prstGeom prst="rect">
            <a:avLst/>
          </a:prstGeom>
          <a:noFill/>
          <a:ln/>
        </p:spPr>
        <p:txBody>
          <a:bodyPr wrap="square" lIns="0" tIns="0" rIns="0" bIns="0" rtlCol="0" anchor="t"/>
          <a:lstStyle/>
          <a:p>
            <a:pPr indent="0" marL="0">
              <a:buNone/>
            </a:pPr>
            <a:r>
              <a:rPr lang="en-US" sz="1400" dirty="0">
                <a:solidFill>
                  <a:srgbClr val="5C7173"/>
                </a:solidFill>
              </a:rPr>
              <a:t>claims on which the Rust engine agrees exactly with the Python reference</a:t>
            </a:r>
            <a:endParaRPr lang="en-US" sz="1400" dirty="0"/>
          </a:p>
        </p:txBody>
      </p:sp>
      <p:sp>
        <p:nvSpPr>
          <p:cNvPr id="12" name="left card"/>
          <p:cNvSpPr/>
          <p:nvPr/>
        </p:nvSpPr>
        <p:spPr>
          <a:xfrm>
            <a:off x="548640" y="3429000"/>
            <a:ext cx="5394960" cy="2606040"/>
          </a:xfrm>
          <a:prstGeom prst="roundRect">
            <a:avLst>
              <a:gd name="adj" fmla="val 4211"/>
            </a:avLst>
          </a:prstGeom>
          <a:solidFill>
            <a:srgbClr val="F2F6F5"/>
          </a:solidFill>
          <a:ln w="12700">
            <a:solidFill>
              <a:srgbClr val="F2F6F5"/>
            </a:solidFill>
            <a:prstDash val="solid"/>
          </a:ln>
        </p:spPr>
      </p:sp>
      <p:sp>
        <p:nvSpPr>
          <p:cNvPr id="13" name="h"/>
          <p:cNvSpPr txBox="1"/>
          <p:nvPr/>
        </p:nvSpPr>
        <p:spPr>
          <a:xfrm>
            <a:off x="777240" y="3520440"/>
            <a:ext cx="49377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Edge cases and uncertainty</a:t>
            </a:r>
            <a:endParaRPr lang="en-US" sz="1800" dirty="0"/>
          </a:p>
        </p:txBody>
      </p:sp>
      <p:sp>
        <p:nvSpPr>
          <p:cNvPr id="14" name="bullets"/>
          <p:cNvSpPr txBox="1"/>
          <p:nvPr/>
        </p:nvSpPr>
        <p:spPr>
          <a:xfrm>
            <a:off x="777240" y="3977640"/>
            <a:ext cx="49377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Missing data gives UNABLE_TO_ASSESS, never PASS</a:t>
            </a:r>
            <a:endParaRPr lang="en-US" sz="1500" dirty="0"/>
          </a:p>
          <a:p>
            <a:pPr marL="203200" indent="-203200">
              <a:spcAft>
                <a:spcPts val="600"/>
              </a:spcAft>
              <a:buSzPct val="100000"/>
              <a:buChar char="•"/>
            </a:pPr>
            <a:r>
              <a:rPr lang="en-US" sz="1500" dirty="0">
                <a:solidFill>
                  <a:srgbClr val="17292B"/>
                </a:solidFill>
              </a:rPr>
              <a:t>Boundaries inclusive, ROUND_HALF_UP, 0.01 SAR tolerance</a:t>
            </a:r>
            <a:endParaRPr lang="en-US" sz="1500" dirty="0"/>
          </a:p>
          <a:p>
            <a:pPr marL="203200" indent="-203200">
              <a:spcAft>
                <a:spcPts val="600"/>
              </a:spcAft>
              <a:buSzPct val="100000"/>
              <a:buChar char="•"/>
            </a:pPr>
            <a:r>
              <a:rPr lang="en-US" sz="1500" dirty="0">
                <a:solidFill>
                  <a:srgbClr val="17292B"/>
                </a:solidFill>
              </a:rPr>
              <a:t>R006 exactly as documented: code, date, modifier</a:t>
            </a:r>
            <a:endParaRPr lang="en-US" sz="1500" dirty="0"/>
          </a:p>
          <a:p>
            <a:pPr marL="203200" indent="-203200">
              <a:spcAft>
                <a:spcPts val="600"/>
              </a:spcAft>
              <a:buSzPct val="100000"/>
              <a:buChar char="•"/>
            </a:pPr>
            <a:r>
              <a:rPr lang="en-US" sz="1500" dirty="0">
                <a:solidFill>
                  <a:srgbClr val="17292B"/>
                </a:solidFill>
              </a:rPr>
              <a:t>R009 aggregates per authorization within one claim</a:t>
            </a:r>
            <a:endParaRPr lang="en-US" sz="1500" dirty="0"/>
          </a:p>
        </p:txBody>
      </p:sp>
      <p:sp>
        <p:nvSpPr>
          <p:cNvPr id="15" name="right card"/>
          <p:cNvSpPr/>
          <p:nvPr/>
        </p:nvSpPr>
        <p:spPr>
          <a:xfrm>
            <a:off x="6217920" y="3429000"/>
            <a:ext cx="5394960" cy="2606040"/>
          </a:xfrm>
          <a:prstGeom prst="roundRect">
            <a:avLst>
              <a:gd name="adj" fmla="val 4211"/>
            </a:avLst>
          </a:prstGeom>
          <a:solidFill>
            <a:srgbClr val="F2F6F5"/>
          </a:solidFill>
          <a:ln w="12700">
            <a:solidFill>
              <a:srgbClr val="F2F6F5"/>
            </a:solidFill>
            <a:prstDash val="solid"/>
          </a:ln>
        </p:spPr>
      </p:sp>
      <p:sp>
        <p:nvSpPr>
          <p:cNvPr id="16" name="h"/>
          <p:cNvSpPr txBox="1"/>
          <p:nvPr/>
        </p:nvSpPr>
        <p:spPr>
          <a:xfrm>
            <a:off x="6446520" y="3520440"/>
            <a:ext cx="49377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Kept apart from the benchmark</a:t>
            </a:r>
            <a:endParaRPr lang="en-US" sz="1800" dirty="0"/>
          </a:p>
        </p:txBody>
      </p:sp>
      <p:sp>
        <p:nvSpPr>
          <p:cNvPr id="17" name="bullets"/>
          <p:cNvSpPr txBox="1"/>
          <p:nvPr/>
        </p:nvSpPr>
        <p:spPr>
          <a:xfrm>
            <a:off x="6446520" y="3977640"/>
            <a:ext cx="49377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8 advisory rules (E001 to E005, E101 to E103) in their own pack, file and schema</a:t>
            </a:r>
            <a:endParaRPr lang="en-US" sz="1500" dirty="0"/>
          </a:p>
          <a:p>
            <a:pPr marL="203200" indent="-203200">
              <a:spcAft>
                <a:spcPts val="600"/>
              </a:spcAft>
              <a:buSzPct val="100000"/>
              <a:buChar char="•"/>
            </a:pPr>
            <a:r>
              <a:rPr lang="en-US" sz="1500" dirty="0">
                <a:solidFill>
                  <a:srgbClr val="17292B"/>
                </a:solidFill>
              </a:rPr>
              <a:t>Reference JSONL unchanged: confidence null, not_probabilistic</a:t>
            </a:r>
            <a:endParaRPr lang="en-US" sz="1500" dirty="0"/>
          </a:p>
          <a:p>
            <a:pPr marL="203200" indent="-203200">
              <a:spcAft>
                <a:spcPts val="600"/>
              </a:spcAft>
              <a:buSzPct val="100000"/>
              <a:buChar char="•"/>
            </a:pPr>
            <a:r>
              <a:rPr lang="en-US" sz="1500" dirty="0">
                <a:solidFill>
                  <a:srgbClr val="17292B"/>
                </a:solidFill>
              </a:rPr>
              <a:t>A test pins the official results to their recorded values</a:t>
            </a:r>
            <a:endParaRPr lang="en-US" sz="1500" dirty="0"/>
          </a:p>
          <a:p>
            <a:pPr marL="203200" indent="-203200">
              <a:spcAft>
                <a:spcPts val="600"/>
              </a:spcAft>
              <a:buSzPct val="100000"/>
              <a:buChar char="•"/>
            </a:pPr>
            <a:r>
              <a:rPr lang="en-US" sz="1500" dirty="0">
                <a:solidFill>
                  <a:srgbClr val="17292B"/>
                </a:solidFill>
              </a:rPr>
              <a:t>Public set is synthetic: a perfect score is not proof for real claims</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it was tested</a:t>
            </a:r>
            <a:endParaRPr lang="en-US" sz="3200" dirty="0"/>
          </a:p>
        </p:txBody>
      </p:sp>
      <p:sp>
        <p:nvSpPr>
          <p:cNvPr id="4" name="stat"/>
          <p:cNvSpPr txBox="1"/>
          <p:nvPr/>
        </p:nvSpPr>
        <p:spPr>
          <a:xfrm>
            <a:off x="54864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107,635</a:t>
            </a:r>
            <a:endParaRPr lang="en-US" sz="3600" dirty="0"/>
          </a:p>
        </p:txBody>
      </p:sp>
      <p:sp>
        <p:nvSpPr>
          <p:cNvPr id="5" name="stat label"/>
          <p:cNvSpPr txBox="1"/>
          <p:nvPr/>
        </p:nvSpPr>
        <p:spPr>
          <a:xfrm>
            <a:off x="54864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generated claims where an independent oracle agrees with the engine: 0 disagreements</a:t>
            </a:r>
            <a:endParaRPr lang="en-US" sz="1400" dirty="0"/>
          </a:p>
        </p:txBody>
      </p:sp>
      <p:sp>
        <p:nvSpPr>
          <p:cNvPr id="6" name="stat"/>
          <p:cNvSpPr txBox="1"/>
          <p:nvPr/>
        </p:nvSpPr>
        <p:spPr>
          <a:xfrm>
            <a:off x="338328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37,000</a:t>
            </a:r>
            <a:endParaRPr lang="en-US" sz="3600" dirty="0"/>
          </a:p>
        </p:txBody>
      </p:sp>
      <p:sp>
        <p:nvSpPr>
          <p:cNvPr id="7" name="stat label"/>
          <p:cNvSpPr txBox="1"/>
          <p:nvPr/>
        </p:nvSpPr>
        <p:spPr>
          <a:xfrm>
            <a:off x="338328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boundary mutants of claims, plus 123 hand-derived boundary cases</a:t>
            </a:r>
            <a:endParaRPr lang="en-US" sz="1400" dirty="0"/>
          </a:p>
        </p:txBody>
      </p:sp>
      <p:sp>
        <p:nvSpPr>
          <p:cNvPr id="8" name="stat"/>
          <p:cNvSpPr txBox="1"/>
          <p:nvPr/>
        </p:nvSpPr>
        <p:spPr>
          <a:xfrm>
            <a:off x="621792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374</a:t>
            </a:r>
            <a:endParaRPr lang="en-US" sz="3600" dirty="0"/>
          </a:p>
        </p:txBody>
      </p:sp>
      <p:sp>
        <p:nvSpPr>
          <p:cNvPr id="9" name="stat label"/>
          <p:cNvSpPr txBox="1"/>
          <p:nvPr/>
        </p:nvSpPr>
        <p:spPr>
          <a:xfrm>
            <a:off x="621792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Rust workspace tests pass (database tests need MongoDB and Redis)</a:t>
            </a:r>
            <a:endParaRPr lang="en-US" sz="1400" dirty="0"/>
          </a:p>
        </p:txBody>
      </p:sp>
      <p:sp>
        <p:nvSpPr>
          <p:cNvPr id="10" name="stat"/>
          <p:cNvSpPr txBox="1"/>
          <p:nvPr/>
        </p:nvSpPr>
        <p:spPr>
          <a:xfrm>
            <a:off x="905256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1,795</a:t>
            </a:r>
            <a:endParaRPr lang="en-US" sz="3600" dirty="0"/>
          </a:p>
        </p:txBody>
      </p:sp>
      <p:sp>
        <p:nvSpPr>
          <p:cNvPr id="11" name="stat label"/>
          <p:cNvSpPr txBox="1"/>
          <p:nvPr/>
        </p:nvSpPr>
        <p:spPr>
          <a:xfrm>
            <a:off x="905256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tests behind the Python reference build</a:t>
            </a:r>
            <a:endParaRPr lang="en-US" sz="1400" dirty="0"/>
          </a:p>
        </p:txBody>
      </p:sp>
      <p:sp>
        <p:nvSpPr>
          <p:cNvPr id="12" name="test card 1"/>
          <p:cNvSpPr/>
          <p:nvPr/>
        </p:nvSpPr>
        <p:spPr>
          <a:xfrm>
            <a:off x="548640" y="3429000"/>
            <a:ext cx="3566160" cy="2651760"/>
          </a:xfrm>
          <a:prstGeom prst="roundRect">
            <a:avLst>
              <a:gd name="adj" fmla="val 4138"/>
            </a:avLst>
          </a:prstGeom>
          <a:solidFill>
            <a:srgbClr val="F2F6F5"/>
          </a:solidFill>
          <a:ln w="12700">
            <a:solidFill>
              <a:srgbClr val="F2F6F5"/>
            </a:solidFill>
            <a:prstDash val="solid"/>
          </a:ln>
        </p:spPr>
      </p:sp>
      <p:sp>
        <p:nvSpPr>
          <p:cNvPr id="13" name="test title"/>
          <p:cNvSpPr txBox="1"/>
          <p:nvPr/>
        </p:nvSpPr>
        <p:spPr>
          <a:xfrm>
            <a:off x="777240" y="3520440"/>
            <a:ext cx="3108960" cy="41148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Against the answer key</a:t>
            </a:r>
            <a:endParaRPr lang="en-US" sz="1700" dirty="0"/>
          </a:p>
        </p:txBody>
      </p:sp>
      <p:sp>
        <p:nvSpPr>
          <p:cNvPr id="14" name="test text"/>
          <p:cNvSpPr txBox="1"/>
          <p:nvPr/>
        </p:nvSpPr>
        <p:spPr>
          <a:xfrm>
            <a:off x="777240" y="4023360"/>
            <a:ext cx="3154680" cy="1920240"/>
          </a:xfrm>
          <a:prstGeom prst="rect">
            <a:avLst/>
          </a:prstGeom>
          <a:noFill/>
          <a:ln/>
        </p:spPr>
        <p:txBody>
          <a:bodyPr wrap="square" lIns="0" tIns="0" rIns="0" bIns="0" rtlCol="0" anchor="t"/>
          <a:lstStyle/>
          <a:p>
            <a:pPr indent="0" marL="0">
              <a:buNone/>
            </a:pPr>
            <a:r>
              <a:rPr lang="en-US" sz="1350" dirty="0">
                <a:solidFill>
                  <a:srgbClr val="17292B"/>
                </a:solidFill>
              </a:rPr>
              <a:t>F1 1.00 on the 600 public claims, and on nine labelled example sets in three evidence tiers, each with its file hash and generator recorded</a:t>
            </a:r>
            <a:endParaRPr lang="en-US" sz="1350" dirty="0"/>
          </a:p>
        </p:txBody>
      </p:sp>
      <p:sp>
        <p:nvSpPr>
          <p:cNvPr id="15" name="test card 2"/>
          <p:cNvSpPr/>
          <p:nvPr/>
        </p:nvSpPr>
        <p:spPr>
          <a:xfrm>
            <a:off x="4297680" y="3429000"/>
            <a:ext cx="3566160" cy="2651760"/>
          </a:xfrm>
          <a:prstGeom prst="roundRect">
            <a:avLst>
              <a:gd name="adj" fmla="val 4138"/>
            </a:avLst>
          </a:prstGeom>
          <a:solidFill>
            <a:srgbClr val="F2F6F5"/>
          </a:solidFill>
          <a:ln w="12700">
            <a:solidFill>
              <a:srgbClr val="F2F6F5"/>
            </a:solidFill>
            <a:prstDash val="solid"/>
          </a:ln>
        </p:spPr>
      </p:sp>
      <p:sp>
        <p:nvSpPr>
          <p:cNvPr id="16" name="test title"/>
          <p:cNvSpPr txBox="1"/>
          <p:nvPr/>
        </p:nvSpPr>
        <p:spPr>
          <a:xfrm>
            <a:off x="4526280" y="3520440"/>
            <a:ext cx="3108960" cy="41148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Against attack</a:t>
            </a:r>
            <a:endParaRPr lang="en-US" sz="1700" dirty="0"/>
          </a:p>
        </p:txBody>
      </p:sp>
      <p:sp>
        <p:nvSpPr>
          <p:cNvPr id="17" name="test text"/>
          <p:cNvSpPr txBox="1"/>
          <p:nvPr/>
        </p:nvSpPr>
        <p:spPr>
          <a:xfrm>
            <a:off x="4526280" y="4023360"/>
            <a:ext cx="3154680" cy="1920240"/>
          </a:xfrm>
          <a:prstGeom prst="rect">
            <a:avLst/>
          </a:prstGeom>
          <a:noFill/>
          <a:ln/>
        </p:spPr>
        <p:txBody>
          <a:bodyPr wrap="square" lIns="0" tIns="0" rIns="0" bIns="0" rtlCol="0" anchor="t"/>
          <a:lstStyle/>
          <a:p>
            <a:pPr indent="0" marL="0">
              <a:buNone/>
            </a:pPr>
            <a:r>
              <a:rPr lang="en-US" sz="1350" dirty="0">
                <a:solidFill>
                  <a:srgbClr val="17292B"/>
                </a:solidFill>
              </a:rPr>
              <a:t>116 black-box attack checks, 400,000 fuzzed requests, 93 deliberate breakages of security and queue rules, each caught by a test</a:t>
            </a:r>
            <a:endParaRPr lang="en-US" sz="1350" dirty="0"/>
          </a:p>
        </p:txBody>
      </p:sp>
      <p:sp>
        <p:nvSpPr>
          <p:cNvPr id="18" name="test card 3"/>
          <p:cNvSpPr/>
          <p:nvPr/>
        </p:nvSpPr>
        <p:spPr>
          <a:xfrm>
            <a:off x="8046720" y="3429000"/>
            <a:ext cx="3566160" cy="2651760"/>
          </a:xfrm>
          <a:prstGeom prst="roundRect">
            <a:avLst>
              <a:gd name="adj" fmla="val 4138"/>
            </a:avLst>
          </a:prstGeom>
          <a:solidFill>
            <a:srgbClr val="F2F6F5"/>
          </a:solidFill>
          <a:ln w="12700">
            <a:solidFill>
              <a:srgbClr val="F2F6F5"/>
            </a:solidFill>
            <a:prstDash val="solid"/>
          </a:ln>
        </p:spPr>
      </p:sp>
      <p:sp>
        <p:nvSpPr>
          <p:cNvPr id="19" name="test title"/>
          <p:cNvSpPr txBox="1"/>
          <p:nvPr/>
        </p:nvSpPr>
        <p:spPr>
          <a:xfrm>
            <a:off x="8275320" y="3520440"/>
            <a:ext cx="3108960" cy="41148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In a real browser</a:t>
            </a:r>
            <a:endParaRPr lang="en-US" sz="1700" dirty="0"/>
          </a:p>
        </p:txBody>
      </p:sp>
      <p:sp>
        <p:nvSpPr>
          <p:cNvPr id="20" name="test text"/>
          <p:cNvSpPr txBox="1"/>
          <p:nvPr/>
        </p:nvSpPr>
        <p:spPr>
          <a:xfrm>
            <a:off x="8275320" y="4023360"/>
            <a:ext cx="3154680" cy="1920240"/>
          </a:xfrm>
          <a:prstGeom prst="rect">
            <a:avLst/>
          </a:prstGeom>
          <a:noFill/>
          <a:ln/>
        </p:spPr>
        <p:txBody>
          <a:bodyPr wrap="square" lIns="0" tIns="0" rIns="0" bIns="0" rtlCol="0" anchor="t"/>
          <a:lstStyle/>
          <a:p>
            <a:pPr indent="0" marL="0">
              <a:buNone/>
            </a:pPr>
            <a:r>
              <a:rPr lang="en-US" sz="1350" dirty="0">
                <a:solidFill>
                  <a:srgbClr val="17292B"/>
                </a:solidFill>
              </a:rPr>
              <a:t>Chrome walkthroughs of the correction flow (11 of 11), file import, live updates and the audit alarm</a:t>
            </a:r>
            <a:endParaRPr lang="en-US" sz="13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Claims arrive in any format, untrusted until proven</a:t>
            </a:r>
            <a:endParaRPr lang="en-US" sz="3200" dirty="0"/>
          </a:p>
        </p:txBody>
      </p:sp>
      <p:sp>
        <p:nvSpPr>
          <p:cNvPr id="4" name="format FHIR bundle"/>
          <p:cNvSpPr/>
          <p:nvPr/>
        </p:nvSpPr>
        <p:spPr>
          <a:xfrm>
            <a:off x="548640" y="1463040"/>
            <a:ext cx="4206240" cy="749808"/>
          </a:xfrm>
          <a:prstGeom prst="roundRect">
            <a:avLst>
              <a:gd name="adj" fmla="val 14634"/>
            </a:avLst>
          </a:prstGeom>
          <a:solidFill>
            <a:srgbClr val="F2F6F5"/>
          </a:solidFill>
          <a:ln w="12700">
            <a:solidFill>
              <a:srgbClr val="F2F6F5"/>
            </a:solidFill>
            <a:prstDash val="solid"/>
          </a:ln>
        </p:spPr>
      </p:sp>
      <p:sp>
        <p:nvSpPr>
          <p:cNvPr id="5" name="format text"/>
          <p:cNvSpPr txBox="1"/>
          <p:nvPr/>
        </p:nvSpPr>
        <p:spPr>
          <a:xfrm>
            <a:off x="731520" y="146304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FHIR bundle</a:t>
            </a:r>
            <a:endParaRPr lang="en-US" sz="1600" dirty="0"/>
          </a:p>
          <a:p>
            <a:pPr indent="0" marL="0">
              <a:buNone/>
            </a:pPr>
            <a:r>
              <a:rPr lang="en-US" sz="1200" dirty="0">
                <a:solidFill>
                  <a:srgbClr val="5C7173"/>
                </a:solidFill>
              </a:rPr>
              <a:t>authorization record not carried, so those rules abstain</a:t>
            </a:r>
            <a:endParaRPr lang="en-US" sz="1600" dirty="0"/>
          </a:p>
        </p:txBody>
      </p:sp>
      <p:sp>
        <p:nvSpPr>
          <p:cNvPr id="6" name="format CSV tables"/>
          <p:cNvSpPr/>
          <p:nvPr/>
        </p:nvSpPr>
        <p:spPr>
          <a:xfrm>
            <a:off x="548640" y="2331720"/>
            <a:ext cx="4206240" cy="749808"/>
          </a:xfrm>
          <a:prstGeom prst="roundRect">
            <a:avLst>
              <a:gd name="adj" fmla="val 14634"/>
            </a:avLst>
          </a:prstGeom>
          <a:solidFill>
            <a:srgbClr val="F2F6F5"/>
          </a:solidFill>
          <a:ln w="12700">
            <a:solidFill>
              <a:srgbClr val="F2F6F5"/>
            </a:solidFill>
            <a:prstDash val="solid"/>
          </a:ln>
        </p:spPr>
      </p:sp>
      <p:sp>
        <p:nvSpPr>
          <p:cNvPr id="7" name="format text"/>
          <p:cNvSpPr txBox="1"/>
          <p:nvPr/>
        </p:nvSpPr>
        <p:spPr>
          <a:xfrm>
            <a:off x="731520" y="233172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CSV tables</a:t>
            </a:r>
            <a:endParaRPr lang="en-US" sz="1600" dirty="0"/>
          </a:p>
          <a:p>
            <a:pPr indent="0" marL="0">
              <a:buNone/>
            </a:pPr>
            <a:r>
              <a:rPr lang="en-US" sz="1200" dirty="0">
                <a:solidFill>
                  <a:srgbClr val="5C7173"/>
                </a:solidFill>
              </a:rPr>
              <a:t>same claims as the JSONL</a:t>
            </a:r>
            <a:endParaRPr lang="en-US" sz="1600" dirty="0"/>
          </a:p>
        </p:txBody>
      </p:sp>
      <p:sp>
        <p:nvSpPr>
          <p:cNvPr id="8" name="format JSONL"/>
          <p:cNvSpPr/>
          <p:nvPr/>
        </p:nvSpPr>
        <p:spPr>
          <a:xfrm>
            <a:off x="548640" y="3200400"/>
            <a:ext cx="4206240" cy="749808"/>
          </a:xfrm>
          <a:prstGeom prst="roundRect">
            <a:avLst>
              <a:gd name="adj" fmla="val 14634"/>
            </a:avLst>
          </a:prstGeom>
          <a:solidFill>
            <a:srgbClr val="F2F6F5"/>
          </a:solidFill>
          <a:ln w="12700">
            <a:solidFill>
              <a:srgbClr val="F2F6F5"/>
            </a:solidFill>
            <a:prstDash val="solid"/>
          </a:ln>
        </p:spPr>
      </p:sp>
      <p:sp>
        <p:nvSpPr>
          <p:cNvPr id="9" name="format text"/>
          <p:cNvSpPr txBox="1"/>
          <p:nvPr/>
        </p:nvSpPr>
        <p:spPr>
          <a:xfrm>
            <a:off x="731520" y="320040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JSONL</a:t>
            </a:r>
            <a:endParaRPr lang="en-US" sz="1600" dirty="0"/>
          </a:p>
          <a:p>
            <a:pPr indent="0" marL="0">
              <a:buNone/>
            </a:pPr>
            <a:r>
              <a:rPr lang="en-US" sz="1200" dirty="0">
                <a:solidFill>
                  <a:srgbClr val="5C7173"/>
                </a:solidFill>
              </a:rPr>
              <a:t>reference format</a:t>
            </a:r>
            <a:endParaRPr lang="en-US" sz="1600" dirty="0"/>
          </a:p>
        </p:txBody>
      </p:sp>
      <p:sp>
        <p:nvSpPr>
          <p:cNvPr id="10" name="format PDF or photo"/>
          <p:cNvSpPr/>
          <p:nvPr/>
        </p:nvSpPr>
        <p:spPr>
          <a:xfrm>
            <a:off x="548640" y="4069080"/>
            <a:ext cx="4206240" cy="749808"/>
          </a:xfrm>
          <a:prstGeom prst="roundRect">
            <a:avLst>
              <a:gd name="adj" fmla="val 14634"/>
            </a:avLst>
          </a:prstGeom>
          <a:solidFill>
            <a:srgbClr val="F2F6F5"/>
          </a:solidFill>
          <a:ln w="12700">
            <a:solidFill>
              <a:srgbClr val="F2F6F5"/>
            </a:solidFill>
            <a:prstDash val="solid"/>
          </a:ln>
        </p:spPr>
      </p:sp>
      <p:sp>
        <p:nvSpPr>
          <p:cNvPr id="11" name="format text"/>
          <p:cNvSpPr txBox="1"/>
          <p:nvPr/>
        </p:nvSpPr>
        <p:spPr>
          <a:xfrm>
            <a:off x="731520" y="406908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PDF or photo</a:t>
            </a:r>
            <a:endParaRPr lang="en-US" sz="1600" dirty="0"/>
          </a:p>
          <a:p>
            <a:pPr indent="0" marL="0">
              <a:buNone/>
            </a:pPr>
            <a:r>
              <a:rPr lang="en-US" sz="1200" dirty="0">
                <a:solidFill>
                  <a:srgbClr val="5C7173"/>
                </a:solidFill>
              </a:rPr>
              <a:t>two readers, results shown as a draft</a:t>
            </a:r>
            <a:endParaRPr lang="en-US" sz="1600" dirty="0"/>
          </a:p>
        </p:txBody>
      </p:sp>
      <p:sp>
        <p:nvSpPr>
          <p:cNvPr id="12" name="stat"/>
          <p:cNvSpPr txBox="1"/>
          <p:nvPr/>
        </p:nvSpPr>
        <p:spPr>
          <a:xfrm>
            <a:off x="5212080" y="1417320"/>
            <a:ext cx="292608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600</a:t>
            </a:r>
            <a:endParaRPr lang="en-US" sz="4000" dirty="0"/>
          </a:p>
        </p:txBody>
      </p:sp>
      <p:sp>
        <p:nvSpPr>
          <p:cNvPr id="13" name="stat label"/>
          <p:cNvSpPr txBox="1"/>
          <p:nvPr/>
        </p:nvSpPr>
        <p:spPr>
          <a:xfrm>
            <a:off x="5212080" y="2286000"/>
            <a:ext cx="2926080" cy="822960"/>
          </a:xfrm>
          <a:prstGeom prst="rect">
            <a:avLst/>
          </a:prstGeom>
          <a:noFill/>
          <a:ln/>
        </p:spPr>
        <p:txBody>
          <a:bodyPr wrap="square" lIns="0" tIns="0" rIns="0" bIns="0" rtlCol="0" anchor="t"/>
          <a:lstStyle/>
          <a:p>
            <a:pPr indent="0" marL="0">
              <a:buNone/>
            </a:pPr>
            <a:r>
              <a:rPr lang="en-US" sz="1400" dirty="0">
                <a:solidFill>
                  <a:srgbClr val="5C7173"/>
                </a:solidFill>
              </a:rPr>
              <a:t>public claims give identical claims and reports in all three formats</a:t>
            </a:r>
            <a:endParaRPr lang="en-US" sz="1400" dirty="0"/>
          </a:p>
        </p:txBody>
      </p:sp>
      <p:sp>
        <p:nvSpPr>
          <p:cNvPr id="14" name="stat"/>
          <p:cNvSpPr txBox="1"/>
          <p:nvPr/>
        </p:nvSpPr>
        <p:spPr>
          <a:xfrm>
            <a:off x="8412480" y="1417320"/>
            <a:ext cx="310896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12,000</a:t>
            </a:r>
            <a:endParaRPr lang="en-US" sz="4000" dirty="0"/>
          </a:p>
        </p:txBody>
      </p:sp>
      <p:sp>
        <p:nvSpPr>
          <p:cNvPr id="15" name="stat label"/>
          <p:cNvSpPr txBox="1"/>
          <p:nvPr/>
        </p:nvSpPr>
        <p:spPr>
          <a:xfrm>
            <a:off x="8412480" y="2286000"/>
            <a:ext cx="3108960" cy="822960"/>
          </a:xfrm>
          <a:prstGeom prst="rect">
            <a:avLst/>
          </a:prstGeom>
          <a:noFill/>
          <a:ln/>
        </p:spPr>
        <p:txBody>
          <a:bodyPr wrap="square" lIns="0" tIns="0" rIns="0" bIns="0" rtlCol="0" anchor="t"/>
          <a:lstStyle/>
          <a:p>
            <a:pPr indent="0" marL="0">
              <a:buNone/>
            </a:pPr>
            <a:r>
              <a:rPr lang="en-US" sz="1400" dirty="0">
                <a:solidFill>
                  <a:srgbClr val="5C7173"/>
                </a:solidFill>
              </a:rPr>
              <a:t>randomly damaged FHIR bundles reach the same accept or quarantine verdict as the reference</a:t>
            </a:r>
            <a:endParaRPr lang="en-US" sz="1400" dirty="0"/>
          </a:p>
        </p:txBody>
      </p:sp>
      <p:sp>
        <p:nvSpPr>
          <p:cNvPr id="16" name="docs card"/>
          <p:cNvSpPr/>
          <p:nvPr/>
        </p:nvSpPr>
        <p:spPr>
          <a:xfrm>
            <a:off x="5212080" y="3429000"/>
            <a:ext cx="6309360" cy="2651760"/>
          </a:xfrm>
          <a:prstGeom prst="roundRect">
            <a:avLst>
              <a:gd name="adj" fmla="val 4138"/>
            </a:avLst>
          </a:prstGeom>
          <a:solidFill>
            <a:srgbClr val="F2F6F5"/>
          </a:solidFill>
          <a:ln w="12700">
            <a:solidFill>
              <a:srgbClr val="F2F6F5"/>
            </a:solidFill>
            <a:prstDash val="solid"/>
          </a:ln>
        </p:spPr>
      </p:sp>
      <p:sp>
        <p:nvSpPr>
          <p:cNvPr id="17" name="h"/>
          <p:cNvSpPr txBox="1"/>
          <p:nvPr/>
        </p:nvSpPr>
        <p:spPr>
          <a:xfrm>
            <a:off x="5440680" y="3520440"/>
            <a:ext cx="58521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Documents: PDF and photos</a:t>
            </a:r>
            <a:endParaRPr lang="en-US" sz="1800" dirty="0"/>
          </a:p>
        </p:txBody>
      </p:sp>
      <p:sp>
        <p:nvSpPr>
          <p:cNvPr id="18" name="bullets"/>
          <p:cNvSpPr txBox="1"/>
          <p:nvPr/>
        </p:nvSpPr>
        <p:spPr>
          <a:xfrm>
            <a:off x="5440680" y="3977640"/>
            <a:ext cx="58521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Reader in an isolated container, polyglot file gate, hidden-Unicode flag</a:t>
            </a:r>
            <a:endParaRPr lang="en-US" sz="1500" dirty="0"/>
          </a:p>
          <a:p>
            <a:pPr marL="203200" indent="-203200">
              <a:spcAft>
                <a:spcPts val="600"/>
              </a:spcAft>
              <a:buSzPct val="100000"/>
              <a:buChar char="•"/>
            </a:pPr>
            <a:r>
              <a:rPr lang="en-US" sz="1500" dirty="0">
                <a:solidFill>
                  <a:srgbClr val="17292B"/>
                </a:solidFill>
              </a:rPr>
              <a:t>240 synthetic documents: 97.4% of fields right, 1 silent error</a:t>
            </a:r>
            <a:endParaRPr lang="en-US" sz="1500" dirty="0"/>
          </a:p>
          <a:p>
            <a:pPr marL="203200" indent="-203200">
              <a:spcAft>
                <a:spcPts val="600"/>
              </a:spcAft>
              <a:buSzPct val="100000"/>
              <a:buChar char="•"/>
            </a:pPr>
            <a:r>
              <a:rPr lang="en-US" sz="1500" dirty="0">
                <a:solidFill>
                  <a:srgbClr val="17292B"/>
                </a:solidFill>
              </a:rPr>
              <a:t>A reading is only a draft: the clerk compares every field with the page</a:t>
            </a:r>
            <a:endParaRPr lang="en-US" sz="1500" dirty="0"/>
          </a:p>
          <a:p>
            <a:pPr marL="203200" indent="-203200">
              <a:spcAft>
                <a:spcPts val="600"/>
              </a:spcAft>
              <a:buSzPct val="100000"/>
              <a:buChar char="•"/>
            </a:pPr>
            <a:r>
              <a:rPr lang="en-US" sz="1500" dirty="0">
                <a:solidFill>
                  <a:srgbClr val="17292B"/>
                </a:solidFill>
              </a:rPr>
              <a:t>Real paper, handwriting and Arabic are not tested yet</a:t>
            </a:r>
            <a:endParaRPr lang="en-US" sz="1500" dirty="0"/>
          </a:p>
        </p:txBody>
      </p:sp>
      <p:sp>
        <p:nvSpPr>
          <p:cNvPr id="19"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 damaged record is quarantined with a reason and never stops the run.</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Reading documents: PDFs and photos</a:t>
            </a:r>
            <a:endParaRPr lang="en-US" sz="3200" dirty="0"/>
          </a:p>
        </p:txBody>
      </p:sp>
      <p:sp>
        <p:nvSpPr>
          <p:cNvPr id="4" name="ocr step 1"/>
          <p:cNvSpPr/>
          <p:nvPr/>
        </p:nvSpPr>
        <p:spPr>
          <a:xfrm>
            <a:off x="548640" y="1371600"/>
            <a:ext cx="5212080" cy="777240"/>
          </a:xfrm>
          <a:prstGeom prst="roundRect">
            <a:avLst>
              <a:gd name="adj" fmla="val 14118"/>
            </a:avLst>
          </a:prstGeom>
          <a:solidFill>
            <a:srgbClr val="F2F6F5"/>
          </a:solidFill>
          <a:ln w="12700">
            <a:solidFill>
              <a:srgbClr val="F2F6F5"/>
            </a:solidFill>
            <a:prstDash val="solid"/>
          </a:ln>
        </p:spPr>
      </p:sp>
      <p:sp>
        <p:nvSpPr>
          <p:cNvPr id="5" name="badge"/>
          <p:cNvSpPr/>
          <p:nvPr/>
        </p:nvSpPr>
        <p:spPr>
          <a:xfrm>
            <a:off x="713232" y="1572768"/>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13232"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ocr text"/>
          <p:cNvSpPr txBox="1"/>
          <p:nvPr/>
        </p:nvSpPr>
        <p:spPr>
          <a:xfrm>
            <a:off x="1234440" y="1371600"/>
            <a:ext cx="4434840" cy="777240"/>
          </a:xfrm>
          <a:prstGeom prst="rect">
            <a:avLst/>
          </a:prstGeom>
          <a:noFill/>
          <a:ln/>
        </p:spPr>
        <p:txBody>
          <a:bodyPr wrap="square" lIns="0" tIns="0" rIns="0" bIns="0" rtlCol="0" anchor="ctr"/>
          <a:lstStyle/>
          <a:p>
            <a:pPr indent="0" marL="0">
              <a:buNone/>
            </a:pPr>
            <a:r>
              <a:rPr lang="en-US" sz="1400" b="1" dirty="0">
                <a:solidFill>
                  <a:srgbClr val="0E3B3F"/>
                </a:solidFill>
              </a:rPr>
              <a:t>Gate</a:t>
            </a:r>
            <a:endParaRPr lang="en-US" sz="1400" dirty="0"/>
          </a:p>
          <a:p>
            <a:pPr indent="0" marL="0">
              <a:buNone/>
            </a:pPr>
            <a:r>
              <a:rPr lang="en-US" sz="1200" dirty="0">
                <a:solidFill>
                  <a:srgbClr val="17292B"/>
                </a:solidFill>
              </a:rPr>
              <a:t>size, real type from the first bytes, no hidden second format</a:t>
            </a:r>
            <a:endParaRPr lang="en-US" sz="1400" dirty="0"/>
          </a:p>
        </p:txBody>
      </p:sp>
      <p:sp>
        <p:nvSpPr>
          <p:cNvPr id="8" name="ocr step 2"/>
          <p:cNvSpPr/>
          <p:nvPr/>
        </p:nvSpPr>
        <p:spPr>
          <a:xfrm>
            <a:off x="548640" y="2240280"/>
            <a:ext cx="5212080" cy="777240"/>
          </a:xfrm>
          <a:prstGeom prst="roundRect">
            <a:avLst>
              <a:gd name="adj" fmla="val 14118"/>
            </a:avLst>
          </a:prstGeom>
          <a:solidFill>
            <a:srgbClr val="F2F6F5"/>
          </a:solidFill>
          <a:ln w="12700">
            <a:solidFill>
              <a:srgbClr val="F2F6F5"/>
            </a:solidFill>
            <a:prstDash val="solid"/>
          </a:ln>
        </p:spPr>
      </p:sp>
      <p:sp>
        <p:nvSpPr>
          <p:cNvPr id="9" name="badge"/>
          <p:cNvSpPr/>
          <p:nvPr/>
        </p:nvSpPr>
        <p:spPr>
          <a:xfrm>
            <a:off x="713232" y="2441448"/>
            <a:ext cx="384048" cy="384048"/>
          </a:xfrm>
          <a:prstGeom prst="ellipse">
            <a:avLst/>
          </a:prstGeom>
          <a:solidFill>
            <a:srgbClr val="14746F"/>
          </a:solidFill>
          <a:ln w="12700">
            <a:solidFill>
              <a:srgbClr val="14746F"/>
            </a:solidFill>
            <a:prstDash val="solid"/>
          </a:ln>
        </p:spPr>
      </p:sp>
      <p:sp>
        <p:nvSpPr>
          <p:cNvPr id="10" name="badge text"/>
          <p:cNvSpPr txBox="1"/>
          <p:nvPr/>
        </p:nvSpPr>
        <p:spPr>
          <a:xfrm>
            <a:off x="713232" y="2441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ocr text"/>
          <p:cNvSpPr txBox="1"/>
          <p:nvPr/>
        </p:nvSpPr>
        <p:spPr>
          <a:xfrm>
            <a:off x="1234440" y="2240280"/>
            <a:ext cx="4434840" cy="777240"/>
          </a:xfrm>
          <a:prstGeom prst="rect">
            <a:avLst/>
          </a:prstGeom>
          <a:noFill/>
          <a:ln/>
        </p:spPr>
        <p:txBody>
          <a:bodyPr wrap="square" lIns="0" tIns="0" rIns="0" bIns="0" rtlCol="0" anchor="ctr"/>
          <a:lstStyle/>
          <a:p>
            <a:pPr indent="0" marL="0">
              <a:buNone/>
            </a:pPr>
            <a:r>
              <a:rPr lang="en-US" sz="1400" b="1" dirty="0">
                <a:solidFill>
                  <a:srgbClr val="0E3B3F"/>
                </a:solidFill>
              </a:rPr>
              <a:t>Reader</a:t>
            </a:r>
            <a:endParaRPr lang="en-US" sz="1400" dirty="0"/>
          </a:p>
          <a:p>
            <a:pPr indent="0" marL="0">
              <a:buNone/>
            </a:pPr>
            <a:r>
              <a:rPr lang="en-US" sz="1200" dirty="0">
                <a:solidFill>
                  <a:srgbClr val="17292B"/>
                </a:solidFill>
              </a:rPr>
              <a:t>own container, no network. Text layer first, else Tesseract plus a vision model</a:t>
            </a:r>
            <a:endParaRPr lang="en-US" sz="1400" dirty="0"/>
          </a:p>
        </p:txBody>
      </p:sp>
      <p:sp>
        <p:nvSpPr>
          <p:cNvPr id="12" name="ocr step 3"/>
          <p:cNvSpPr/>
          <p:nvPr/>
        </p:nvSpPr>
        <p:spPr>
          <a:xfrm>
            <a:off x="548640" y="3108960"/>
            <a:ext cx="5212080" cy="777240"/>
          </a:xfrm>
          <a:prstGeom prst="roundRect">
            <a:avLst>
              <a:gd name="adj" fmla="val 14118"/>
            </a:avLst>
          </a:prstGeom>
          <a:solidFill>
            <a:srgbClr val="F2F6F5"/>
          </a:solidFill>
          <a:ln w="12700">
            <a:solidFill>
              <a:srgbClr val="F2F6F5"/>
            </a:solidFill>
            <a:prstDash val="solid"/>
          </a:ln>
        </p:spPr>
      </p:sp>
      <p:sp>
        <p:nvSpPr>
          <p:cNvPr id="13" name="badge"/>
          <p:cNvSpPr/>
          <p:nvPr/>
        </p:nvSpPr>
        <p:spPr>
          <a:xfrm>
            <a:off x="713232" y="3310128"/>
            <a:ext cx="384048" cy="384048"/>
          </a:xfrm>
          <a:prstGeom prst="ellipse">
            <a:avLst/>
          </a:prstGeom>
          <a:solidFill>
            <a:srgbClr val="14746F"/>
          </a:solidFill>
          <a:ln w="12700">
            <a:solidFill>
              <a:srgbClr val="14746F"/>
            </a:solidFill>
            <a:prstDash val="solid"/>
          </a:ln>
        </p:spPr>
      </p:sp>
      <p:sp>
        <p:nvSpPr>
          <p:cNvPr id="14" name="badge text"/>
          <p:cNvSpPr txBox="1"/>
          <p:nvPr/>
        </p:nvSpPr>
        <p:spPr>
          <a:xfrm>
            <a:off x="713232"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ocr text"/>
          <p:cNvSpPr txBox="1"/>
          <p:nvPr/>
        </p:nvSpPr>
        <p:spPr>
          <a:xfrm>
            <a:off x="1234440" y="3108960"/>
            <a:ext cx="4434840" cy="777240"/>
          </a:xfrm>
          <a:prstGeom prst="rect">
            <a:avLst/>
          </a:prstGeom>
          <a:noFill/>
          <a:ln/>
        </p:spPr>
        <p:txBody>
          <a:bodyPr wrap="square" lIns="0" tIns="0" rIns="0" bIns="0" rtlCol="0" anchor="ctr"/>
          <a:lstStyle/>
          <a:p>
            <a:pPr indent="0" marL="0">
              <a:buNone/>
            </a:pPr>
            <a:r>
              <a:rPr lang="en-US" sz="1400" b="1" dirty="0">
                <a:solidFill>
                  <a:srgbClr val="0E3B3F"/>
                </a:solidFill>
              </a:rPr>
              <a:t>Extraction</a:t>
            </a:r>
            <a:endParaRPr lang="en-US" sz="1400" dirty="0"/>
          </a:p>
          <a:p>
            <a:pPr indent="0" marL="0">
              <a:buNone/>
            </a:pPr>
            <a:r>
              <a:rPr lang="en-US" sz="1200" dirty="0">
                <a:solidFill>
                  <a:srgbClr val="17292B"/>
                </a:solidFill>
              </a:rPr>
              <a:t>labelled fields, tables, dates read only if unambiguous, a check against the catalogue</a:t>
            </a:r>
            <a:endParaRPr lang="en-US" sz="1400" dirty="0"/>
          </a:p>
        </p:txBody>
      </p:sp>
      <p:sp>
        <p:nvSpPr>
          <p:cNvPr id="16" name="ocr step 4"/>
          <p:cNvSpPr/>
          <p:nvPr/>
        </p:nvSpPr>
        <p:spPr>
          <a:xfrm>
            <a:off x="548640" y="3977640"/>
            <a:ext cx="5212080" cy="777240"/>
          </a:xfrm>
          <a:prstGeom prst="roundRect">
            <a:avLst>
              <a:gd name="adj" fmla="val 14118"/>
            </a:avLst>
          </a:prstGeom>
          <a:solidFill>
            <a:srgbClr val="F2F6F5"/>
          </a:solidFill>
          <a:ln w="12700">
            <a:solidFill>
              <a:srgbClr val="F2F6F5"/>
            </a:solidFill>
            <a:prstDash val="solid"/>
          </a:ln>
        </p:spPr>
      </p:sp>
      <p:sp>
        <p:nvSpPr>
          <p:cNvPr id="17" name="badge"/>
          <p:cNvSpPr/>
          <p:nvPr/>
        </p:nvSpPr>
        <p:spPr>
          <a:xfrm>
            <a:off x="713232" y="4178808"/>
            <a:ext cx="384048" cy="384048"/>
          </a:xfrm>
          <a:prstGeom prst="ellipse">
            <a:avLst/>
          </a:prstGeom>
          <a:solidFill>
            <a:srgbClr val="14746F"/>
          </a:solidFill>
          <a:ln w="12700">
            <a:solidFill>
              <a:srgbClr val="14746F"/>
            </a:solidFill>
            <a:prstDash val="solid"/>
          </a:ln>
        </p:spPr>
      </p:sp>
      <p:sp>
        <p:nvSpPr>
          <p:cNvPr id="18" name="badge text"/>
          <p:cNvSpPr txBox="1"/>
          <p:nvPr/>
        </p:nvSpPr>
        <p:spPr>
          <a:xfrm>
            <a:off x="713232"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ocr text"/>
          <p:cNvSpPr txBox="1"/>
          <p:nvPr/>
        </p:nvSpPr>
        <p:spPr>
          <a:xfrm>
            <a:off x="1234440" y="3977640"/>
            <a:ext cx="4434840" cy="777240"/>
          </a:xfrm>
          <a:prstGeom prst="rect">
            <a:avLst/>
          </a:prstGeom>
          <a:noFill/>
          <a:ln/>
        </p:spPr>
        <p:txBody>
          <a:bodyPr wrap="square" lIns="0" tIns="0" rIns="0" bIns="0" rtlCol="0" anchor="ctr"/>
          <a:lstStyle/>
          <a:p>
            <a:pPr indent="0" marL="0">
              <a:buNone/>
            </a:pPr>
            <a:r>
              <a:rPr lang="en-US" sz="1400" b="1" dirty="0">
                <a:solidFill>
                  <a:srgbClr val="0E3B3F"/>
                </a:solidFill>
              </a:rPr>
              <a:t>Draft</a:t>
            </a:r>
            <a:endParaRPr lang="en-US" sz="1400" dirty="0"/>
          </a:p>
          <a:p>
            <a:pPr indent="0" marL="0">
              <a:buNone/>
            </a:pPr>
            <a:r>
              <a:rPr lang="en-US" sz="1200" dirty="0">
                <a:solidFill>
                  <a:srgbClr val="17292B"/>
                </a:solidFill>
              </a:rPr>
              <a:t>page beside editable fields. A person ticks that every field was compared</a:t>
            </a:r>
            <a:endParaRPr lang="en-US" sz="14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6035040" y="1371600"/>
          <a:ext cx="5577840" cy="914400"/>
        </p:xfrm>
        <a:graphic>
          <a:graphicData uri="http://schemas.openxmlformats.org/drawingml/2006/table">
            <a:tbl>
              <a:tblPr/>
              <a:tblGrid>
                <a:gridCol w="3200400"/>
                <a:gridCol w="1280160"/>
                <a:gridCol w="1097280"/>
              </a:tblGrid>
              <a:tr h="457200">
                <a:tc>
                  <a:txBody>
                    <a:bodyPr/>
                    <a:lstStyle/>
                    <a:p>
                      <a:pPr indent="0" marL="0">
                        <a:buNone/>
                      </a:pPr>
                      <a:r>
                        <a:rPr lang="en-US" sz="1250" b="1" dirty="0">
                          <a:solidFill>
                            <a:srgbClr val="FFFFFF"/>
                          </a:solidFill>
                        </a:rPr>
                        <a:t>Reader (240 documents)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Fields right</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Silent errors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250" dirty="0">
                          <a:solidFill>
                            <a:srgbClr val="17292B"/>
                          </a:solidFill>
                        </a:rPr>
                        <a:t>PDF text layer</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100%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7292B"/>
                          </a:solidFill>
                        </a:rPr>
                        <a:t>Tesseract alone</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94.6%</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41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250" dirty="0">
                          <a:solidFill>
                            <a:srgbClr val="17292B"/>
                          </a:solidFill>
                        </a:rPr>
                        <a:t>Two readers, cross-checked</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96.8%</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3</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7292B"/>
                          </a:solidFill>
                        </a:rPr>
                        <a:t>Two readers, small pages upscaled (default)</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b="1" dirty="0">
                          <a:solidFill>
                            <a:srgbClr val="14746F"/>
                          </a:solidFill>
                        </a:rPr>
                        <a:t>97.4%</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b="1" dirty="0">
                          <a:solidFill>
                            <a:srgbClr val="14746F"/>
                          </a:solidFill>
                        </a:rPr>
                        <a:t>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21" name="bullets"/>
          <p:cNvSpPr txBox="1"/>
          <p:nvPr/>
        </p:nvSpPr>
        <p:spPr>
          <a:xfrm>
            <a:off x="6035040" y="3703320"/>
            <a:ext cx="5577840" cy="201168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By condition: scan 98.9%, image-only PDF 98.7%, phone-style photo 88.1%</a:t>
            </a:r>
            <a:endParaRPr lang="en-US" sz="1300" dirty="0"/>
          </a:p>
          <a:p>
            <a:pPr marL="203200" indent="-203200">
              <a:spcAft>
                <a:spcPts val="600"/>
              </a:spcAft>
              <a:buSzPct val="100000"/>
              <a:buChar char="•"/>
            </a:pPr>
            <a:r>
              <a:rPr lang="en-US" sz="1300" dirty="0">
                <a:solidFill>
                  <a:srgbClr val="17292B"/>
                </a:solidFill>
              </a:rPr>
              <a:t>The vision model is baidu/Unlimited-OCR (3.3B parameters, 0.5B active, MIT licence), run locally as a second, independent reader</a:t>
            </a:r>
            <a:endParaRPr lang="en-US" sz="1300" dirty="0"/>
          </a:p>
          <a:p>
            <a:pPr marL="203200" indent="-203200">
              <a:spcAft>
                <a:spcPts val="600"/>
              </a:spcAft>
              <a:buSzPct val="100000"/>
              <a:buChar char="•"/>
            </a:pPr>
            <a:r>
              <a:rPr lang="en-US" sz="1300" dirty="0">
                <a:solidFill>
                  <a:srgbClr val="17292B"/>
                </a:solidFill>
              </a:rPr>
              <a:t>A silent error is a wrong field that nothing flagged. The evaluation found and fixed two bugs</a:t>
            </a:r>
            <a:endParaRPr lang="en-US" sz="1300" dirty="0"/>
          </a:p>
        </p:txBody>
      </p:sp>
      <p:sp>
        <p:nvSpPr>
          <p:cNvPr id="22" name="footnote"/>
          <p:cNvSpPr txBox="1"/>
          <p:nvPr/>
        </p:nvSpPr>
        <p:spPr>
          <a:xfrm>
            <a:off x="6035040" y="5760720"/>
            <a:ext cx="5577840" cy="365760"/>
          </a:xfrm>
          <a:prstGeom prst="rect">
            <a:avLst/>
          </a:prstGeom>
          <a:noFill/>
          <a:ln/>
        </p:spPr>
        <p:txBody>
          <a:bodyPr wrap="square" lIns="0" tIns="0" rIns="0" bIns="0" rtlCol="0" anchor="ctr"/>
          <a:lstStyle/>
          <a:p>
            <a:pPr indent="0" marL="0">
              <a:buNone/>
            </a:pPr>
            <a:r>
              <a:rPr lang="en-US" sz="1100" i="1" dirty="0">
                <a:solidFill>
                  <a:srgbClr val="5C7173"/>
                </a:solidFill>
              </a:rPr>
              <a:t>Not tested: real hospital paper, handwriting, stamps and Arabic. A reading is only a draft; it never becomes a claim on its own.</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Task queue 1: how a claim moves</a:t>
            </a:r>
            <a:endParaRPr lang="en-US" sz="3200" dirty="0"/>
          </a:p>
        </p:txBody>
      </p:sp>
      <p:sp>
        <p:nvSpPr>
          <p:cNvPr id="4" name="box Received"/>
          <p:cNvSpPr/>
          <p:nvPr/>
        </p:nvSpPr>
        <p:spPr>
          <a:xfrm>
            <a:off x="548640" y="1463040"/>
            <a:ext cx="1417320" cy="777240"/>
          </a:xfrm>
          <a:prstGeom prst="roundRect">
            <a:avLst>
              <a:gd name="adj" fmla="val 11765"/>
            </a:avLst>
          </a:prstGeom>
          <a:solidFill>
            <a:srgbClr val="14746F"/>
          </a:solidFill>
          <a:ln w="12700">
            <a:solidFill>
              <a:srgbClr val="14746F"/>
            </a:solidFill>
            <a:prstDash val="solid"/>
          </a:ln>
        </p:spPr>
      </p:sp>
      <p:sp>
        <p:nvSpPr>
          <p:cNvPr id="5" name="box text Received"/>
          <p:cNvSpPr txBox="1"/>
          <p:nvPr/>
        </p:nvSpPr>
        <p:spPr>
          <a:xfrm>
            <a:off x="6217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Received</a:t>
            </a:r>
            <a:endParaRPr lang="en-US" sz="1400" dirty="0"/>
          </a:p>
          <a:p>
            <a:pPr algn="ctr" indent="0" marL="0">
              <a:buNone/>
            </a:pPr>
            <a:r>
              <a:rPr lang="en-US" sz="1100" dirty="0">
                <a:solidFill>
                  <a:srgbClr val="DDEEEB"/>
                </a:solidFill>
              </a:rPr>
              <a:t>validated</a:t>
            </a:r>
            <a:endParaRPr lang="en-US" sz="1400" dirty="0"/>
          </a:p>
        </p:txBody>
      </p:sp>
      <p:sp>
        <p:nvSpPr>
          <p:cNvPr id="6" name="arrow"/>
          <p:cNvSpPr/>
          <p:nvPr/>
        </p:nvSpPr>
        <p:spPr>
          <a:xfrm>
            <a:off x="1984248" y="1847088"/>
            <a:ext cx="146304" cy="0"/>
          </a:xfrm>
          <a:prstGeom prst="line">
            <a:avLst/>
          </a:prstGeom>
          <a:noFill/>
          <a:ln w="22225">
            <a:solidFill>
              <a:srgbClr val="5C7173"/>
            </a:solidFill>
            <a:prstDash val="solid"/>
            <a:tailEnd type="triangle"/>
          </a:ln>
        </p:spPr>
      </p:sp>
      <p:sp>
        <p:nvSpPr>
          <p:cNvPr id="7" name="box Triaged"/>
          <p:cNvSpPr/>
          <p:nvPr/>
        </p:nvSpPr>
        <p:spPr>
          <a:xfrm>
            <a:off x="2148840" y="1463040"/>
            <a:ext cx="1417320" cy="777240"/>
          </a:xfrm>
          <a:prstGeom prst="roundRect">
            <a:avLst>
              <a:gd name="adj" fmla="val 11765"/>
            </a:avLst>
          </a:prstGeom>
          <a:solidFill>
            <a:srgbClr val="0E3B3F"/>
          </a:solidFill>
          <a:ln w="12700">
            <a:solidFill>
              <a:srgbClr val="0E3B3F"/>
            </a:solidFill>
            <a:prstDash val="solid"/>
          </a:ln>
        </p:spPr>
      </p:sp>
      <p:sp>
        <p:nvSpPr>
          <p:cNvPr id="8" name="box text Triaged"/>
          <p:cNvSpPr txBox="1"/>
          <p:nvPr/>
        </p:nvSpPr>
        <p:spPr>
          <a:xfrm>
            <a:off x="22219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Triaged</a:t>
            </a:r>
            <a:endParaRPr lang="en-US" sz="1400" dirty="0"/>
          </a:p>
          <a:p>
            <a:pPr algn="ctr" indent="0" marL="0">
              <a:buNone/>
            </a:pPr>
            <a:r>
              <a:rPr lang="en-US" sz="1100" dirty="0">
                <a:solidFill>
                  <a:srgbClr val="DDEEEB"/>
                </a:solidFill>
              </a:rPr>
              <a:t>receipt, lane</a:t>
            </a:r>
            <a:endParaRPr lang="en-US" sz="1400" dirty="0"/>
          </a:p>
        </p:txBody>
      </p:sp>
      <p:sp>
        <p:nvSpPr>
          <p:cNvPr id="9" name="arrow"/>
          <p:cNvSpPr/>
          <p:nvPr/>
        </p:nvSpPr>
        <p:spPr>
          <a:xfrm>
            <a:off x="3584448" y="1847088"/>
            <a:ext cx="146304" cy="0"/>
          </a:xfrm>
          <a:prstGeom prst="line">
            <a:avLst/>
          </a:prstGeom>
          <a:noFill/>
          <a:ln w="22225">
            <a:solidFill>
              <a:srgbClr val="5C7173"/>
            </a:solidFill>
            <a:prstDash val="solid"/>
            <a:tailEnd type="triangle"/>
          </a:ln>
        </p:spPr>
      </p:sp>
      <p:sp>
        <p:nvSpPr>
          <p:cNvPr id="10" name="box Explained"/>
          <p:cNvSpPr/>
          <p:nvPr/>
        </p:nvSpPr>
        <p:spPr>
          <a:xfrm>
            <a:off x="3749040" y="1463040"/>
            <a:ext cx="1417320" cy="777240"/>
          </a:xfrm>
          <a:prstGeom prst="roundRect">
            <a:avLst>
              <a:gd name="adj" fmla="val 11765"/>
            </a:avLst>
          </a:prstGeom>
          <a:solidFill>
            <a:srgbClr val="14746F"/>
          </a:solidFill>
          <a:ln w="12700">
            <a:solidFill>
              <a:srgbClr val="14746F"/>
            </a:solidFill>
            <a:prstDash val="solid"/>
          </a:ln>
        </p:spPr>
      </p:sp>
      <p:sp>
        <p:nvSpPr>
          <p:cNvPr id="11" name="box text Explained"/>
          <p:cNvSpPr txBox="1"/>
          <p:nvPr/>
        </p:nvSpPr>
        <p:spPr>
          <a:xfrm>
            <a:off x="38221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Explained</a:t>
            </a:r>
            <a:endParaRPr lang="en-US" sz="1400" dirty="0"/>
          </a:p>
          <a:p>
            <a:pPr algn="ctr" indent="0" marL="0">
              <a:buNone/>
            </a:pPr>
            <a:r>
              <a:rPr lang="en-US" sz="1100" dirty="0">
                <a:solidFill>
                  <a:srgbClr val="DDEEEB"/>
                </a:solidFill>
              </a:rPr>
              <a:t>or skipped</a:t>
            </a:r>
            <a:endParaRPr lang="en-US" sz="1400" dirty="0"/>
          </a:p>
        </p:txBody>
      </p:sp>
      <p:sp>
        <p:nvSpPr>
          <p:cNvPr id="12" name="arrow"/>
          <p:cNvSpPr/>
          <p:nvPr/>
        </p:nvSpPr>
        <p:spPr>
          <a:xfrm>
            <a:off x="5184648" y="1847088"/>
            <a:ext cx="146304" cy="0"/>
          </a:xfrm>
          <a:prstGeom prst="line">
            <a:avLst/>
          </a:prstGeom>
          <a:noFill/>
          <a:ln w="22225">
            <a:solidFill>
              <a:srgbClr val="5C7173"/>
            </a:solidFill>
            <a:prstDash val="solid"/>
            <a:tailEnd type="triangle"/>
          </a:ln>
        </p:spPr>
      </p:sp>
      <p:sp>
        <p:nvSpPr>
          <p:cNvPr id="13" name="box Ready"/>
          <p:cNvSpPr/>
          <p:nvPr/>
        </p:nvSpPr>
        <p:spPr>
          <a:xfrm>
            <a:off x="5349240" y="1463040"/>
            <a:ext cx="1417320" cy="777240"/>
          </a:xfrm>
          <a:prstGeom prst="roundRect">
            <a:avLst>
              <a:gd name="adj" fmla="val 11765"/>
            </a:avLst>
          </a:prstGeom>
          <a:solidFill>
            <a:srgbClr val="0E3B3F"/>
          </a:solidFill>
          <a:ln w="12700">
            <a:solidFill>
              <a:srgbClr val="0E3B3F"/>
            </a:solidFill>
            <a:prstDash val="solid"/>
          </a:ln>
        </p:spPr>
      </p:sp>
      <p:sp>
        <p:nvSpPr>
          <p:cNvPr id="14" name="box text Ready"/>
          <p:cNvSpPr txBox="1"/>
          <p:nvPr/>
        </p:nvSpPr>
        <p:spPr>
          <a:xfrm>
            <a:off x="54223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Ready</a:t>
            </a:r>
            <a:endParaRPr lang="en-US" sz="1400" dirty="0"/>
          </a:p>
          <a:p>
            <a:pPr algn="ctr" indent="0" marL="0">
              <a:buNone/>
            </a:pPr>
            <a:r>
              <a:rPr lang="en-US" sz="1100" dirty="0">
                <a:solidFill>
                  <a:srgbClr val="DDEEEB"/>
                </a:solidFill>
              </a:rPr>
              <a:t>waits for a person</a:t>
            </a:r>
            <a:endParaRPr lang="en-US" sz="1400" dirty="0"/>
          </a:p>
        </p:txBody>
      </p:sp>
      <p:sp>
        <p:nvSpPr>
          <p:cNvPr id="15" name="arrow"/>
          <p:cNvSpPr/>
          <p:nvPr/>
        </p:nvSpPr>
        <p:spPr>
          <a:xfrm>
            <a:off x="6784848" y="1847088"/>
            <a:ext cx="146304" cy="0"/>
          </a:xfrm>
          <a:prstGeom prst="line">
            <a:avLst/>
          </a:prstGeom>
          <a:noFill/>
          <a:ln w="22225">
            <a:solidFill>
              <a:srgbClr val="5C7173"/>
            </a:solidFill>
            <a:prstDash val="solid"/>
            <a:tailEnd type="triangle"/>
          </a:ln>
        </p:spPr>
      </p:sp>
      <p:sp>
        <p:nvSpPr>
          <p:cNvPr id="16" name="box Leased"/>
          <p:cNvSpPr/>
          <p:nvPr/>
        </p:nvSpPr>
        <p:spPr>
          <a:xfrm>
            <a:off x="6949440" y="1463040"/>
            <a:ext cx="1417320" cy="777240"/>
          </a:xfrm>
          <a:prstGeom prst="roundRect">
            <a:avLst>
              <a:gd name="adj" fmla="val 11765"/>
            </a:avLst>
          </a:prstGeom>
          <a:solidFill>
            <a:srgbClr val="14746F"/>
          </a:solidFill>
          <a:ln w="12700">
            <a:solidFill>
              <a:srgbClr val="14746F"/>
            </a:solidFill>
            <a:prstDash val="solid"/>
          </a:ln>
        </p:spPr>
      </p:sp>
      <p:sp>
        <p:nvSpPr>
          <p:cNvPr id="17" name="box text Leased"/>
          <p:cNvSpPr txBox="1"/>
          <p:nvPr/>
        </p:nvSpPr>
        <p:spPr>
          <a:xfrm>
            <a:off x="70225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Leased</a:t>
            </a:r>
            <a:endParaRPr lang="en-US" sz="1400" dirty="0"/>
          </a:p>
          <a:p>
            <a:pPr algn="ctr" indent="0" marL="0">
              <a:buNone/>
            </a:pPr>
            <a:r>
              <a:rPr lang="en-US" sz="1100" dirty="0">
                <a:solidFill>
                  <a:srgbClr val="DDEEEB"/>
                </a:solidFill>
              </a:rPr>
              <a:t>in one inbox</a:t>
            </a:r>
            <a:endParaRPr lang="en-US" sz="1400" dirty="0"/>
          </a:p>
        </p:txBody>
      </p:sp>
      <p:sp>
        <p:nvSpPr>
          <p:cNvPr id="18" name="arrow"/>
          <p:cNvSpPr/>
          <p:nvPr/>
        </p:nvSpPr>
        <p:spPr>
          <a:xfrm>
            <a:off x="8385048" y="1847088"/>
            <a:ext cx="146304" cy="0"/>
          </a:xfrm>
          <a:prstGeom prst="line">
            <a:avLst/>
          </a:prstGeom>
          <a:noFill/>
          <a:ln w="22225">
            <a:solidFill>
              <a:srgbClr val="5C7173"/>
            </a:solidFill>
            <a:prstDash val="solid"/>
            <a:tailEnd type="triangle"/>
          </a:ln>
        </p:spPr>
      </p:sp>
      <p:sp>
        <p:nvSpPr>
          <p:cNvPr id="19" name="box Decided"/>
          <p:cNvSpPr/>
          <p:nvPr/>
        </p:nvSpPr>
        <p:spPr>
          <a:xfrm>
            <a:off x="8549640" y="1463040"/>
            <a:ext cx="1417320" cy="777240"/>
          </a:xfrm>
          <a:prstGeom prst="roundRect">
            <a:avLst>
              <a:gd name="adj" fmla="val 11765"/>
            </a:avLst>
          </a:prstGeom>
          <a:solidFill>
            <a:srgbClr val="0E3B3F"/>
          </a:solidFill>
          <a:ln w="12700">
            <a:solidFill>
              <a:srgbClr val="0E3B3F"/>
            </a:solidFill>
            <a:prstDash val="solid"/>
          </a:ln>
        </p:spPr>
      </p:sp>
      <p:sp>
        <p:nvSpPr>
          <p:cNvPr id="20" name="box text Decided"/>
          <p:cNvSpPr txBox="1"/>
          <p:nvPr/>
        </p:nvSpPr>
        <p:spPr>
          <a:xfrm>
            <a:off x="86227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Decided</a:t>
            </a:r>
            <a:endParaRPr lang="en-US" sz="1400" dirty="0"/>
          </a:p>
          <a:p>
            <a:pPr algn="ctr" indent="0" marL="0">
              <a:buNone/>
            </a:pPr>
            <a:r>
              <a:rPr lang="en-US" sz="1100" dirty="0">
                <a:solidFill>
                  <a:srgbClr val="DDEEEB"/>
                </a:solidFill>
              </a:rPr>
              <a:t>badge, reason</a:t>
            </a:r>
            <a:endParaRPr lang="en-US" sz="1400" dirty="0"/>
          </a:p>
        </p:txBody>
      </p:sp>
      <p:sp>
        <p:nvSpPr>
          <p:cNvPr id="21" name="arrow"/>
          <p:cNvSpPr/>
          <p:nvPr/>
        </p:nvSpPr>
        <p:spPr>
          <a:xfrm>
            <a:off x="9985248" y="1847088"/>
            <a:ext cx="146304" cy="0"/>
          </a:xfrm>
          <a:prstGeom prst="line">
            <a:avLst/>
          </a:prstGeom>
          <a:noFill/>
          <a:ln w="22225">
            <a:solidFill>
              <a:srgbClr val="5C7173"/>
            </a:solidFill>
            <a:prstDash val="solid"/>
            <a:tailEnd type="triangle"/>
          </a:ln>
        </p:spPr>
      </p:sp>
      <p:sp>
        <p:nvSpPr>
          <p:cNvPr id="22" name="box Rechecked"/>
          <p:cNvSpPr/>
          <p:nvPr/>
        </p:nvSpPr>
        <p:spPr>
          <a:xfrm>
            <a:off x="10149840" y="1463040"/>
            <a:ext cx="1417320" cy="777240"/>
          </a:xfrm>
          <a:prstGeom prst="roundRect">
            <a:avLst>
              <a:gd name="adj" fmla="val 11765"/>
            </a:avLst>
          </a:prstGeom>
          <a:solidFill>
            <a:srgbClr val="14746F"/>
          </a:solidFill>
          <a:ln w="12700">
            <a:solidFill>
              <a:srgbClr val="14746F"/>
            </a:solidFill>
            <a:prstDash val="solid"/>
          </a:ln>
        </p:spPr>
      </p:sp>
      <p:sp>
        <p:nvSpPr>
          <p:cNvPr id="23" name="box text Rechecked"/>
          <p:cNvSpPr txBox="1"/>
          <p:nvPr/>
        </p:nvSpPr>
        <p:spPr>
          <a:xfrm>
            <a:off x="102229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Rechecked</a:t>
            </a:r>
            <a:endParaRPr lang="en-US" sz="1400" dirty="0"/>
          </a:p>
          <a:p>
            <a:pPr algn="ctr" indent="0" marL="0">
              <a:buNone/>
            </a:pPr>
            <a:r>
              <a:rPr lang="en-US" sz="1100" dirty="0">
                <a:solidFill>
                  <a:srgbClr val="DDEEEB"/>
                </a:solidFill>
              </a:rPr>
              <a:t>new version</a:t>
            </a:r>
            <a:endParaRPr lang="en-US" sz="1400" dirty="0"/>
          </a:p>
        </p:txBody>
      </p:sp>
      <p:sp>
        <p:nvSpPr>
          <p:cNvPr id="24" name="side states"/>
          <p:cNvSpPr txBox="1"/>
          <p:nvPr/>
        </p:nvSpPr>
        <p:spPr>
          <a:xfrm>
            <a:off x="548640" y="2331720"/>
            <a:ext cx="11064240" cy="320040"/>
          </a:xfrm>
          <a:prstGeom prst="rect">
            <a:avLst/>
          </a:prstGeom>
          <a:noFill/>
          <a:ln/>
        </p:spPr>
        <p:txBody>
          <a:bodyPr wrap="square" lIns="0" tIns="0" rIns="0" bIns="0" rtlCol="0" anchor="ctr"/>
          <a:lstStyle/>
          <a:p>
            <a:pPr indent="0" marL="0">
              <a:buNone/>
            </a:pPr>
            <a:r>
              <a:rPr lang="en-US" sz="1250" i="1" dirty="0">
                <a:solidFill>
                  <a:srgbClr val="5C7173"/>
                </a:solidFill>
              </a:rPr>
              <a:t>Side states: awaiting countersign (a high finding signed once) and dead letter (a task that kept failing).</a:t>
            </a:r>
            <a:endParaRPr lang="en-US" sz="1250" dirty="0"/>
          </a:p>
        </p:txBody>
      </p:sp>
      <p:sp>
        <p:nvSpPr>
          <p:cNvPr id="25" name="queue card 1"/>
          <p:cNvSpPr/>
          <p:nvPr/>
        </p:nvSpPr>
        <p:spPr>
          <a:xfrm>
            <a:off x="548640" y="2834640"/>
            <a:ext cx="3566160" cy="3246120"/>
          </a:xfrm>
          <a:prstGeom prst="roundRect">
            <a:avLst>
              <a:gd name="adj" fmla="val 3380"/>
            </a:avLst>
          </a:prstGeom>
          <a:solidFill>
            <a:srgbClr val="F2F6F5"/>
          </a:solidFill>
          <a:ln w="12700">
            <a:solidFill>
              <a:srgbClr val="F2F6F5"/>
            </a:solidFill>
            <a:prstDash val="solid"/>
          </a:ln>
        </p:spPr>
      </p:sp>
      <p:sp>
        <p:nvSpPr>
          <p:cNvPr id="26" name="badge"/>
          <p:cNvSpPr/>
          <p:nvPr/>
        </p:nvSpPr>
        <p:spPr>
          <a:xfrm>
            <a:off x="731520" y="2971800"/>
            <a:ext cx="384048" cy="384048"/>
          </a:xfrm>
          <a:prstGeom prst="ellipse">
            <a:avLst/>
          </a:prstGeom>
          <a:solidFill>
            <a:srgbClr val="14746F"/>
          </a:solidFill>
          <a:ln w="12700">
            <a:solidFill>
              <a:srgbClr val="14746F"/>
            </a:solidFill>
            <a:prstDash val="solid"/>
          </a:ln>
        </p:spPr>
      </p:sp>
      <p:sp>
        <p:nvSpPr>
          <p:cNvPr id="27" name="badge text"/>
          <p:cNvSpPr txBox="1"/>
          <p:nvPr/>
        </p:nvSpPr>
        <p:spPr>
          <a:xfrm>
            <a:off x="73152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28" name="queue card title"/>
          <p:cNvSpPr txBox="1"/>
          <p:nvPr/>
        </p:nvSpPr>
        <p:spPr>
          <a:xfrm>
            <a:off x="1234440" y="2926080"/>
            <a:ext cx="2743200" cy="50292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Intake is one atomic write</a:t>
            </a:r>
            <a:endParaRPr lang="en-US" sz="1500" dirty="0"/>
          </a:p>
        </p:txBody>
      </p:sp>
      <p:sp>
        <p:nvSpPr>
          <p:cNvPr id="29" name="bullets"/>
          <p:cNvSpPr txBox="1"/>
          <p:nvPr/>
        </p:nvSpPr>
        <p:spPr>
          <a:xfrm>
            <a:off x="777240" y="3611880"/>
            <a:ext cx="3154680" cy="23774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The claim, its triage receipt and a publish marker are stored together</a:t>
            </a:r>
            <a:endParaRPr lang="en-US" sz="1250" dirty="0"/>
          </a:p>
          <a:p>
            <a:pPr marL="203200" indent="-203200">
              <a:spcAft>
                <a:spcPts val="600"/>
              </a:spcAft>
              <a:buSzPct val="100000"/>
              <a:buChar char="•"/>
            </a:pPr>
            <a:r>
              <a:rPr lang="en-US" sz="1250" dirty="0">
                <a:solidFill>
                  <a:srgbClr val="17292B"/>
                </a:solidFill>
              </a:rPr>
              <a:t>Unique indexes: the same version, or the same input under the same rule pack, is stored once</a:t>
            </a:r>
            <a:endParaRPr lang="en-US" sz="1250" dirty="0"/>
          </a:p>
          <a:p>
            <a:pPr marL="203200" indent="-203200">
              <a:spcAft>
                <a:spcPts val="600"/>
              </a:spcAft>
              <a:buSzPct val="100000"/>
              <a:buChar char="•"/>
            </a:pPr>
            <a:r>
              <a:rPr lang="en-US" sz="1250" dirty="0">
                <a:solidFill>
                  <a:srgbClr val="17292B"/>
                </a:solidFill>
              </a:rPr>
              <a:t>A crash between write and publish is the same case: the marker is still set</a:t>
            </a:r>
            <a:endParaRPr lang="en-US" sz="1250" dirty="0"/>
          </a:p>
        </p:txBody>
      </p:sp>
      <p:sp>
        <p:nvSpPr>
          <p:cNvPr id="30" name="queue card 2"/>
          <p:cNvSpPr/>
          <p:nvPr/>
        </p:nvSpPr>
        <p:spPr>
          <a:xfrm>
            <a:off x="4297680" y="2834640"/>
            <a:ext cx="3566160" cy="3246120"/>
          </a:xfrm>
          <a:prstGeom prst="roundRect">
            <a:avLst>
              <a:gd name="adj" fmla="val 3380"/>
            </a:avLst>
          </a:prstGeom>
          <a:solidFill>
            <a:srgbClr val="F2F6F5"/>
          </a:solidFill>
          <a:ln w="12700">
            <a:solidFill>
              <a:srgbClr val="F2F6F5"/>
            </a:solidFill>
            <a:prstDash val="solid"/>
          </a:ln>
        </p:spPr>
      </p:sp>
      <p:sp>
        <p:nvSpPr>
          <p:cNvPr id="31" name="badge"/>
          <p:cNvSpPr/>
          <p:nvPr/>
        </p:nvSpPr>
        <p:spPr>
          <a:xfrm>
            <a:off x="4480560" y="2971800"/>
            <a:ext cx="384048" cy="384048"/>
          </a:xfrm>
          <a:prstGeom prst="ellipse">
            <a:avLst/>
          </a:prstGeom>
          <a:solidFill>
            <a:srgbClr val="14746F"/>
          </a:solidFill>
          <a:ln w="12700">
            <a:solidFill>
              <a:srgbClr val="14746F"/>
            </a:solidFill>
            <a:prstDash val="solid"/>
          </a:ln>
        </p:spPr>
      </p:sp>
      <p:sp>
        <p:nvSpPr>
          <p:cNvPr id="32" name="badge text"/>
          <p:cNvSpPr txBox="1"/>
          <p:nvPr/>
        </p:nvSpPr>
        <p:spPr>
          <a:xfrm>
            <a:off x="448056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33" name="queue card title"/>
          <p:cNvSpPr txBox="1"/>
          <p:nvPr/>
        </p:nvSpPr>
        <p:spPr>
          <a:xfrm>
            <a:off x="4983480" y="2926080"/>
            <a:ext cx="2743200" cy="50292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Every move is one conditional update</a:t>
            </a:r>
            <a:endParaRPr lang="en-US" sz="1500" dirty="0"/>
          </a:p>
        </p:txBody>
      </p:sp>
      <p:sp>
        <p:nvSpPr>
          <p:cNvPr id="34" name="bullets"/>
          <p:cNvSpPr txBox="1"/>
          <p:nvPr/>
        </p:nvSpPr>
        <p:spPr>
          <a:xfrm>
            <a:off x="4526280" y="3611880"/>
            <a:ext cx="3154680" cy="23774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The database changes the claim only if it is still in the expected state, and appends the event in the same update</a:t>
            </a:r>
            <a:endParaRPr lang="en-US" sz="1250" dirty="0"/>
          </a:p>
          <a:p>
            <a:pPr marL="203200" indent="-203200">
              <a:spcAft>
                <a:spcPts val="600"/>
              </a:spcAft>
              <a:buSzPct val="100000"/>
              <a:buChar char="•"/>
            </a:pPr>
            <a:r>
              <a:rPr lang="en-US" sz="1250" dirty="0">
                <a:solidFill>
                  <a:srgbClr val="17292B"/>
                </a:solidFill>
              </a:rPr>
              <a:t>50 callers racing: exactly one wins</a:t>
            </a:r>
            <a:endParaRPr lang="en-US" sz="1250" dirty="0"/>
          </a:p>
          <a:p>
            <a:pPr marL="203200" indent="-203200">
              <a:spcAft>
                <a:spcPts val="600"/>
              </a:spcAft>
              <a:buSzPct val="100000"/>
              <a:buChar char="•"/>
            </a:pPr>
            <a:r>
              <a:rPr lang="en-US" sz="1250" dirty="0">
                <a:solidFill>
                  <a:srgbClr val="17292B"/>
                </a:solidFill>
              </a:rPr>
              <a:t>The allowed moves are pinned by a table test</a:t>
            </a:r>
            <a:endParaRPr lang="en-US" sz="1250" dirty="0"/>
          </a:p>
        </p:txBody>
      </p:sp>
      <p:sp>
        <p:nvSpPr>
          <p:cNvPr id="35" name="queue card 3"/>
          <p:cNvSpPr/>
          <p:nvPr/>
        </p:nvSpPr>
        <p:spPr>
          <a:xfrm>
            <a:off x="8046720" y="2834640"/>
            <a:ext cx="3566160" cy="3246120"/>
          </a:xfrm>
          <a:prstGeom prst="roundRect">
            <a:avLst>
              <a:gd name="adj" fmla="val 3380"/>
            </a:avLst>
          </a:prstGeom>
          <a:solidFill>
            <a:srgbClr val="F2F6F5"/>
          </a:solidFill>
          <a:ln w="12700">
            <a:solidFill>
              <a:srgbClr val="F2F6F5"/>
            </a:solidFill>
            <a:prstDash val="solid"/>
          </a:ln>
        </p:spPr>
      </p:sp>
      <p:sp>
        <p:nvSpPr>
          <p:cNvPr id="36" name="badge"/>
          <p:cNvSpPr/>
          <p:nvPr/>
        </p:nvSpPr>
        <p:spPr>
          <a:xfrm>
            <a:off x="8229600" y="2971800"/>
            <a:ext cx="384048" cy="384048"/>
          </a:xfrm>
          <a:prstGeom prst="ellipse">
            <a:avLst/>
          </a:prstGeom>
          <a:solidFill>
            <a:srgbClr val="14746F"/>
          </a:solidFill>
          <a:ln w="12700">
            <a:solidFill>
              <a:srgbClr val="14746F"/>
            </a:solidFill>
            <a:prstDash val="solid"/>
          </a:ln>
        </p:spPr>
      </p:sp>
      <p:sp>
        <p:nvSpPr>
          <p:cNvPr id="37" name="badge text"/>
          <p:cNvSpPr txBox="1"/>
          <p:nvPr/>
        </p:nvSpPr>
        <p:spPr>
          <a:xfrm>
            <a:off x="822960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38" name="queue card title"/>
          <p:cNvSpPr txBox="1"/>
          <p:nvPr/>
        </p:nvSpPr>
        <p:spPr>
          <a:xfrm>
            <a:off x="8732520" y="2926080"/>
            <a:ext cx="2743200" cy="50292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Claims are versions, never edited</a:t>
            </a:r>
            <a:endParaRPr lang="en-US" sz="1500" dirty="0"/>
          </a:p>
        </p:txBody>
      </p:sp>
      <p:sp>
        <p:nvSpPr>
          <p:cNvPr id="39" name="bullets"/>
          <p:cNvSpPr txBox="1"/>
          <p:nvPr/>
        </p:nvSpPr>
        <p:spPr>
          <a:xfrm>
            <a:off x="8275320" y="3611880"/>
            <a:ext cx="3154680" cy="23774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A correction or a new rule pack creates version N+1; the old one keeps its decisions</a:t>
            </a:r>
            <a:endParaRPr lang="en-US" sz="1250" dirty="0"/>
          </a:p>
          <a:p>
            <a:pPr marL="203200" indent="-203200">
              <a:spcAft>
                <a:spcPts val="600"/>
              </a:spcAft>
              <a:buSzPct val="100000"/>
              <a:buChar char="•"/>
            </a:pPr>
            <a:r>
              <a:rPr lang="en-US" sz="1250" dirty="0">
                <a:solidFill>
                  <a:srgbClr val="17292B"/>
                </a:solidFill>
              </a:rPr>
              <a:t>Only the newest version is dealt; a lease on an older one is taken back</a:t>
            </a:r>
            <a:endParaRPr lang="en-US" sz="1250" dirty="0"/>
          </a:p>
          <a:p>
            <a:pPr marL="203200" indent="-203200">
              <a:spcAft>
                <a:spcPts val="600"/>
              </a:spcAft>
              <a:buSzPct val="100000"/>
              <a:buChar char="•"/>
            </a:pPr>
            <a:r>
              <a:rPr lang="en-US" sz="1250" dirty="0">
                <a:solidFill>
                  <a:srgbClr val="17292B"/>
                </a:solidFill>
              </a:rPr>
              <a:t>Decisions need the lease and fresh permissions, read again at that moment</a:t>
            </a:r>
            <a:endParaRPr lang="en-US" sz="12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Task queue 2: delivery, retries and failures</a:t>
            </a:r>
            <a:endParaRPr lang="en-US" sz="3200" dirty="0"/>
          </a:p>
        </p:txBody>
      </p:sp>
      <p:sp>
        <p:nvSpPr>
          <p:cNvPr id="4" name="box Intake"/>
          <p:cNvSpPr/>
          <p:nvPr/>
        </p:nvSpPr>
        <p:spPr>
          <a:xfrm>
            <a:off x="548640" y="1508760"/>
            <a:ext cx="2377440" cy="1051560"/>
          </a:xfrm>
          <a:prstGeom prst="roundRect">
            <a:avLst>
              <a:gd name="adj" fmla="val 8696"/>
            </a:avLst>
          </a:prstGeom>
          <a:solidFill>
            <a:srgbClr val="14746F"/>
          </a:solidFill>
          <a:ln w="12700">
            <a:solidFill>
              <a:srgbClr val="14746F"/>
            </a:solidFill>
            <a:prstDash val="solid"/>
          </a:ln>
        </p:spPr>
      </p:sp>
      <p:sp>
        <p:nvSpPr>
          <p:cNvPr id="5" name="box text Intake"/>
          <p:cNvSpPr txBox="1"/>
          <p:nvPr/>
        </p:nvSpPr>
        <p:spPr>
          <a:xfrm>
            <a:off x="62179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Intake</a:t>
            </a:r>
            <a:endParaRPr lang="en-US" sz="1400" dirty="0"/>
          </a:p>
          <a:p>
            <a:pPr algn="ctr" indent="0" marL="0">
              <a:buNone/>
            </a:pPr>
            <a:r>
              <a:rPr lang="en-US" sz="1100" dirty="0">
                <a:solidFill>
                  <a:srgbClr val="DDEEEB"/>
                </a:solidFill>
              </a:rPr>
              <a:t>claim and a publish marker, one atomic write</a:t>
            </a:r>
            <a:endParaRPr lang="en-US" sz="1400" dirty="0"/>
          </a:p>
        </p:txBody>
      </p:sp>
      <p:sp>
        <p:nvSpPr>
          <p:cNvPr id="6" name="arrow"/>
          <p:cNvSpPr/>
          <p:nvPr/>
        </p:nvSpPr>
        <p:spPr>
          <a:xfrm>
            <a:off x="2962656" y="2029968"/>
            <a:ext cx="384048" cy="0"/>
          </a:xfrm>
          <a:prstGeom prst="line">
            <a:avLst/>
          </a:prstGeom>
          <a:noFill/>
          <a:ln w="22225">
            <a:solidFill>
              <a:srgbClr val="5C7173"/>
            </a:solidFill>
            <a:prstDash val="solid"/>
            <a:tailEnd type="triangle"/>
          </a:ln>
        </p:spPr>
      </p:sp>
      <p:sp>
        <p:nvSpPr>
          <p:cNvPr id="7" name="box Outbox relay"/>
          <p:cNvSpPr/>
          <p:nvPr/>
        </p:nvSpPr>
        <p:spPr>
          <a:xfrm>
            <a:off x="3383280" y="1508760"/>
            <a:ext cx="2377440" cy="1051560"/>
          </a:xfrm>
          <a:prstGeom prst="roundRect">
            <a:avLst>
              <a:gd name="adj" fmla="val 8696"/>
            </a:avLst>
          </a:prstGeom>
          <a:solidFill>
            <a:srgbClr val="0E3B3F"/>
          </a:solidFill>
          <a:ln w="12700">
            <a:solidFill>
              <a:srgbClr val="0E3B3F"/>
            </a:solidFill>
            <a:prstDash val="solid"/>
          </a:ln>
        </p:spPr>
      </p:sp>
      <p:sp>
        <p:nvSpPr>
          <p:cNvPr id="8" name="box text Outbox relay"/>
          <p:cNvSpPr txBox="1"/>
          <p:nvPr/>
        </p:nvSpPr>
        <p:spPr>
          <a:xfrm>
            <a:off x="345643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Outbox relay</a:t>
            </a:r>
            <a:endParaRPr lang="en-US" sz="1400" dirty="0"/>
          </a:p>
          <a:p>
            <a:pPr algn="ctr" indent="0" marL="0">
              <a:buNone/>
            </a:pPr>
            <a:r>
              <a:rPr lang="en-US" sz="1100" dirty="0">
                <a:solidFill>
                  <a:srgbClr val="DDEEEB"/>
                </a:solidFill>
              </a:rPr>
              <a:t>publishes, clears the marker only after Redis accepted</a:t>
            </a:r>
            <a:endParaRPr lang="en-US" sz="1400" dirty="0"/>
          </a:p>
        </p:txBody>
      </p:sp>
      <p:sp>
        <p:nvSpPr>
          <p:cNvPr id="9" name="arrow"/>
          <p:cNvSpPr/>
          <p:nvPr/>
        </p:nvSpPr>
        <p:spPr>
          <a:xfrm>
            <a:off x="5797296" y="2029968"/>
            <a:ext cx="384048" cy="0"/>
          </a:xfrm>
          <a:prstGeom prst="line">
            <a:avLst/>
          </a:prstGeom>
          <a:noFill/>
          <a:ln w="22225">
            <a:solidFill>
              <a:srgbClr val="5C7173"/>
            </a:solidFill>
            <a:prstDash val="solid"/>
            <a:tailEnd type="triangle"/>
          </a:ln>
        </p:spPr>
      </p:sp>
      <p:sp>
        <p:nvSpPr>
          <p:cNvPr id="10" name="box Redis Stream"/>
          <p:cNvSpPr/>
          <p:nvPr/>
        </p:nvSpPr>
        <p:spPr>
          <a:xfrm>
            <a:off x="6217920" y="1508760"/>
            <a:ext cx="2377440" cy="1051560"/>
          </a:xfrm>
          <a:prstGeom prst="roundRect">
            <a:avLst>
              <a:gd name="adj" fmla="val 8696"/>
            </a:avLst>
          </a:prstGeom>
          <a:solidFill>
            <a:srgbClr val="8C4A3A"/>
          </a:solidFill>
          <a:ln w="12700">
            <a:solidFill>
              <a:srgbClr val="8C4A3A"/>
            </a:solidFill>
            <a:prstDash val="solid"/>
          </a:ln>
        </p:spPr>
      </p:sp>
      <p:sp>
        <p:nvSpPr>
          <p:cNvPr id="11" name="box text Redis Stream"/>
          <p:cNvSpPr txBox="1"/>
          <p:nvPr/>
        </p:nvSpPr>
        <p:spPr>
          <a:xfrm>
            <a:off x="629107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Redis Stream</a:t>
            </a:r>
            <a:endParaRPr lang="en-US" sz="1400" dirty="0"/>
          </a:p>
          <a:p>
            <a:pPr algn="ctr" indent="0" marL="0">
              <a:buNone/>
            </a:pPr>
            <a:r>
              <a:rPr lang="en-US" sz="1100" dirty="0">
                <a:solidFill>
                  <a:srgbClr val="DDEEEB"/>
                </a:solidFill>
              </a:rPr>
              <a:t>consumer group, pool of consumers</a:t>
            </a:r>
            <a:endParaRPr lang="en-US" sz="1400" dirty="0"/>
          </a:p>
        </p:txBody>
      </p:sp>
      <p:sp>
        <p:nvSpPr>
          <p:cNvPr id="12" name="arrow"/>
          <p:cNvSpPr/>
          <p:nvPr/>
        </p:nvSpPr>
        <p:spPr>
          <a:xfrm>
            <a:off x="8631936" y="2029968"/>
            <a:ext cx="384048" cy="0"/>
          </a:xfrm>
          <a:prstGeom prst="line">
            <a:avLst/>
          </a:prstGeom>
          <a:noFill/>
          <a:ln w="22225">
            <a:solidFill>
              <a:srgbClr val="5C7173"/>
            </a:solidFill>
            <a:prstDash val="solid"/>
            <a:tailEnd type="triangle"/>
          </a:ln>
        </p:spPr>
      </p:sp>
      <p:sp>
        <p:nvSpPr>
          <p:cNvPr id="13" name="box Process"/>
          <p:cNvSpPr/>
          <p:nvPr/>
        </p:nvSpPr>
        <p:spPr>
          <a:xfrm>
            <a:off x="9052560" y="1508760"/>
            <a:ext cx="2377440" cy="1051560"/>
          </a:xfrm>
          <a:prstGeom prst="roundRect">
            <a:avLst>
              <a:gd name="adj" fmla="val 8696"/>
            </a:avLst>
          </a:prstGeom>
          <a:solidFill>
            <a:srgbClr val="14746F"/>
          </a:solidFill>
          <a:ln w="12700">
            <a:solidFill>
              <a:srgbClr val="14746F"/>
            </a:solidFill>
            <a:prstDash val="solid"/>
          </a:ln>
        </p:spPr>
      </p:sp>
      <p:sp>
        <p:nvSpPr>
          <p:cNvPr id="14" name="box text Process"/>
          <p:cNvSpPr txBox="1"/>
          <p:nvPr/>
        </p:nvSpPr>
        <p:spPr>
          <a:xfrm>
            <a:off x="912571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Process</a:t>
            </a:r>
            <a:endParaRPr lang="en-US" sz="1400" dirty="0"/>
          </a:p>
          <a:p>
            <a:pPr algn="ctr" indent="0" marL="0">
              <a:buNone/>
            </a:pPr>
            <a:r>
              <a:rPr lang="en-US" sz="1100" dirty="0">
                <a:solidFill>
                  <a:srgbClr val="DDEEEB"/>
                </a:solidFill>
              </a:rPr>
              <a:t>explain and move to ready</a:t>
            </a:r>
            <a:endParaRPr lang="en-US" sz="1400" dirty="0"/>
          </a:p>
        </p:txBody>
      </p:sp>
      <p:sp>
        <p:nvSpPr>
          <p:cNvPr id="15" name="guarantee 1"/>
          <p:cNvSpPr/>
          <p:nvPr/>
        </p:nvSpPr>
        <p:spPr>
          <a:xfrm>
            <a:off x="548640" y="2926080"/>
            <a:ext cx="5440680" cy="914400"/>
          </a:xfrm>
          <a:prstGeom prst="roundRect">
            <a:avLst>
              <a:gd name="adj" fmla="val 12000"/>
            </a:avLst>
          </a:prstGeom>
          <a:solidFill>
            <a:srgbClr val="F2F6F5"/>
          </a:solidFill>
          <a:ln w="12700">
            <a:solidFill>
              <a:srgbClr val="F2F6F5"/>
            </a:solidFill>
            <a:prstDash val="solid"/>
          </a:ln>
        </p:spPr>
      </p:sp>
      <p:sp>
        <p:nvSpPr>
          <p:cNvPr id="16" name="guarantee text"/>
          <p:cNvSpPr txBox="1"/>
          <p:nvPr/>
        </p:nvSpPr>
        <p:spPr>
          <a:xfrm>
            <a:off x="731520" y="2926080"/>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Redis down</a:t>
            </a:r>
            <a:endParaRPr lang="en-US" sz="1400" dirty="0"/>
          </a:p>
          <a:p>
            <a:pPr indent="0" marL="0">
              <a:buNone/>
            </a:pPr>
            <a:r>
              <a:rPr lang="en-US" sz="1250" dirty="0">
                <a:solidFill>
                  <a:srgbClr val="17292B"/>
                </a:solidFill>
              </a:rPr>
              <a:t>markers stay in MongoDB, the relay republishes. Consumers back off and keep trying</a:t>
            </a:r>
            <a:endParaRPr lang="en-US" sz="1400" dirty="0"/>
          </a:p>
        </p:txBody>
      </p:sp>
      <p:sp>
        <p:nvSpPr>
          <p:cNvPr id="17" name="guarantee 2"/>
          <p:cNvSpPr/>
          <p:nvPr/>
        </p:nvSpPr>
        <p:spPr>
          <a:xfrm>
            <a:off x="6126480" y="2926080"/>
            <a:ext cx="5440680" cy="914400"/>
          </a:xfrm>
          <a:prstGeom prst="roundRect">
            <a:avLst>
              <a:gd name="adj" fmla="val 12000"/>
            </a:avLst>
          </a:prstGeom>
          <a:solidFill>
            <a:srgbClr val="F2F6F5"/>
          </a:solidFill>
          <a:ln w="12700">
            <a:solidFill>
              <a:srgbClr val="F2F6F5"/>
            </a:solidFill>
            <a:prstDash val="solid"/>
          </a:ln>
        </p:spPr>
      </p:sp>
      <p:sp>
        <p:nvSpPr>
          <p:cNvPr id="18" name="guarantee text"/>
          <p:cNvSpPr txBox="1"/>
          <p:nvPr/>
        </p:nvSpPr>
        <p:spPr>
          <a:xfrm>
            <a:off x="6309360" y="2926080"/>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Consumer dies</a:t>
            </a:r>
            <a:endParaRPr lang="en-US" sz="1400" dirty="0"/>
          </a:p>
          <a:p>
            <a:pPr indent="0" marL="0">
              <a:buNone/>
            </a:pPr>
            <a:r>
              <a:rPr lang="en-US" sz="1250" dirty="0">
                <a:solidFill>
                  <a:srgbClr val="17292B"/>
                </a:solidFill>
              </a:rPr>
              <a:t>its message is taken over by another after an idle time longer than the model deadline</a:t>
            </a:r>
            <a:endParaRPr lang="en-US" sz="1400" dirty="0"/>
          </a:p>
        </p:txBody>
      </p:sp>
      <p:sp>
        <p:nvSpPr>
          <p:cNvPr id="19" name="guarantee 3"/>
          <p:cNvSpPr/>
          <p:nvPr/>
        </p:nvSpPr>
        <p:spPr>
          <a:xfrm>
            <a:off x="548640" y="3950208"/>
            <a:ext cx="5440680" cy="914400"/>
          </a:xfrm>
          <a:prstGeom prst="roundRect">
            <a:avLst>
              <a:gd name="adj" fmla="val 12000"/>
            </a:avLst>
          </a:prstGeom>
          <a:solidFill>
            <a:srgbClr val="F2F6F5"/>
          </a:solidFill>
          <a:ln w="12700">
            <a:solidFill>
              <a:srgbClr val="F2F6F5"/>
            </a:solidFill>
            <a:prstDash val="solid"/>
          </a:ln>
        </p:spPr>
      </p:sp>
      <p:sp>
        <p:nvSpPr>
          <p:cNvPr id="20" name="guarantee text"/>
          <p:cNvSpPr txBox="1"/>
          <p:nvPr/>
        </p:nvSpPr>
        <p:spPr>
          <a:xfrm>
            <a:off x="731520" y="3950208"/>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Poison claim</a:t>
            </a:r>
            <a:endParaRPr lang="en-US" sz="1400" dirty="0"/>
          </a:p>
          <a:p>
            <a:pPr indent="0" marL="0">
              <a:buNone/>
            </a:pPr>
            <a:r>
              <a:rPr lang="en-US" sz="1250" dirty="0">
                <a:solidFill>
                  <a:srgbClr val="17292B"/>
                </a:solidFill>
              </a:rPr>
              <a:t>parked as a dead letter after three deliveries, once, never while a person holds it</a:t>
            </a:r>
            <a:endParaRPr lang="en-US" sz="1400" dirty="0"/>
          </a:p>
        </p:txBody>
      </p:sp>
      <p:sp>
        <p:nvSpPr>
          <p:cNvPr id="21" name="guarantee 4"/>
          <p:cNvSpPr/>
          <p:nvPr/>
        </p:nvSpPr>
        <p:spPr>
          <a:xfrm>
            <a:off x="6126480" y="3950208"/>
            <a:ext cx="5440680" cy="914400"/>
          </a:xfrm>
          <a:prstGeom prst="roundRect">
            <a:avLst>
              <a:gd name="adj" fmla="val 12000"/>
            </a:avLst>
          </a:prstGeom>
          <a:solidFill>
            <a:srgbClr val="F2F6F5"/>
          </a:solidFill>
          <a:ln w="12700">
            <a:solidFill>
              <a:srgbClr val="F2F6F5"/>
            </a:solidFill>
            <a:prstDash val="solid"/>
          </a:ln>
        </p:spPr>
      </p:sp>
      <p:sp>
        <p:nvSpPr>
          <p:cNvPr id="22" name="guarantee text"/>
          <p:cNvSpPr txBox="1"/>
          <p:nvPr/>
        </p:nvSpPr>
        <p:spPr>
          <a:xfrm>
            <a:off x="6309360" y="3950208"/>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Duplicates and forgeries</a:t>
            </a:r>
            <a:endParaRPr lang="en-US" sz="1400" dirty="0"/>
          </a:p>
          <a:p>
            <a:pPr indent="0" marL="0">
              <a:buNone/>
            </a:pPr>
            <a:r>
              <a:rPr lang="en-US" sz="1250" dirty="0">
                <a:solidFill>
                  <a:srgbClr val="17292B"/>
                </a:solidFill>
              </a:rPr>
              <a:t>processing is idempotent; a wrong hash or unknown claim changes nothing</a:t>
            </a:r>
            <a:endParaRPr lang="en-US" sz="1400" dirty="0"/>
          </a:p>
        </p:txBody>
      </p:sp>
      <p:sp>
        <p:nvSpPr>
          <p:cNvPr id="23" name="guarantee 5"/>
          <p:cNvSpPr/>
          <p:nvPr/>
        </p:nvSpPr>
        <p:spPr>
          <a:xfrm>
            <a:off x="548640" y="4974336"/>
            <a:ext cx="5440680" cy="914400"/>
          </a:xfrm>
          <a:prstGeom prst="roundRect">
            <a:avLst>
              <a:gd name="adj" fmla="val 12000"/>
            </a:avLst>
          </a:prstGeom>
          <a:solidFill>
            <a:srgbClr val="F2F6F5"/>
          </a:solidFill>
          <a:ln w="12700">
            <a:solidFill>
              <a:srgbClr val="F2F6F5"/>
            </a:solidFill>
            <a:prstDash val="solid"/>
          </a:ln>
        </p:spPr>
      </p:sp>
      <p:sp>
        <p:nvSpPr>
          <p:cNvPr id="24" name="guarantee text"/>
          <p:cNvSpPr txBox="1"/>
          <p:nvPr/>
        </p:nvSpPr>
        <p:spPr>
          <a:xfrm>
            <a:off x="731520" y="4974336"/>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Burst of claims</a:t>
            </a:r>
            <a:endParaRPr lang="en-US" sz="1400" dirty="0"/>
          </a:p>
          <a:p>
            <a:pPr indent="0" marL="0">
              <a:buNone/>
            </a:pPr>
            <a:r>
              <a:rPr lang="en-US" sz="1250" dirty="0">
                <a:solidFill>
                  <a:srgbClr val="17292B"/>
                </a:solidFill>
              </a:rPr>
              <a:t>waits in the stream, never in front of the model. Concurrency is capped by a setting</a:t>
            </a:r>
            <a:endParaRPr lang="en-US" sz="1400" dirty="0"/>
          </a:p>
        </p:txBody>
      </p:sp>
      <p:sp>
        <p:nvSpPr>
          <p:cNvPr id="25" name="guarantee 6"/>
          <p:cNvSpPr/>
          <p:nvPr/>
        </p:nvSpPr>
        <p:spPr>
          <a:xfrm>
            <a:off x="6126480" y="4974336"/>
            <a:ext cx="5440680" cy="914400"/>
          </a:xfrm>
          <a:prstGeom prst="roundRect">
            <a:avLst>
              <a:gd name="adj" fmla="val 12000"/>
            </a:avLst>
          </a:prstGeom>
          <a:solidFill>
            <a:srgbClr val="F2F6F5"/>
          </a:solidFill>
          <a:ln w="12700">
            <a:solidFill>
              <a:srgbClr val="F2F6F5"/>
            </a:solidFill>
            <a:prstDash val="solid"/>
          </a:ln>
        </p:spPr>
      </p:sp>
      <p:sp>
        <p:nvSpPr>
          <p:cNvPr id="26" name="guarantee text"/>
          <p:cNvSpPr txBox="1"/>
          <p:nvPr/>
        </p:nvSpPr>
        <p:spPr>
          <a:xfrm>
            <a:off x="6309360" y="4974336"/>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Lost messages</a:t>
            </a:r>
            <a:endParaRPr lang="en-US" sz="1400" dirty="0"/>
          </a:p>
          <a:p>
            <a:pPr indent="0" marL="0">
              <a:buNone/>
            </a:pPr>
            <a:r>
              <a:rPr lang="en-US" sz="1250" dirty="0">
                <a:solidFill>
                  <a:srgbClr val="17292B"/>
                </a:solidFill>
              </a:rPr>
              <a:t>if the stream is empty yet a claim sat 15 minutes, it is published again</a:t>
            </a:r>
            <a:endParaRPr lang="en-US" sz="1400" dirty="0"/>
          </a:p>
        </p:txBody>
      </p:sp>
      <p:sp>
        <p:nvSpPr>
          <p:cNvPr id="27"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Pool size (1 to 64, default 4) caps claims explained at once, so also the model. ai_per_minute (30) and a daily budget (2,000) cap requests. Each guarantee has a test, also on a real Redis 7.4.</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Load balancing: how claims are dealt to people</a:t>
            </a:r>
            <a:endParaRPr lang="en-US" sz="3200" dirty="0"/>
          </a:p>
        </p:txBody>
      </p:sp>
      <p:sp>
        <p:nvSpPr>
          <p:cNvPr id="4" name="balance step 1"/>
          <p:cNvSpPr/>
          <p:nvPr/>
        </p:nvSpPr>
        <p:spPr>
          <a:xfrm>
            <a:off x="548640" y="1371600"/>
            <a:ext cx="7040880" cy="694944"/>
          </a:xfrm>
          <a:prstGeom prst="roundRect">
            <a:avLst>
              <a:gd name="adj" fmla="val 15789"/>
            </a:avLst>
          </a:prstGeom>
          <a:solidFill>
            <a:srgbClr val="F2F6F5"/>
          </a:solidFill>
          <a:ln w="12700">
            <a:solidFill>
              <a:srgbClr val="F2F6F5"/>
            </a:solidFill>
            <a:prstDash val="solid"/>
          </a:ln>
        </p:spPr>
      </p:sp>
      <p:sp>
        <p:nvSpPr>
          <p:cNvPr id="5" name="badge"/>
          <p:cNvSpPr/>
          <p:nvPr/>
        </p:nvSpPr>
        <p:spPr>
          <a:xfrm>
            <a:off x="713232" y="1527048"/>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13232"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balance text"/>
          <p:cNvSpPr txBox="1"/>
          <p:nvPr/>
        </p:nvSpPr>
        <p:spPr>
          <a:xfrm>
            <a:off x="1234440" y="1371600"/>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Eligible agents only</a:t>
            </a:r>
            <a:endParaRPr lang="en-US" sz="1400" dirty="0"/>
          </a:p>
          <a:p>
            <a:pPr indent="0" marL="0">
              <a:buNone/>
            </a:pPr>
            <a:r>
              <a:rPr lang="en-US" sz="1200" dirty="0">
                <a:solidFill>
                  <a:srgbClr val="17292B"/>
                </a:solidFill>
              </a:rPr>
              <a:t>active, on shift, room in the inbox, and the permission this claim needs</a:t>
            </a:r>
            <a:endParaRPr lang="en-US" sz="1400" dirty="0"/>
          </a:p>
        </p:txBody>
      </p:sp>
      <p:sp>
        <p:nvSpPr>
          <p:cNvPr id="8" name="balance step 2"/>
          <p:cNvSpPr/>
          <p:nvPr/>
        </p:nvSpPr>
        <p:spPr>
          <a:xfrm>
            <a:off x="548640" y="2157984"/>
            <a:ext cx="7040880" cy="694944"/>
          </a:xfrm>
          <a:prstGeom prst="roundRect">
            <a:avLst>
              <a:gd name="adj" fmla="val 15789"/>
            </a:avLst>
          </a:prstGeom>
          <a:solidFill>
            <a:srgbClr val="F2F6F5"/>
          </a:solidFill>
          <a:ln w="12700">
            <a:solidFill>
              <a:srgbClr val="F2F6F5"/>
            </a:solidFill>
            <a:prstDash val="solid"/>
          </a:ln>
        </p:spPr>
      </p:sp>
      <p:sp>
        <p:nvSpPr>
          <p:cNvPr id="9" name="badge"/>
          <p:cNvSpPr/>
          <p:nvPr/>
        </p:nvSpPr>
        <p:spPr>
          <a:xfrm>
            <a:off x="713232" y="2313432"/>
            <a:ext cx="384048" cy="384048"/>
          </a:xfrm>
          <a:prstGeom prst="ellipse">
            <a:avLst/>
          </a:prstGeom>
          <a:solidFill>
            <a:srgbClr val="14746F"/>
          </a:solidFill>
          <a:ln w="12700">
            <a:solidFill>
              <a:srgbClr val="14746F"/>
            </a:solidFill>
            <a:prstDash val="solid"/>
          </a:ln>
        </p:spPr>
      </p:sp>
      <p:sp>
        <p:nvSpPr>
          <p:cNvPr id="10" name="badge text"/>
          <p:cNvSpPr txBox="1"/>
          <p:nvPr/>
        </p:nvSpPr>
        <p:spPr>
          <a:xfrm>
            <a:off x="713232"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balance text"/>
          <p:cNvSpPr txBox="1"/>
          <p:nvPr/>
        </p:nvSpPr>
        <p:spPr>
          <a:xfrm>
            <a:off x="1234440" y="2157984"/>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A fair order</a:t>
            </a:r>
            <a:endParaRPr lang="en-US" sz="1400" dirty="0"/>
          </a:p>
          <a:p>
            <a:pPr indent="0" marL="0">
              <a:buNone/>
            </a:pPr>
            <a:r>
              <a:rPr lang="en-US" sz="1200" dirty="0">
                <a:solidFill>
                  <a:srgbClr val="17292B"/>
                </a:solidFill>
              </a:rPr>
              <a:t>claims shuffled with a logged seed, then sorted by score plus half a point per hour waited (aging)</a:t>
            </a:r>
            <a:endParaRPr lang="en-US" sz="1400" dirty="0"/>
          </a:p>
        </p:txBody>
      </p:sp>
      <p:sp>
        <p:nvSpPr>
          <p:cNvPr id="12" name="balance step 3"/>
          <p:cNvSpPr/>
          <p:nvPr/>
        </p:nvSpPr>
        <p:spPr>
          <a:xfrm>
            <a:off x="548640" y="2944368"/>
            <a:ext cx="7040880" cy="694944"/>
          </a:xfrm>
          <a:prstGeom prst="roundRect">
            <a:avLst>
              <a:gd name="adj" fmla="val 15789"/>
            </a:avLst>
          </a:prstGeom>
          <a:solidFill>
            <a:srgbClr val="F2F6F5"/>
          </a:solidFill>
          <a:ln w="12700">
            <a:solidFill>
              <a:srgbClr val="F2F6F5"/>
            </a:solidFill>
            <a:prstDash val="solid"/>
          </a:ln>
        </p:spPr>
      </p:sp>
      <p:sp>
        <p:nvSpPr>
          <p:cNvPr id="13" name="badge"/>
          <p:cNvSpPr/>
          <p:nvPr/>
        </p:nvSpPr>
        <p:spPr>
          <a:xfrm>
            <a:off x="713232" y="3099816"/>
            <a:ext cx="384048" cy="384048"/>
          </a:xfrm>
          <a:prstGeom prst="ellipse">
            <a:avLst/>
          </a:prstGeom>
          <a:solidFill>
            <a:srgbClr val="14746F"/>
          </a:solidFill>
          <a:ln w="12700">
            <a:solidFill>
              <a:srgbClr val="14746F"/>
            </a:solidFill>
            <a:prstDash val="solid"/>
          </a:ln>
        </p:spPr>
      </p:sp>
      <p:sp>
        <p:nvSpPr>
          <p:cNvPr id="14" name="badge text"/>
          <p:cNvSpPr txBox="1"/>
          <p:nvPr/>
        </p:nvSpPr>
        <p:spPr>
          <a:xfrm>
            <a:off x="713232" y="30998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balance text"/>
          <p:cNvSpPr txBox="1"/>
          <p:nvPr/>
        </p:nvSpPr>
        <p:spPr>
          <a:xfrm>
            <a:off x="1234440" y="2944368"/>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Least work first</a:t>
            </a:r>
            <a:endParaRPr lang="en-US" sz="1400" dirty="0"/>
          </a:p>
          <a:p>
            <a:pPr indent="0" marL="0">
              <a:buNone/>
            </a:pPr>
            <a:r>
              <a:rPr lang="en-US" sz="1200" dirty="0">
                <a:solidFill>
                  <a:srgbClr val="17292B"/>
                </a:solidFill>
              </a:rPr>
              <a:t>each claim goes to the eligible agent holding the least work so far (greedy balancing)</a:t>
            </a:r>
            <a:endParaRPr lang="en-US" sz="1400" dirty="0"/>
          </a:p>
        </p:txBody>
      </p:sp>
      <p:sp>
        <p:nvSpPr>
          <p:cNvPr id="16" name="balance step 4"/>
          <p:cNvSpPr/>
          <p:nvPr/>
        </p:nvSpPr>
        <p:spPr>
          <a:xfrm>
            <a:off x="548640" y="3730752"/>
            <a:ext cx="7040880" cy="694944"/>
          </a:xfrm>
          <a:prstGeom prst="roundRect">
            <a:avLst>
              <a:gd name="adj" fmla="val 15789"/>
            </a:avLst>
          </a:prstGeom>
          <a:solidFill>
            <a:srgbClr val="F2F6F5"/>
          </a:solidFill>
          <a:ln w="12700">
            <a:solidFill>
              <a:srgbClr val="F2F6F5"/>
            </a:solidFill>
            <a:prstDash val="solid"/>
          </a:ln>
        </p:spPr>
      </p:sp>
      <p:sp>
        <p:nvSpPr>
          <p:cNvPr id="17" name="badge"/>
          <p:cNvSpPr/>
          <p:nvPr/>
        </p:nvSpPr>
        <p:spPr>
          <a:xfrm>
            <a:off x="713232" y="3886200"/>
            <a:ext cx="384048" cy="384048"/>
          </a:xfrm>
          <a:prstGeom prst="ellipse">
            <a:avLst/>
          </a:prstGeom>
          <a:solidFill>
            <a:srgbClr val="14746F"/>
          </a:solidFill>
          <a:ln w="12700">
            <a:solidFill>
              <a:srgbClr val="14746F"/>
            </a:solidFill>
            <a:prstDash val="solid"/>
          </a:ln>
        </p:spPr>
      </p:sp>
      <p:sp>
        <p:nvSpPr>
          <p:cNvPr id="18" name="badge text"/>
          <p:cNvSpPr txBox="1"/>
          <p:nvPr/>
        </p:nvSpPr>
        <p:spPr>
          <a:xfrm>
            <a:off x="713232" y="3886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balance text"/>
          <p:cNvSpPr txBox="1"/>
          <p:nvPr/>
        </p:nvSpPr>
        <p:spPr>
          <a:xfrm>
            <a:off x="1234440" y="3730752"/>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Conflicts of interest</a:t>
            </a:r>
            <a:endParaRPr lang="en-US" sz="1400" dirty="0"/>
          </a:p>
          <a:p>
            <a:pPr indent="0" marL="0">
              <a:buNone/>
            </a:pPr>
            <a:r>
              <a:rPr lang="en-US" sz="1200" dirty="0">
                <a:solidFill>
                  <a:srgbClr val="17292B"/>
                </a:solidFill>
              </a:rPr>
              <a:t>nobody gets a later version of a claim they decided, a listed patient, or one they signed</a:t>
            </a:r>
            <a:endParaRPr lang="en-US" sz="1400" dirty="0"/>
          </a:p>
        </p:txBody>
      </p:sp>
      <p:sp>
        <p:nvSpPr>
          <p:cNvPr id="20" name="balance step 5"/>
          <p:cNvSpPr/>
          <p:nvPr/>
        </p:nvSpPr>
        <p:spPr>
          <a:xfrm>
            <a:off x="548640" y="4517136"/>
            <a:ext cx="7040880" cy="694944"/>
          </a:xfrm>
          <a:prstGeom prst="roundRect">
            <a:avLst>
              <a:gd name="adj" fmla="val 15789"/>
            </a:avLst>
          </a:prstGeom>
          <a:solidFill>
            <a:srgbClr val="F2F6F5"/>
          </a:solidFill>
          <a:ln w="12700">
            <a:solidFill>
              <a:srgbClr val="F2F6F5"/>
            </a:solidFill>
            <a:prstDash val="solid"/>
          </a:ln>
        </p:spPr>
      </p:sp>
      <p:sp>
        <p:nvSpPr>
          <p:cNvPr id="21" name="badge"/>
          <p:cNvSpPr/>
          <p:nvPr/>
        </p:nvSpPr>
        <p:spPr>
          <a:xfrm>
            <a:off x="713232" y="4672584"/>
            <a:ext cx="384048" cy="384048"/>
          </a:xfrm>
          <a:prstGeom prst="ellipse">
            <a:avLst/>
          </a:prstGeom>
          <a:solidFill>
            <a:srgbClr val="14746F"/>
          </a:solidFill>
          <a:ln w="12700">
            <a:solidFill>
              <a:srgbClr val="14746F"/>
            </a:solidFill>
            <a:prstDash val="solid"/>
          </a:ln>
        </p:spPr>
      </p:sp>
      <p:sp>
        <p:nvSpPr>
          <p:cNvPr id="22" name="badge text"/>
          <p:cNvSpPr txBox="1"/>
          <p:nvPr/>
        </p:nvSpPr>
        <p:spPr>
          <a:xfrm>
            <a:off x="713232" y="46725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3" name="balance text"/>
          <p:cNvSpPr txBox="1"/>
          <p:nvPr/>
        </p:nvSpPr>
        <p:spPr>
          <a:xfrm>
            <a:off x="1234440" y="4517136"/>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Only the newest version</a:t>
            </a:r>
            <a:endParaRPr lang="en-US" sz="1400" dirty="0"/>
          </a:p>
          <a:p>
            <a:pPr indent="0" marL="0">
              <a:buNone/>
            </a:pPr>
            <a:r>
              <a:rPr lang="en-US" sz="1200" dirty="0">
                <a:solidFill>
                  <a:srgbClr val="17292B"/>
                </a:solidFill>
              </a:rPr>
              <a:t>a lease on a superseded version is taken back</a:t>
            </a:r>
            <a:endParaRPr lang="en-US" sz="1400" dirty="0"/>
          </a:p>
        </p:txBody>
      </p:sp>
      <p:sp>
        <p:nvSpPr>
          <p:cNvPr id="24" name="balance step 6"/>
          <p:cNvSpPr/>
          <p:nvPr/>
        </p:nvSpPr>
        <p:spPr>
          <a:xfrm>
            <a:off x="548640" y="5303520"/>
            <a:ext cx="7040880" cy="694944"/>
          </a:xfrm>
          <a:prstGeom prst="roundRect">
            <a:avLst>
              <a:gd name="adj" fmla="val 15789"/>
            </a:avLst>
          </a:prstGeom>
          <a:solidFill>
            <a:srgbClr val="F2F6F5"/>
          </a:solidFill>
          <a:ln w="12700">
            <a:solidFill>
              <a:srgbClr val="F2F6F5"/>
            </a:solidFill>
            <a:prstDash val="solid"/>
          </a:ln>
        </p:spPr>
      </p:sp>
      <p:sp>
        <p:nvSpPr>
          <p:cNvPr id="25" name="badge"/>
          <p:cNvSpPr/>
          <p:nvPr/>
        </p:nvSpPr>
        <p:spPr>
          <a:xfrm>
            <a:off x="713232" y="5458968"/>
            <a:ext cx="384048" cy="384048"/>
          </a:xfrm>
          <a:prstGeom prst="ellipse">
            <a:avLst/>
          </a:prstGeom>
          <a:solidFill>
            <a:srgbClr val="14746F"/>
          </a:solidFill>
          <a:ln w="12700">
            <a:solidFill>
              <a:srgbClr val="14746F"/>
            </a:solidFill>
            <a:prstDash val="solid"/>
          </a:ln>
        </p:spPr>
      </p:sp>
      <p:sp>
        <p:nvSpPr>
          <p:cNvPr id="26" name="badge text"/>
          <p:cNvSpPr txBox="1"/>
          <p:nvPr/>
        </p:nvSpPr>
        <p:spPr>
          <a:xfrm>
            <a:off x="713232" y="54589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7" name="balance text"/>
          <p:cNvSpPr txBox="1"/>
          <p:nvPr/>
        </p:nvSpPr>
        <p:spPr>
          <a:xfrm>
            <a:off x="1234440" y="5303520"/>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Replayable</a:t>
            </a:r>
            <a:endParaRPr lang="en-US" sz="1400" dirty="0"/>
          </a:p>
          <a:p>
            <a:pPr indent="0" marL="0">
              <a:buNone/>
            </a:pPr>
            <a:r>
              <a:rPr lang="en-US" sz="1200" dirty="0">
                <a:solidFill>
                  <a:srgbClr val="17292B"/>
                </a:solidFill>
              </a:rPr>
              <a:t>each deal stores its inputs and seed; verify proves the assignments follow from them</a:t>
            </a:r>
            <a:endParaRPr lang="en-US" sz="1400" dirty="0"/>
          </a:p>
        </p:txBody>
      </p:sp>
      <p:sp>
        <p:nvSpPr>
          <p:cNvPr id="28" name="stat"/>
          <p:cNvSpPr txBox="1"/>
          <p:nvPr/>
        </p:nvSpPr>
        <p:spPr>
          <a:xfrm>
            <a:off x="8138160" y="1325880"/>
            <a:ext cx="34747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25 and 5</a:t>
            </a:r>
            <a:endParaRPr lang="en-US" sz="3600" dirty="0"/>
          </a:p>
        </p:txBody>
      </p:sp>
      <p:sp>
        <p:nvSpPr>
          <p:cNvPr id="29" name="stat label"/>
          <p:cNvSpPr txBox="1"/>
          <p:nvPr/>
        </p:nvSpPr>
        <p:spPr>
          <a:xfrm>
            <a:off x="8138160" y="2194560"/>
            <a:ext cx="3474720" cy="822960"/>
          </a:xfrm>
          <a:prstGeom prst="rect">
            <a:avLst/>
          </a:prstGeom>
          <a:noFill/>
          <a:ln/>
        </p:spPr>
        <p:txBody>
          <a:bodyPr wrap="square" lIns="0" tIns="0" rIns="0" bIns="0" rtlCol="0" anchor="t"/>
          <a:lstStyle/>
          <a:p>
            <a:pPr indent="0" marL="0">
              <a:buNone/>
            </a:pPr>
            <a:r>
              <a:rPr lang="en-US" sz="1400" dirty="0">
                <a:solidFill>
                  <a:srgbClr val="5C7173"/>
                </a:solidFill>
              </a:rPr>
              <a:t>claims an inbox holds, and the level at which it is topped up: nobody waits</a:t>
            </a:r>
            <a:endParaRPr lang="en-US" sz="1400" dirty="0"/>
          </a:p>
        </p:txBody>
      </p:sp>
      <p:sp>
        <p:nvSpPr>
          <p:cNvPr id="30" name="stat"/>
          <p:cNvSpPr txBox="1"/>
          <p:nvPr/>
        </p:nvSpPr>
        <p:spPr>
          <a:xfrm>
            <a:off x="8138160" y="2880360"/>
            <a:ext cx="34747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0.045</a:t>
            </a:r>
            <a:endParaRPr lang="en-US" sz="3600" dirty="0"/>
          </a:p>
        </p:txBody>
      </p:sp>
      <p:sp>
        <p:nvSpPr>
          <p:cNvPr id="31" name="stat label"/>
          <p:cNvSpPr txBox="1"/>
          <p:nvPr/>
        </p:nvSpPr>
        <p:spPr>
          <a:xfrm>
            <a:off x="8138160" y="3749040"/>
            <a:ext cx="3474720" cy="822960"/>
          </a:xfrm>
          <a:prstGeom prst="rect">
            <a:avLst/>
          </a:prstGeom>
          <a:noFill/>
          <a:ln/>
        </p:spPr>
        <p:txBody>
          <a:bodyPr wrap="square" lIns="0" tIns="0" rIns="0" bIns="0" rtlCol="0" anchor="t"/>
          <a:lstStyle/>
          <a:p>
            <a:pPr indent="0" marL="0">
              <a:buNone/>
            </a:pPr>
            <a:r>
              <a:rPr lang="en-US" sz="1400" dirty="0">
                <a:solidFill>
                  <a:srgbClr val="5C7173"/>
                </a:solidFill>
              </a:rPr>
              <a:t>spread of load among seniors (coefficient of variation), simulated</a:t>
            </a:r>
            <a:endParaRPr lang="en-US" sz="1400" dirty="0"/>
          </a:p>
        </p:txBody>
      </p:sp>
      <p:sp>
        <p:nvSpPr>
          <p:cNvPr id="32" name="stat"/>
          <p:cNvSpPr txBox="1"/>
          <p:nvPr/>
        </p:nvSpPr>
        <p:spPr>
          <a:xfrm>
            <a:off x="8138160" y="4434840"/>
            <a:ext cx="34747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0</a:t>
            </a:r>
            <a:endParaRPr lang="en-US" sz="3600" dirty="0"/>
          </a:p>
        </p:txBody>
      </p:sp>
      <p:sp>
        <p:nvSpPr>
          <p:cNvPr id="33" name="stat label"/>
          <p:cNvSpPr txBox="1"/>
          <p:nvPr/>
        </p:nvSpPr>
        <p:spPr>
          <a:xfrm>
            <a:off x="8138160" y="5303520"/>
            <a:ext cx="3474720" cy="822960"/>
          </a:xfrm>
          <a:prstGeom prst="rect">
            <a:avLst/>
          </a:prstGeom>
          <a:noFill/>
          <a:ln/>
        </p:spPr>
        <p:txBody>
          <a:bodyPr wrap="square" lIns="0" tIns="0" rIns="0" bIns="0" rtlCol="0" anchor="t"/>
          <a:lstStyle/>
          <a:p>
            <a:pPr indent="0" marL="0">
              <a:buNone/>
            </a:pPr>
            <a:r>
              <a:rPr lang="en-US" sz="1400" dirty="0">
                <a:solidFill>
                  <a:srgbClr val="5C7173"/>
                </a:solidFill>
              </a:rPr>
              <a:t>claims ever in two inboxes, over five simulated seeds</a:t>
            </a:r>
            <a:endParaRPr lang="en-US" sz="1400" dirty="0"/>
          </a:p>
        </p:txBody>
      </p:sp>
      <p:sp>
        <p:nvSpPr>
          <p:cNvPr id="34" name="footnote"/>
          <p:cNvSpPr txBox="1"/>
          <p:nvPr/>
        </p:nvSpPr>
        <p:spPr>
          <a:xfrm>
            <a:off x="548640" y="621792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Nobody assigns a particular claim to a particular person. Simulated people and clock; the invariants are what carries over.</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Who sees which claim: lanes, leases and four-eyes</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4480560" cy="914400"/>
        </p:xfrm>
        <a:graphic>
          <a:graphicData uri="http://schemas.openxmlformats.org/drawingml/2006/table">
            <a:tbl>
              <a:tblPr/>
              <a:tblGrid>
                <a:gridCol w="2103120"/>
                <a:gridCol w="1188720"/>
                <a:gridCol w="1188720"/>
              </a:tblGrid>
              <a:tr h="411480">
                <a:tc>
                  <a:txBody>
                    <a:bodyPr/>
                    <a:lstStyle/>
                    <a:p>
                      <a:pPr indent="0" marL="0">
                        <a:buNone/>
                      </a:pPr>
                      <a:r>
                        <a:rPr lang="en-US" sz="1400" b="1" dirty="0">
                          <a:solidFill>
                            <a:srgbClr val="FFFFFF"/>
                          </a:solidFill>
                        </a:rPr>
                        <a:t>Flagged finding</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High</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Medium</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11480">
                <a:tc>
                  <a:txBody>
                    <a:bodyPr/>
                    <a:lstStyle/>
                    <a:p>
                      <a:pPr indent="0" marL="0">
                        <a:buNone/>
                      </a:pPr>
                      <a:r>
                        <a:rPr lang="en-US" sz="1400" dirty="0">
                          <a:solidFill>
                            <a:srgbClr val="17292B"/>
                          </a:solidFill>
                        </a:rPr>
                        <a:t>FAIL</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4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2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7292B"/>
                          </a:solidFill>
                        </a:rPr>
                        <a:t>UNABLE_TO_ASSESS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2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1 point</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48640" y="2788920"/>
          <a:ext cx="4480560" cy="914400"/>
        </p:xfrm>
        <a:graphic>
          <a:graphicData uri="http://schemas.openxmlformats.org/drawingml/2006/table">
            <a:tbl>
              <a:tblPr/>
              <a:tblGrid>
                <a:gridCol w="1188720"/>
                <a:gridCol w="3291840"/>
              </a:tblGrid>
              <a:tr h="411480">
                <a:tc>
                  <a:txBody>
                    <a:bodyPr/>
                    <a:lstStyle/>
                    <a:p>
                      <a:pPr indent="0" marL="0">
                        <a:buNone/>
                      </a:pPr>
                      <a:r>
                        <a:rPr lang="en-US" sz="1400" b="1" dirty="0">
                          <a:solidFill>
                            <a:srgbClr val="FFFFFF"/>
                          </a:solidFill>
                        </a:rPr>
                        <a:t>Lane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When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11480">
                <a:tc>
                  <a:txBody>
                    <a:bodyPr/>
                    <a:lstStyle/>
                    <a:p>
                      <a:pPr indent="0" marL="0">
                        <a:buNone/>
                      </a:pPr>
                      <a:r>
                        <a:rPr lang="en-US" sz="1400" dirty="0">
                          <a:solidFill>
                            <a:srgbClr val="17292B"/>
                          </a:solidFill>
                        </a:rPr>
                        <a:t>Green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nothing flagged</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7292B"/>
                          </a:solidFill>
                        </a:rPr>
                        <a:t>A</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1 to 3 flagged, score under 10</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11480">
                <a:tc>
                  <a:txBody>
                    <a:bodyPr/>
                    <a:lstStyle/>
                    <a:p>
                      <a:pPr indent="0" marL="0">
                        <a:buNone/>
                      </a:pPr>
                      <a:r>
                        <a:rPr lang="en-US" sz="1400" dirty="0">
                          <a:solidFill>
                            <a:srgbClr val="17292B"/>
                          </a:solidFill>
                        </a:rPr>
                        <a:t>B</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4 or more flagged, or score of 10 or more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6" name="bullets"/>
          <p:cNvSpPr txBox="1"/>
          <p:nvPr/>
        </p:nvSpPr>
        <p:spPr>
          <a:xfrm>
            <a:off x="548640" y="4572000"/>
            <a:ext cx="4480560" cy="15544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7292B"/>
                </a:solidFill>
              </a:rPr>
              <a:t>High severity: a senior decides, a different senior countersigns blind. A third settles a disagreement</a:t>
            </a:r>
            <a:endParaRPr lang="en-US" sz="1400" dirty="0"/>
          </a:p>
          <a:p>
            <a:pPr marL="203200" indent="-203200">
              <a:spcAft>
                <a:spcPts val="600"/>
              </a:spcAft>
              <a:buSzPct val="100000"/>
              <a:buChar char="•"/>
            </a:pPr>
            <a:r>
              <a:rPr lang="en-US" sz="1400" dirty="0">
                <a:solidFill>
                  <a:srgbClr val="17292B"/>
                </a:solidFill>
              </a:rPr>
              <a:t>Leases return abandoned claims to the pool</a:t>
            </a:r>
            <a:endParaRPr lang="en-US" sz="1400" dirty="0"/>
          </a:p>
          <a:p>
            <a:pPr marL="203200" indent="-203200">
              <a:spcAft>
                <a:spcPts val="600"/>
              </a:spcAft>
              <a:buSzPct val="100000"/>
              <a:buChar char="•"/>
            </a:pPr>
            <a:r>
              <a:rPr lang="en-US" sz="1400" dirty="0">
                <a:solidFill>
                  <a:srgbClr val="17292B"/>
                </a:solidFill>
              </a:rPr>
              <a:t>No route assigns or moves a claim</a:t>
            </a:r>
            <a:endParaRPr lang="en-US" sz="1400" dirty="0"/>
          </a:p>
        </p:txBody>
      </p:sp>
      <p:graphicFrame>
        <p:nvGraphicFramePr>
          <p:cNvPr id="7" name="Chart 0" descr=""/>
          <p:cNvGraphicFramePr/>
          <p:nvPr/>
        </p:nvGraphicFramePr>
        <p:xfrm>
          <a:off x="5486400" y="1417320"/>
          <a:ext cx="6126480" cy="4206240"/>
        </p:xfrm>
        <a:graphic xmlns:a="http://schemas.openxmlformats.org/drawingml/2006/main">
          <a:graphicData uri="http://schemas.openxmlformats.org/drawingml/2006/chart">
            <c:chart xmlns:c="http://schemas.openxmlformats.org/drawingml/2006/chart" r:id="rId1"/>
          </a:graphicData>
        </a:graphic>
      </p:graphicFrame>
      <p:sp>
        <p:nvSpPr>
          <p:cNvPr id="8" name="footnote"/>
          <p:cNvSpPr txBox="1"/>
          <p:nvPr/>
        </p:nvSpPr>
        <p:spPr>
          <a:xfrm>
            <a:off x="5486400" y="5715000"/>
            <a:ext cx="6126480" cy="365760"/>
          </a:xfrm>
          <a:prstGeom prst="rect">
            <a:avLst/>
          </a:prstGeom>
          <a:noFill/>
          <a:ln/>
        </p:spPr>
        <p:txBody>
          <a:bodyPr wrap="square" lIns="0" tIns="0" rIns="0" bIns="0" rtlCol="0" anchor="ctr"/>
          <a:lstStyle/>
          <a:p>
            <a:pPr indent="0" marL="0">
              <a:buNone/>
            </a:pPr>
            <a:r>
              <a:rPr lang="en-US" sz="1100" i="1" dirty="0">
                <a:solidFill>
                  <a:srgbClr val="5C7173"/>
                </a:solidFill>
              </a:rPr>
              <a:t>Simulated people and clock, seed 1, five seeds checked. 253 of 500 claims need a senior, so seniors are the bottleneck.</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cache, and what is never cached</a:t>
            </a:r>
            <a:endParaRPr lang="en-US" sz="32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5120640"/>
                <a:gridCol w="2743200"/>
                <a:gridCol w="3200400"/>
              </a:tblGrid>
              <a:tr h="548640">
                <a:tc>
                  <a:txBody>
                    <a:bodyPr/>
                    <a:lstStyle/>
                    <a:p>
                      <a:pPr indent="0" marL="0">
                        <a:buNone/>
                      </a:pPr>
                      <a:r>
                        <a:rPr lang="en-US" sz="1350" b="1" dirty="0">
                          <a:solidFill>
                            <a:srgbClr val="FFFFFF"/>
                          </a:solidFill>
                        </a:rPr>
                        <a:t>What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Cached?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Why</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48640">
                <a:tc>
                  <a:txBody>
                    <a:bodyPr/>
                    <a:lstStyle/>
                    <a:p>
                      <a:pPr indent="0" marL="0">
                        <a:buNone/>
                      </a:pPr>
                      <a:r>
                        <a:rPr lang="en-US" sz="1350" dirty="0">
                          <a:solidFill>
                            <a:srgbClr val="17292B"/>
                          </a:solidFill>
                        </a:rPr>
                        <a:t>Explanation template with {value} and {line}, keyed by rule, failure shape, prompt version, model</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b="1" dirty="0">
                          <a:solidFill>
                            <a:srgbClr val="14746F"/>
                          </a:solidFill>
                        </a:rPr>
                        <a:t>Yes, after the guard approved a fill</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No claim value in the key or the text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7292B"/>
                          </a:solidFill>
                        </a:rPr>
                        <a:t>Filled text, claim values, evidence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b="1" dirty="0">
                          <a:solidFill>
                            <a:srgbClr val="C8553D"/>
                          </a:solidFill>
                        </a:rPr>
                        <a:t>Never</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Would hold identifiers</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48640">
                <a:tc>
                  <a:txBody>
                    <a:bodyPr/>
                    <a:lstStyle/>
                    <a:p>
                      <a:pPr indent="0" marL="0">
                        <a:buNone/>
                      </a:pPr>
                      <a:r>
                        <a:rPr lang="en-US" sz="1350" dirty="0">
                          <a:solidFill>
                            <a:srgbClr val="17292B"/>
                          </a:solidFill>
                        </a:rPr>
                        <a:t>Permissions, sessions, clearance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b="1" dirty="0">
                          <a:solidFill>
                            <a:srgbClr val="C8553D"/>
                          </a:solidFill>
                        </a:rPr>
                        <a:t>Never</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A demotion must apply at once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7292B"/>
                          </a:solidFill>
                        </a:rPr>
                        <a:t>Rule results of a claim</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b="1" dirty="0">
                          <a:solidFill>
                            <a:srgbClr val="17292B"/>
                          </a:solidFill>
                        </a:rPr>
                        <a:t>In the claim document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The receipt hashes them, so replay can compare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stat"/>
          <p:cNvSpPr txBox="1"/>
          <p:nvPr/>
        </p:nvSpPr>
        <p:spPr>
          <a:xfrm>
            <a:off x="548640" y="4526280"/>
            <a:ext cx="3291840" cy="822960"/>
          </a:xfrm>
          <a:prstGeom prst="rect">
            <a:avLst/>
          </a:prstGeom>
          <a:noFill/>
          <a:ln/>
        </p:spPr>
        <p:txBody>
          <a:bodyPr wrap="square" lIns="0" tIns="0" rIns="0" bIns="0" rtlCol="0" anchor="b"/>
          <a:lstStyle/>
          <a:p>
            <a:pPr indent="0" marL="0">
              <a:buNone/>
            </a:pPr>
            <a:r>
              <a:rPr lang="en-US" sz="3000" b="1" dirty="0">
                <a:solidFill>
                  <a:srgbClr val="14746F"/>
                </a:solidFill>
                <a:latin typeface="Cambria" pitchFamily="34" charset="0"/>
                <a:ea typeface="Cambria" pitchFamily="34" charset="-122"/>
                <a:cs typeface="Cambria" pitchFamily="34" charset="-120"/>
              </a:rPr>
              <a:t>90.5% to 97.7%</a:t>
            </a:r>
            <a:endParaRPr lang="en-US" sz="3000" dirty="0"/>
          </a:p>
        </p:txBody>
      </p:sp>
      <p:sp>
        <p:nvSpPr>
          <p:cNvPr id="6" name="stat label"/>
          <p:cNvSpPr txBox="1"/>
          <p:nvPr/>
        </p:nvSpPr>
        <p:spPr>
          <a:xfrm>
            <a:off x="548640" y="5394960"/>
            <a:ext cx="3291840" cy="822960"/>
          </a:xfrm>
          <a:prstGeom prst="rect">
            <a:avLst/>
          </a:prstGeom>
          <a:noFill/>
          <a:ln/>
        </p:spPr>
        <p:txBody>
          <a:bodyPr wrap="square" lIns="0" tIns="0" rIns="0" bIns="0" rtlCol="0" anchor="t"/>
          <a:lstStyle/>
          <a:p>
            <a:pPr indent="0" marL="0">
              <a:buNone/>
            </a:pPr>
            <a:r>
              <a:rPr lang="en-US" sz="1400" dirty="0">
                <a:solidFill>
                  <a:srgbClr val="5C7173"/>
                </a:solidFill>
              </a:rPr>
              <a:t>of 777 findings need no model call: empty cache, then warm (real model, 399 claims)</a:t>
            </a:r>
            <a:endParaRPr lang="en-US" sz="1400" dirty="0"/>
          </a:p>
        </p:txBody>
      </p:sp>
      <p:sp>
        <p:nvSpPr>
          <p:cNvPr id="7" name="stat"/>
          <p:cNvSpPr txBox="1"/>
          <p:nvPr/>
        </p:nvSpPr>
        <p:spPr>
          <a:xfrm>
            <a:off x="4297680" y="4526280"/>
            <a:ext cx="329184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5 failures</a:t>
            </a:r>
            <a:endParaRPr lang="en-US" sz="3200" dirty="0"/>
          </a:p>
        </p:txBody>
      </p:sp>
      <p:sp>
        <p:nvSpPr>
          <p:cNvPr id="8" name="stat label"/>
          <p:cNvSpPr txBox="1"/>
          <p:nvPr/>
        </p:nvSpPr>
        <p:spPr>
          <a:xfrm>
            <a:off x="4297680" y="5394960"/>
            <a:ext cx="3291840" cy="822960"/>
          </a:xfrm>
          <a:prstGeom prst="rect">
            <a:avLst/>
          </a:prstGeom>
          <a:noFill/>
          <a:ln/>
        </p:spPr>
        <p:txBody>
          <a:bodyPr wrap="square" lIns="0" tIns="0" rIns="0" bIns="0" rtlCol="0" anchor="t"/>
          <a:lstStyle/>
          <a:p>
            <a:pPr indent="0" marL="0">
              <a:buNone/>
            </a:pPr>
            <a:r>
              <a:rPr lang="en-US" sz="1400" dirty="0">
                <a:solidFill>
                  <a:srgbClr val="5C7173"/>
                </a:solidFill>
              </a:rPr>
              <a:t>in a row open the breaker. One probe after 20 s</a:t>
            </a:r>
            <a:endParaRPr lang="en-US" sz="1400" dirty="0"/>
          </a:p>
        </p:txBody>
      </p:sp>
      <p:sp>
        <p:nvSpPr>
          <p:cNvPr id="9" name="stat"/>
          <p:cNvSpPr txBox="1"/>
          <p:nvPr/>
        </p:nvSpPr>
        <p:spPr>
          <a:xfrm>
            <a:off x="8046720" y="4526280"/>
            <a:ext cx="34747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90 s</a:t>
            </a:r>
            <a:endParaRPr lang="en-US" sz="3200" dirty="0"/>
          </a:p>
        </p:txBody>
      </p:sp>
      <p:sp>
        <p:nvSpPr>
          <p:cNvPr id="10" name="stat label"/>
          <p:cNvSpPr txBox="1"/>
          <p:nvPr/>
        </p:nvSpPr>
        <p:spPr>
          <a:xfrm>
            <a:off x="8046720" y="5394960"/>
            <a:ext cx="3474720" cy="822960"/>
          </a:xfrm>
          <a:prstGeom prst="rect">
            <a:avLst/>
          </a:prstGeom>
          <a:noFill/>
          <a:ln/>
        </p:spPr>
        <p:txBody>
          <a:bodyPr wrap="square" lIns="0" tIns="0" rIns="0" bIns="0" rtlCol="0" anchor="t"/>
          <a:lstStyle/>
          <a:p>
            <a:pPr indent="0" marL="0">
              <a:buNone/>
            </a:pPr>
            <a:r>
              <a:rPr lang="en-US" sz="1400" dirty="0">
                <a:solidFill>
                  <a:srgbClr val="5C7173"/>
                </a:solidFill>
              </a:rPr>
              <a:t>hard deadline. A late or rejected answer leaves the engine's text</a:t>
            </a:r>
            <a:endParaRPr lang="en-US" sz="1400" dirty="0"/>
          </a:p>
        </p:txBody>
      </p:sp>
      <p:sp>
        <p:nvSpPr>
          <p:cNvPr id="11" name="footnote"/>
          <p:cNvSpPr txBox="1"/>
          <p:nvPr/>
        </p:nvSpPr>
        <p:spPr>
          <a:xfrm>
            <a:off x="548640" y="630936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Budgets are counted in the database, not Redis (defaults 30 a minute, 2,000 a day; the load test raised the minute budget to 600). A template the guard refuses is not cached.</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AI explains. It cannot decide or hide a finding</a:t>
            </a:r>
            <a:endParaRPr lang="en-US" sz="3200" dirty="0"/>
          </a:p>
        </p:txBody>
      </p:sp>
      <p:sp>
        <p:nvSpPr>
          <p:cNvPr id="4" name="grounding 1"/>
          <p:cNvSpPr/>
          <p:nvPr/>
        </p:nvSpPr>
        <p:spPr>
          <a:xfrm>
            <a:off x="548640" y="1463040"/>
            <a:ext cx="6583680" cy="914400"/>
          </a:xfrm>
          <a:prstGeom prst="roundRect">
            <a:avLst>
              <a:gd name="adj" fmla="val 12000"/>
            </a:avLst>
          </a:prstGeom>
          <a:solidFill>
            <a:srgbClr val="F2F6F5"/>
          </a:solidFill>
          <a:ln w="12700">
            <a:solidFill>
              <a:srgbClr val="F2F6F5"/>
            </a:solidFill>
            <a:prstDash val="solid"/>
          </a:ln>
        </p:spPr>
      </p:sp>
      <p:sp>
        <p:nvSpPr>
          <p:cNvPr id="5" name="badge"/>
          <p:cNvSpPr/>
          <p:nvPr/>
        </p:nvSpPr>
        <p:spPr>
          <a:xfrm>
            <a:off x="731520" y="1728216"/>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3152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grounding text"/>
          <p:cNvSpPr txBox="1"/>
          <p:nvPr/>
        </p:nvSpPr>
        <p:spPr>
          <a:xfrm>
            <a:off x="1280160" y="1463040"/>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The model sees only the rule text</a:t>
            </a:r>
            <a:endParaRPr lang="en-US" sz="1500" dirty="0"/>
          </a:p>
          <a:p>
            <a:pPr indent="0" marL="0">
              <a:buNone/>
            </a:pPr>
            <a:r>
              <a:rPr lang="en-US" sz="1250" dirty="0">
                <a:solidFill>
                  <a:srgbClr val="17292B"/>
                </a:solidFill>
              </a:rPr>
              <a:t>never a claim value; placeholders are filled in afterwards</a:t>
            </a:r>
            <a:endParaRPr lang="en-US" sz="1500" dirty="0"/>
          </a:p>
        </p:txBody>
      </p:sp>
      <p:sp>
        <p:nvSpPr>
          <p:cNvPr id="8" name="grounding 2"/>
          <p:cNvSpPr/>
          <p:nvPr/>
        </p:nvSpPr>
        <p:spPr>
          <a:xfrm>
            <a:off x="548640" y="2487168"/>
            <a:ext cx="6583680" cy="914400"/>
          </a:xfrm>
          <a:prstGeom prst="roundRect">
            <a:avLst>
              <a:gd name="adj" fmla="val 12000"/>
            </a:avLst>
          </a:prstGeom>
          <a:solidFill>
            <a:srgbClr val="F2F6F5"/>
          </a:solidFill>
          <a:ln w="12700">
            <a:solidFill>
              <a:srgbClr val="F2F6F5"/>
            </a:solidFill>
            <a:prstDash val="solid"/>
          </a:ln>
        </p:spPr>
      </p:sp>
      <p:sp>
        <p:nvSpPr>
          <p:cNvPr id="9" name="badge"/>
          <p:cNvSpPr/>
          <p:nvPr/>
        </p:nvSpPr>
        <p:spPr>
          <a:xfrm>
            <a:off x="731520" y="2752344"/>
            <a:ext cx="384048" cy="384048"/>
          </a:xfrm>
          <a:prstGeom prst="ellipse">
            <a:avLst/>
          </a:prstGeom>
          <a:solidFill>
            <a:srgbClr val="14746F"/>
          </a:solidFill>
          <a:ln w="12700">
            <a:solidFill>
              <a:srgbClr val="14746F"/>
            </a:solidFill>
            <a:prstDash val="solid"/>
          </a:ln>
        </p:spPr>
      </p:sp>
      <p:sp>
        <p:nvSpPr>
          <p:cNvPr id="10" name="badge text"/>
          <p:cNvSpPr txBox="1"/>
          <p:nvPr/>
        </p:nvSpPr>
        <p:spPr>
          <a:xfrm>
            <a:off x="731520"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grounding text"/>
          <p:cNvSpPr txBox="1"/>
          <p:nvPr/>
        </p:nvSpPr>
        <p:spPr>
          <a:xfrm>
            <a:off x="1280160" y="2487168"/>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Its text is checked mechanically</a:t>
            </a:r>
            <a:endParaRPr lang="en-US" sz="1500" dirty="0"/>
          </a:p>
          <a:p>
            <a:pPr indent="0" marL="0">
              <a:buNone/>
            </a:pPr>
            <a:r>
              <a:rPr lang="en-US" sz="1250" dirty="0">
                <a:solidFill>
                  <a:srgbClr val="17292B"/>
                </a:solidFill>
              </a:rPr>
              <a:t>invented values, clinical or fraud talk, approval or payment words (also disguised), garbled script, repetition</a:t>
            </a:r>
            <a:endParaRPr lang="en-US" sz="1500" dirty="0"/>
          </a:p>
        </p:txBody>
      </p:sp>
      <p:sp>
        <p:nvSpPr>
          <p:cNvPr id="12" name="grounding 3"/>
          <p:cNvSpPr/>
          <p:nvPr/>
        </p:nvSpPr>
        <p:spPr>
          <a:xfrm>
            <a:off x="548640" y="3511296"/>
            <a:ext cx="6583680" cy="914400"/>
          </a:xfrm>
          <a:prstGeom prst="roundRect">
            <a:avLst>
              <a:gd name="adj" fmla="val 12000"/>
            </a:avLst>
          </a:prstGeom>
          <a:solidFill>
            <a:srgbClr val="F2F6F5"/>
          </a:solidFill>
          <a:ln w="12700">
            <a:solidFill>
              <a:srgbClr val="F2F6F5"/>
            </a:solidFill>
            <a:prstDash val="solid"/>
          </a:ln>
        </p:spPr>
      </p:sp>
      <p:sp>
        <p:nvSpPr>
          <p:cNvPr id="13" name="badge"/>
          <p:cNvSpPr/>
          <p:nvPr/>
        </p:nvSpPr>
        <p:spPr>
          <a:xfrm>
            <a:off x="731520" y="3776472"/>
            <a:ext cx="384048" cy="384048"/>
          </a:xfrm>
          <a:prstGeom prst="ellipse">
            <a:avLst/>
          </a:prstGeom>
          <a:solidFill>
            <a:srgbClr val="14746F"/>
          </a:solidFill>
          <a:ln w="12700">
            <a:solidFill>
              <a:srgbClr val="14746F"/>
            </a:solidFill>
            <a:prstDash val="solid"/>
          </a:ln>
        </p:spPr>
      </p:sp>
      <p:sp>
        <p:nvSpPr>
          <p:cNvPr id="14" name="badge text"/>
          <p:cNvSpPr txBox="1"/>
          <p:nvPr/>
        </p:nvSpPr>
        <p:spPr>
          <a:xfrm>
            <a:off x="731520" y="3776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grounding text"/>
          <p:cNvSpPr txBox="1"/>
          <p:nvPr/>
        </p:nvSpPr>
        <p:spPr>
          <a:xfrm>
            <a:off x="1280160" y="3511296"/>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Failure leaves the engine's text</a:t>
            </a:r>
            <a:endParaRPr lang="en-US" sz="1500" dirty="0"/>
          </a:p>
          <a:p>
            <a:pPr indent="0" marL="0">
              <a:buNone/>
            </a:pPr>
            <a:r>
              <a:rPr lang="en-US" sz="1250" dirty="0">
                <a:solidFill>
                  <a:srgbClr val="17292B"/>
                </a:solidFill>
              </a:rPr>
              <a:t>slow, down, over budget or rejected: the finding and its explanation stay</a:t>
            </a:r>
            <a:endParaRPr lang="en-US" sz="1500" dirty="0"/>
          </a:p>
        </p:txBody>
      </p:sp>
      <p:sp>
        <p:nvSpPr>
          <p:cNvPr id="16" name="grounding 4"/>
          <p:cNvSpPr/>
          <p:nvPr/>
        </p:nvSpPr>
        <p:spPr>
          <a:xfrm>
            <a:off x="548640" y="4535424"/>
            <a:ext cx="6583680" cy="914400"/>
          </a:xfrm>
          <a:prstGeom prst="roundRect">
            <a:avLst>
              <a:gd name="adj" fmla="val 12000"/>
            </a:avLst>
          </a:prstGeom>
          <a:solidFill>
            <a:srgbClr val="F2F6F5"/>
          </a:solidFill>
          <a:ln w="12700">
            <a:solidFill>
              <a:srgbClr val="F2F6F5"/>
            </a:solidFill>
            <a:prstDash val="solid"/>
          </a:ln>
        </p:spPr>
      </p:sp>
      <p:sp>
        <p:nvSpPr>
          <p:cNvPr id="17" name="badge"/>
          <p:cNvSpPr/>
          <p:nvPr/>
        </p:nvSpPr>
        <p:spPr>
          <a:xfrm>
            <a:off x="731520" y="4800600"/>
            <a:ext cx="384048" cy="384048"/>
          </a:xfrm>
          <a:prstGeom prst="ellipse">
            <a:avLst/>
          </a:prstGeom>
          <a:solidFill>
            <a:srgbClr val="14746F"/>
          </a:solidFill>
          <a:ln w="12700">
            <a:solidFill>
              <a:srgbClr val="14746F"/>
            </a:solidFill>
            <a:prstDash val="solid"/>
          </a:ln>
        </p:spPr>
      </p:sp>
      <p:sp>
        <p:nvSpPr>
          <p:cNvPr id="18" name="badge text"/>
          <p:cNvSpPr txBox="1"/>
          <p:nvPr/>
        </p:nvSpPr>
        <p:spPr>
          <a:xfrm>
            <a:off x="731520" y="4800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grounding text"/>
          <p:cNvSpPr txBox="1"/>
          <p:nvPr/>
        </p:nvSpPr>
        <p:spPr>
          <a:xfrm>
            <a:off x="1280160" y="4535424"/>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Prompt injection was red-teamed</a:t>
            </a:r>
            <a:endParaRPr lang="en-US" sz="1500" dirty="0"/>
          </a:p>
          <a:p>
            <a:pPr indent="0" marL="0">
              <a:buNone/>
            </a:pPr>
            <a:r>
              <a:rPr lang="en-US" sz="1250" dirty="0">
                <a:solidFill>
                  <a:srgbClr val="17292B"/>
                </a:solidFill>
              </a:rPr>
              <a:t>a real model found one hole, it was closed and a test added</a:t>
            </a:r>
            <a:endParaRPr lang="en-US" sz="1500" dirty="0"/>
          </a:p>
        </p:txBody>
      </p:sp>
      <p:sp>
        <p:nvSpPr>
          <p:cNvPr id="20" name="what-if-wrong card"/>
          <p:cNvSpPr/>
          <p:nvPr/>
        </p:nvSpPr>
        <p:spPr>
          <a:xfrm>
            <a:off x="7406640" y="1463040"/>
            <a:ext cx="4206240" cy="3977640"/>
          </a:xfrm>
          <a:prstGeom prst="roundRect">
            <a:avLst>
              <a:gd name="adj" fmla="val 2759"/>
            </a:avLst>
          </a:prstGeom>
          <a:solidFill>
            <a:srgbClr val="0E3B3F"/>
          </a:solidFill>
          <a:ln w="12700">
            <a:solidFill>
              <a:srgbClr val="0E3B3F"/>
            </a:solidFill>
            <a:prstDash val="solid"/>
          </a:ln>
        </p:spPr>
      </p:sp>
      <p:sp>
        <p:nvSpPr>
          <p:cNvPr id="21" name="h"/>
          <p:cNvSpPr txBox="1"/>
          <p:nvPr/>
        </p:nvSpPr>
        <p:spPr>
          <a:xfrm>
            <a:off x="7635240" y="1600200"/>
            <a:ext cx="374904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When the model is wrong</a:t>
            </a:r>
            <a:endParaRPr lang="en-US" sz="1800" dirty="0"/>
          </a:p>
        </p:txBody>
      </p:sp>
      <p:sp>
        <p:nvSpPr>
          <p:cNvPr id="22" name="wrong text"/>
          <p:cNvSpPr txBox="1"/>
          <p:nvPr/>
        </p:nvSpPr>
        <p:spPr>
          <a:xfrm>
            <a:off x="7635240" y="2103120"/>
            <a:ext cx="3749040" cy="3200400"/>
          </a:xfrm>
          <a:prstGeom prst="rect">
            <a:avLst/>
          </a:prstGeom>
          <a:noFill/>
          <a:ln/>
        </p:spPr>
        <p:txBody>
          <a:bodyPr wrap="square" lIns="0" tIns="0" rIns="0" bIns="0" rtlCol="0" anchor="t"/>
          <a:lstStyle/>
          <a:p>
            <a:pPr indent="0" marL="0">
              <a:spcAft>
                <a:spcPts val="800"/>
              </a:spcAft>
              <a:buNone/>
            </a:pPr>
            <a:r>
              <a:rPr lang="en-US" sz="1400" dirty="0">
                <a:solidFill>
                  <a:srgbClr val="DDEEEB"/>
                </a:solidFill>
              </a:rPr>
              <a:t>A statement the finding cannot support is rejected before anyone reads it.</a:t>
            </a:r>
            <a:endParaRPr lang="en-US" sz="1400" dirty="0"/>
          </a:p>
          <a:p>
            <a:pPr indent="0" marL="0">
              <a:spcAft>
                <a:spcPts val="800"/>
              </a:spcAft>
              <a:buNone/>
            </a:pPr>
            <a:r>
              <a:rPr lang="en-US" sz="1400" dirty="0">
                <a:solidFill>
                  <a:srgbClr val="DDEEEB"/>
                </a:solidFill>
              </a:rPr>
              <a:t>The reviewer sees the engine's own explanation instead, marked by its source.</a:t>
            </a:r>
            <a:endParaRPr lang="en-US" sz="1400" dirty="0"/>
          </a:p>
          <a:p>
            <a:pPr indent="0" marL="0">
              <a:buNone/>
            </a:pPr>
            <a:r>
              <a:rPr lang="en-US" sz="1400" dirty="0">
                <a:solidFill>
                  <a:srgbClr val="DDEEEB"/>
                </a:solidFill>
              </a:rPr>
              <a:t>Honest note: in one 25-case run, 17 answers fell back to the template (timeouts and server errors). The fallback worked, and the live-answer sample is small.</a:t>
            </a:r>
            <a:endParaRPr lang="en-US" sz="1400" dirty="0"/>
          </a:p>
        </p:txBody>
      </p:sp>
      <p:sp>
        <p:nvSpPr>
          <p:cNvPr id="23" name="footnote"/>
          <p:cNvSpPr txBox="1"/>
          <p:nvPr/>
        </p:nvSpPr>
        <p:spPr>
          <a:xfrm>
            <a:off x="548640" y="566928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The same guard checks every cached template after it is filled. Nothing in this path can change a status.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Ask the rulebook: answers that quote, never invent</a:t>
            </a:r>
            <a:endParaRPr lang="en-US" sz="3200" dirty="0"/>
          </a:p>
        </p:txBody>
      </p:sp>
      <p:sp>
        <p:nvSpPr>
          <p:cNvPr id="4" name="stat"/>
          <p:cNvSpPr txBox="1"/>
          <p:nvPr/>
        </p:nvSpPr>
        <p:spPr>
          <a:xfrm>
            <a:off x="548640" y="1371600"/>
            <a:ext cx="329184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88%</a:t>
            </a:r>
            <a:endParaRPr lang="en-US" sz="4400" dirty="0"/>
          </a:p>
        </p:txBody>
      </p:sp>
      <p:sp>
        <p:nvSpPr>
          <p:cNvPr id="5" name="stat label"/>
          <p:cNvSpPr txBox="1"/>
          <p:nvPr/>
        </p:nvSpPr>
        <p:spPr>
          <a:xfrm>
            <a:off x="548640" y="2240280"/>
            <a:ext cx="3291840" cy="822960"/>
          </a:xfrm>
          <a:prstGeom prst="rect">
            <a:avLst/>
          </a:prstGeom>
          <a:noFill/>
          <a:ln/>
        </p:spPr>
        <p:txBody>
          <a:bodyPr wrap="square" lIns="0" tIns="0" rIns="0" bIns="0" rtlCol="0" anchor="t"/>
          <a:lstStyle/>
          <a:p>
            <a:pPr indent="0" marL="0">
              <a:buNone/>
            </a:pPr>
            <a:r>
              <a:rPr lang="en-US" sz="1400" dirty="0">
                <a:solidFill>
                  <a:srgbClr val="5C7173"/>
                </a:solidFill>
              </a:rPr>
              <a:t>right passage first, on 26 reviewer-style questions</a:t>
            </a:r>
            <a:endParaRPr lang="en-US" sz="1400" dirty="0"/>
          </a:p>
        </p:txBody>
      </p:sp>
      <p:sp>
        <p:nvSpPr>
          <p:cNvPr id="6" name="stat"/>
          <p:cNvSpPr txBox="1"/>
          <p:nvPr/>
        </p:nvSpPr>
        <p:spPr>
          <a:xfrm>
            <a:off x="4297680" y="1371600"/>
            <a:ext cx="329184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96%</a:t>
            </a:r>
            <a:endParaRPr lang="en-US" sz="4400" dirty="0"/>
          </a:p>
        </p:txBody>
      </p:sp>
      <p:sp>
        <p:nvSpPr>
          <p:cNvPr id="7" name="stat label"/>
          <p:cNvSpPr txBox="1"/>
          <p:nvPr/>
        </p:nvSpPr>
        <p:spPr>
          <a:xfrm>
            <a:off x="4297680" y="2240280"/>
            <a:ext cx="3291840" cy="822960"/>
          </a:xfrm>
          <a:prstGeom prst="rect">
            <a:avLst/>
          </a:prstGeom>
          <a:noFill/>
          <a:ln/>
        </p:spPr>
        <p:txBody>
          <a:bodyPr wrap="square" lIns="0" tIns="0" rIns="0" bIns="0" rtlCol="0" anchor="t"/>
          <a:lstStyle/>
          <a:p>
            <a:pPr indent="0" marL="0">
              <a:buNone/>
            </a:pPr>
            <a:r>
              <a:rPr lang="en-US" sz="1400" dirty="0">
                <a:solidFill>
                  <a:srgbClr val="5C7173"/>
                </a:solidFill>
              </a:rPr>
              <a:t>right passage in the top 3</a:t>
            </a:r>
            <a:endParaRPr lang="en-US" sz="1400" dirty="0"/>
          </a:p>
        </p:txBody>
      </p:sp>
      <p:sp>
        <p:nvSpPr>
          <p:cNvPr id="8" name="stat"/>
          <p:cNvSpPr txBox="1"/>
          <p:nvPr/>
        </p:nvSpPr>
        <p:spPr>
          <a:xfrm>
            <a:off x="8046720" y="1371600"/>
            <a:ext cx="356616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5 of 5</a:t>
            </a:r>
            <a:endParaRPr lang="en-US" sz="4400" dirty="0"/>
          </a:p>
        </p:txBody>
      </p:sp>
      <p:sp>
        <p:nvSpPr>
          <p:cNvPr id="9" name="stat label"/>
          <p:cNvSpPr txBox="1"/>
          <p:nvPr/>
        </p:nvSpPr>
        <p:spPr>
          <a:xfrm>
            <a:off x="8046720" y="2240280"/>
            <a:ext cx="3566160" cy="822960"/>
          </a:xfrm>
          <a:prstGeom prst="rect">
            <a:avLst/>
          </a:prstGeom>
          <a:noFill/>
          <a:ln/>
        </p:spPr>
        <p:txBody>
          <a:bodyPr wrap="square" lIns="0" tIns="0" rIns="0" bIns="0" rtlCol="0" anchor="t"/>
          <a:lstStyle/>
          <a:p>
            <a:pPr indent="0" marL="0">
              <a:buNone/>
            </a:pPr>
            <a:r>
              <a:rPr lang="en-US" sz="1400" dirty="0">
                <a:solidFill>
                  <a:srgbClr val="5C7173"/>
                </a:solidFill>
              </a:rPr>
              <a:t>off-topic or clinical questions refused</a:t>
            </a:r>
            <a:endParaRPr lang="en-US" sz="1400" dirty="0"/>
          </a:p>
        </p:txBody>
      </p:sp>
      <p:sp>
        <p:nvSpPr>
          <p:cNvPr id="10" name="rag how"/>
          <p:cNvSpPr/>
          <p:nvPr/>
        </p:nvSpPr>
        <p:spPr>
          <a:xfrm>
            <a:off x="548640" y="3200400"/>
            <a:ext cx="5394960" cy="2880360"/>
          </a:xfrm>
          <a:prstGeom prst="roundRect">
            <a:avLst>
              <a:gd name="adj" fmla="val 3810"/>
            </a:avLst>
          </a:prstGeom>
          <a:solidFill>
            <a:srgbClr val="F2F6F5"/>
          </a:solidFill>
          <a:ln w="12700">
            <a:solidFill>
              <a:srgbClr val="F2F6F5"/>
            </a:solidFill>
            <a:prstDash val="solid"/>
          </a:ln>
        </p:spPr>
      </p:sp>
      <p:sp>
        <p:nvSpPr>
          <p:cNvPr id="11" name="h"/>
          <p:cNvSpPr txBox="1"/>
          <p:nvPr/>
        </p:nvSpPr>
        <p:spPr>
          <a:xfrm>
            <a:off x="777240" y="3291840"/>
            <a:ext cx="4937760" cy="36576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How it works</a:t>
            </a:r>
            <a:endParaRPr lang="en-US" sz="1700" dirty="0"/>
          </a:p>
        </p:txBody>
      </p:sp>
      <p:sp>
        <p:nvSpPr>
          <p:cNvPr id="12" name="bullets"/>
          <p:cNvSpPr txBox="1"/>
          <p:nvPr/>
        </p:nvSpPr>
        <p:spPr>
          <a:xfrm>
            <a:off x="777240" y="3749040"/>
            <a:ext cx="4937760" cy="228600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Searches the text of the 15 rules and the payer policy table as it is now, each passage naming its rule or table version</a:t>
            </a:r>
            <a:endParaRPr lang="en-US" sz="1300" dirty="0"/>
          </a:p>
          <a:p>
            <a:pPr marL="203200" indent="-203200">
              <a:spcAft>
                <a:spcPts val="600"/>
              </a:spcAft>
              <a:buSzPct val="100000"/>
              <a:buChar char="•"/>
            </a:pPr>
            <a:r>
              <a:rPr lang="en-US" sz="1300" dirty="0">
                <a:solidFill>
                  <a:srgbClr val="17292B"/>
                </a:solidFill>
              </a:rPr>
              <a:t>Plain ranking (BM25): no model, no network, deterministic</a:t>
            </a:r>
            <a:endParaRPr lang="en-US" sz="1300" dirty="0"/>
          </a:p>
          <a:p>
            <a:pPr marL="203200" indent="-203200">
              <a:spcAft>
                <a:spcPts val="600"/>
              </a:spcAft>
              <a:buSzPct val="100000"/>
              <a:buChar char="•"/>
            </a:pPr>
            <a:r>
              <a:rPr lang="en-US" sz="1300" dirty="0">
                <a:solidFill>
                  <a:srgbClr val="17292B"/>
                </a:solidFill>
              </a:rPr>
              <a:t>The answer is the quoted passage and its source. Nothing is generated</a:t>
            </a:r>
            <a:endParaRPr lang="en-US" sz="1300" dirty="0"/>
          </a:p>
          <a:p>
            <a:pPr marL="203200" indent="-203200">
              <a:spcAft>
                <a:spcPts val="600"/>
              </a:spcAft>
              <a:buSzPct val="100000"/>
              <a:buChar char="•"/>
            </a:pPr>
            <a:r>
              <a:rPr lang="en-US" sz="1300" dirty="0">
                <a:solidFill>
                  <a:srgbClr val="17292B"/>
                </a:solidFill>
              </a:rPr>
              <a:t>A question that barely touches the documents is refused, not answered with the nearest guess</a:t>
            </a:r>
            <a:endParaRPr lang="en-US" sz="1300" dirty="0"/>
          </a:p>
        </p:txBody>
      </p:sp>
      <p:sp>
        <p:nvSpPr>
          <p:cNvPr id="13" name="rag limits"/>
          <p:cNvSpPr/>
          <p:nvPr/>
        </p:nvSpPr>
        <p:spPr>
          <a:xfrm>
            <a:off x="6217920" y="3200400"/>
            <a:ext cx="5394960" cy="2880360"/>
          </a:xfrm>
          <a:prstGeom prst="roundRect">
            <a:avLst>
              <a:gd name="adj" fmla="val 3810"/>
            </a:avLst>
          </a:prstGeom>
          <a:solidFill>
            <a:srgbClr val="F2F6F5"/>
          </a:solidFill>
          <a:ln w="12700">
            <a:solidFill>
              <a:srgbClr val="F2F6F5"/>
            </a:solidFill>
            <a:prstDash val="solid"/>
          </a:ln>
        </p:spPr>
      </p:sp>
      <p:sp>
        <p:nvSpPr>
          <p:cNvPr id="14" name="h"/>
          <p:cNvSpPr txBox="1"/>
          <p:nvPr/>
        </p:nvSpPr>
        <p:spPr>
          <a:xfrm>
            <a:off x="6446520" y="3291840"/>
            <a:ext cx="4937760" cy="36576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Why it is safe, and where it stops</a:t>
            </a:r>
            <a:endParaRPr lang="en-US" sz="1700" dirty="0"/>
          </a:p>
        </p:txBody>
      </p:sp>
      <p:sp>
        <p:nvSpPr>
          <p:cNvPr id="15" name="bullets"/>
          <p:cNvSpPr txBox="1"/>
          <p:nvPr/>
        </p:nvSpPr>
        <p:spPr>
          <a:xfrm>
            <a:off x="6446520" y="3749040"/>
            <a:ext cx="4937760" cy="228600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It never reads a claim, so it adds no privacy risk</a:t>
            </a:r>
            <a:endParaRPr lang="en-US" sz="1300" dirty="0"/>
          </a:p>
          <a:p>
            <a:pPr marL="203200" indent="-203200">
              <a:spcAft>
                <a:spcPts val="600"/>
              </a:spcAft>
              <a:buSzPct val="100000"/>
              <a:buChar char="•"/>
            </a:pPr>
            <a:r>
              <a:rPr lang="en-US" sz="1300" dirty="0">
                <a:solidFill>
                  <a:srgbClr val="17292B"/>
                </a:solidFill>
              </a:rPr>
              <a:t>An approved change to the payer table is what people read next</a:t>
            </a:r>
            <a:endParaRPr lang="en-US" sz="1300" dirty="0"/>
          </a:p>
          <a:p>
            <a:pPr marL="203200" indent="-203200">
              <a:spcAft>
                <a:spcPts val="600"/>
              </a:spcAft>
              <a:buSzPct val="100000"/>
              <a:buChar char="•"/>
            </a:pPr>
            <a:r>
              <a:rPr lang="en-US" sz="1300" dirty="0">
                <a:solidFill>
                  <a:srgbClr val="17292B"/>
                </a:solidFill>
              </a:rPr>
              <a:t>It is retrieval, not reasoning: it will not combine passages</a:t>
            </a:r>
            <a:endParaRPr lang="en-US" sz="1300" dirty="0"/>
          </a:p>
          <a:p>
            <a:pPr marL="203200" indent="-203200">
              <a:spcAft>
                <a:spcPts val="600"/>
              </a:spcAft>
              <a:buSzPct val="100000"/>
              <a:buChar char="•"/>
            </a:pPr>
            <a:r>
              <a:rPr lang="en-US" sz="1300" dirty="0">
                <a:solidFill>
                  <a:srgbClr val="17292B"/>
                </a:solidFill>
              </a:rPr>
              <a:t>It matches words: the one miss asked for 'identical lines' where the rule says 'duplicate'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data is stored, and how it is encrypted</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371600"/>
                <a:gridCol w="2377440"/>
                <a:gridCol w="3200400"/>
              </a:tblGrid>
              <a:tr h="457200">
                <a:tc>
                  <a:txBody>
                    <a:bodyPr/>
                    <a:lstStyle/>
                    <a:p>
                      <a:pPr indent="0" marL="0">
                        <a:buNone/>
                      </a:pPr>
                      <a:r>
                        <a:rPr lang="en-US" sz="1150" b="1" dirty="0">
                          <a:solidFill>
                            <a:srgbClr val="FFFFFF"/>
                          </a:solidFill>
                        </a:rPr>
                        <a:t>Where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it holds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How it is protected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150" dirty="0">
                          <a:solidFill>
                            <a:srgbClr val="17292B"/>
                          </a:solidFill>
                        </a:rPr>
                        <a:t>MongoDB: claims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Each claim version, its receipt, results, decisions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Claim, results, advisory, explanations, corrections and each decision are encrypted field by field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MongoDB: users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Badge, password, authenticator seed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bcrypt hash (cost 12); seed and names encrypted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MongoDB: queue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Configuration versions, deals, dead letters, counters, template cache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No claim values. Cache and counters expire by themselves (7 and 3 days)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Redis Streams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Only 'run claim X, version V'</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No claim data. Losing it loses nothing</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Audit logs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Review log and security log, hash-chained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Encrypted on disk, signed checkpoints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encryption card"/>
          <p:cNvSpPr/>
          <p:nvPr/>
        </p:nvSpPr>
        <p:spPr>
          <a:xfrm>
            <a:off x="7680960" y="1371600"/>
            <a:ext cx="3931920" cy="4709160"/>
          </a:xfrm>
          <a:prstGeom prst="roundRect">
            <a:avLst>
              <a:gd name="adj" fmla="val 2791"/>
            </a:avLst>
          </a:prstGeom>
          <a:solidFill>
            <a:srgbClr val="0E3B3F"/>
          </a:solidFill>
          <a:ln w="12700">
            <a:solidFill>
              <a:srgbClr val="0E3B3F"/>
            </a:solidFill>
            <a:prstDash val="solid"/>
          </a:ln>
        </p:spPr>
      </p:sp>
      <p:sp>
        <p:nvSpPr>
          <p:cNvPr id="6" name="h"/>
          <p:cNvSpPr txBox="1"/>
          <p:nvPr/>
        </p:nvSpPr>
        <p:spPr>
          <a:xfrm>
            <a:off x="7909560" y="1463040"/>
            <a:ext cx="347472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How the encryption works</a:t>
            </a:r>
            <a:endParaRPr lang="en-US" sz="1700" dirty="0"/>
          </a:p>
        </p:txBody>
      </p:sp>
      <p:sp>
        <p:nvSpPr>
          <p:cNvPr id="7" name="encryption text"/>
          <p:cNvSpPr txBox="1"/>
          <p:nvPr/>
        </p:nvSpPr>
        <p:spPr>
          <a:xfrm>
            <a:off x="7909560" y="1920240"/>
            <a:ext cx="3520440" cy="40690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DDEEEB"/>
                </a:solidFill>
              </a:rPr>
              <a:t>Done in the application, before the database sees the data</a:t>
            </a:r>
            <a:endParaRPr lang="en-US" sz="1250" dirty="0"/>
          </a:p>
          <a:p>
            <a:pPr marL="177800" indent="-177800">
              <a:spcAft>
                <a:spcPts val="500"/>
              </a:spcAft>
              <a:buSzPct val="100000"/>
              <a:buChar char="•"/>
            </a:pPr>
            <a:r>
              <a:rPr lang="en-US" sz="1250" dirty="0">
                <a:solidFill>
                  <a:srgbClr val="DDEEEB"/>
                </a:solidFill>
              </a:rPr>
              <a:t>AES-128-CBC with an HMAC-SHA256 tag (Fernet)</a:t>
            </a:r>
            <a:endParaRPr lang="en-US" sz="1250" dirty="0"/>
          </a:p>
          <a:p>
            <a:pPr marL="177800" indent="-177800">
              <a:spcAft>
                <a:spcPts val="500"/>
              </a:spcAft>
              <a:buSzPct val="100000"/>
              <a:buChar char="•"/>
            </a:pPr>
            <a:r>
              <a:rPr lang="en-US" sz="1250" dirty="0">
                <a:solidFill>
                  <a:srgbClr val="DDEEEB"/>
                </a:solidFill>
              </a:rPr>
              <a:t>Each token names its claim, version and field: moving one under another claim is detected and refused</a:t>
            </a:r>
            <a:endParaRPr lang="en-US" sz="1250" dirty="0"/>
          </a:p>
          <a:p>
            <a:pPr marL="177800" indent="-177800">
              <a:spcAft>
                <a:spcPts val="500"/>
              </a:spcAft>
              <a:buSzPct val="100000"/>
              <a:buChar char="•"/>
            </a:pPr>
            <a:r>
              <a:rPr lang="en-US" sz="1250" dirty="0">
                <a:solidFill>
                  <a:srgbClr val="DDEEEB"/>
                </a:solidFill>
              </a:rPr>
              <a:t>Readable on purpose: ids, state, lane, score, timestamps, hashes, and a keyed hash of the patient id to find earlier claims</a:t>
            </a:r>
            <a:endParaRPr lang="en-US" sz="1250" dirty="0"/>
          </a:p>
          <a:p>
            <a:pPr marL="177800" indent="-177800">
              <a:spcAft>
                <a:spcPts val="500"/>
              </a:spcAft>
              <a:buSzPct val="100000"/>
              <a:buChar char="•"/>
            </a:pPr>
            <a:r>
              <a:rPr lang="en-US" sz="1250" dirty="0">
                <a:solidFill>
                  <a:srgbClr val="DDEEEB"/>
                </a:solidFill>
              </a:rPr>
              <a:t>Reviewers see pseudonyms, not identifiers</a:t>
            </a:r>
            <a:endParaRPr lang="en-US" sz="1250" dirty="0"/>
          </a:p>
          <a:p>
            <a:pPr marL="177800" indent="-177800">
              <a:buSzPct val="100000"/>
              <a:buChar char="•"/>
            </a:pPr>
            <a:r>
              <a:rPr lang="en-US" sz="1250" dirty="0">
                <a:solidFill>
                  <a:srgbClr val="DDEEEB"/>
                </a:solidFill>
              </a:rPr>
              <a:t>Limits: whoever holds the key sees everything, and the shape of the data is visible. The key can be rotated by one command</a:t>
            </a:r>
            <a:endParaRPr lang="en-US" sz="12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Personal-data law: what the system does</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6126480"/>
                <a:gridCol w="2926080"/>
              </a:tblGrid>
              <a:tr h="530352">
                <a:tc>
                  <a:txBody>
                    <a:bodyPr/>
                    <a:lstStyle/>
                    <a:p>
                      <a:pPr indent="0" marL="0">
                        <a:buNone/>
                      </a:pPr>
                      <a:r>
                        <a:rPr lang="en-US" sz="1200" b="1" dirty="0">
                          <a:solidFill>
                            <a:srgbClr val="FFFFFF"/>
                          </a:solidFill>
                        </a:rPr>
                        <a:t>Obligation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00" b="1" dirty="0">
                          <a:solidFill>
                            <a:srgbClr val="FFFFFF"/>
                          </a:solidFill>
                        </a:rPr>
                        <a:t>What the system does</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00" b="1" dirty="0">
                          <a:solidFill>
                            <a:srgbClr val="FFFFFF"/>
                          </a:solidFill>
                        </a:rPr>
                        <a:t>Not built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30352">
                <a:tc>
                  <a:txBody>
                    <a:bodyPr/>
                    <a:lstStyle/>
                    <a:p>
                      <a:pPr indent="0" marL="0">
                        <a:buNone/>
                      </a:pPr>
                      <a:r>
                        <a:rPr lang="en-US" sz="1200" dirty="0">
                          <a:solidFill>
                            <a:srgbClr val="17292B"/>
                          </a:solidFill>
                        </a:rPr>
                        <a:t>Data stays inside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17292B"/>
                          </a:solidFill>
                        </a:rPr>
                        <a:t>No outside calls from the engine, the queue or the AI. The one optional call sends a hash for a timestamp</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7292B"/>
                          </a:solidFill>
                        </a:rPr>
                        <a:t>Minimisation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17292B"/>
                          </a:solidFill>
                        </a:rPr>
                        <a:t>Pseudonyms by default. Unmasking needs a permission, a reason, and is limited to 60 claims an hour. The AI never sees a claim value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200" dirty="0">
                          <a:solidFill>
                            <a:srgbClr val="17292B"/>
                          </a:solidFill>
                        </a:rPr>
                        <a:t>Access control</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17292B"/>
                          </a:solidFill>
                        </a:rPr>
                        <a:t>Four levels enforced on the server. The person who signs cannot countersign their own decision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7292B"/>
                          </a:solidFill>
                        </a:rPr>
                        <a:t>Security</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17292B"/>
                          </a:solidFill>
                        </a:rPr>
                        <a:t>Encrypted at rest and in transit, two-factor sign-in, revocable sessions, tamper-evident audit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200" dirty="0">
                          <a:solidFill>
                            <a:srgbClr val="17292B"/>
                          </a:solidFill>
                        </a:rPr>
                        <a:t>Accuracy</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17292B"/>
                          </a:solidFill>
                        </a:rPr>
                        <a:t>A claim is never edited: a correction is a new version, checked again, the old one still visible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7292B"/>
                          </a:solidFill>
                        </a:rPr>
                        <a:t>Rights of the person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17292B"/>
                          </a:solidFill>
                        </a:rPr>
                        <a:t>All claims of one person can be found without the identifier being readable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b="1" dirty="0">
                          <a:solidFill>
                            <a:srgbClr val="C8553D"/>
                          </a:solidFill>
                        </a:rPr>
                        <a:t>Export, correction request and erasure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200" dirty="0">
                          <a:solidFill>
                            <a:srgbClr val="17292B"/>
                          </a:solidFill>
                        </a:rPr>
                        <a:t>Retention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17292B"/>
                          </a:solidFill>
                        </a:rPr>
                        <a:t>Short-lived data expires by itself (sign-in counters, used codes, revoked tokens)</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b="1" dirty="0">
                          <a:solidFill>
                            <a:srgbClr val="C8553D"/>
                          </a:solidFill>
                        </a:rPr>
                        <a:t>A retention period for claims and logs, and the purge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footnote"/>
          <p:cNvSpPr txBox="1"/>
          <p:nvPr/>
        </p:nvSpPr>
        <p:spPr>
          <a:xfrm>
            <a:off x="548640" y="598932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No software is compliant by itself: the law binds the organisation that runs it. This is what the software gives that organisation.</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reviewer copilot: what is wrong, what to do</a:t>
            </a:r>
            <a:endParaRPr lang="en-US" sz="3200" dirty="0"/>
          </a:p>
        </p:txBody>
      </p:sp>
      <p:sp>
        <p:nvSpPr>
          <p:cNvPr id="4" name="tag"/>
          <p:cNvSpPr/>
          <p:nvPr/>
        </p:nvSpPr>
        <p:spPr>
          <a:xfrm>
            <a:off x="10241280" y="73152"/>
            <a:ext cx="82296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10241280" y="73152"/>
            <a:ext cx="822960" cy="274320"/>
          </a:xfrm>
          <a:prstGeom prst="rect">
            <a:avLst/>
          </a:prstGeom>
          <a:noFill/>
          <a:ln/>
        </p:spPr>
        <p:txBody>
          <a:bodyPr wrap="square" lIns="0" tIns="0" rIns="0" bIns="0" rtlCol="0" anchor="ctr"/>
          <a:lstStyle/>
          <a:p>
            <a:pPr algn="ctr" indent="0" marL="0">
              <a:buNone/>
            </a:pPr>
            <a:r>
              <a:rPr lang="en-US" sz="1100" b="1" dirty="0">
                <a:solidFill>
                  <a:srgbClr val="17292B"/>
                </a:solidFill>
              </a:rPr>
              <a:t>new</a:t>
            </a:r>
            <a:endParaRPr lang="en-US" sz="1100" dirty="0"/>
          </a:p>
        </p:txBody>
      </p:sp>
      <p:pic>
        <p:nvPicPr>
          <p:cNvPr id="6" name="copilot.png" descr="C:\Users\moham\AppData\Local\Temp\claude\C--Users-moham-cstam\f25db9ed-2154-460d-a343-94d0c9b150c3\scratchpad\deck\assets\copilot.png">    </p:cNvPr>
          <p:cNvPicPr>
            <a:picLocks noChangeAspect="1"/>
          </p:cNvPicPr>
          <p:nvPr/>
        </p:nvPicPr>
        <p:blipFill>
          <a:blip r:embed="rId1"/>
          <a:stretch>
            <a:fillRect/>
          </a:stretch>
        </p:blipFill>
        <p:spPr>
          <a:xfrm>
            <a:off x="548640" y="1371600"/>
            <a:ext cx="5577840" cy="4498848"/>
          </a:xfrm>
          <a:prstGeom prst="rect">
            <a:avLst/>
          </a:prstGeom>
        </p:spPr>
      </p:pic>
      <p:sp>
        <p:nvSpPr>
          <p:cNvPr id="7" name="bullets"/>
          <p:cNvSpPr txBox="1"/>
          <p:nvPr/>
        </p:nvSpPr>
        <p:spPr>
          <a:xfrm>
            <a:off x="6492240" y="1463040"/>
            <a:ext cx="5120640" cy="438912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One summary: how many findings, which severity, in the order that clears the claim fastest</a:t>
            </a:r>
            <a:endParaRPr lang="en-US" sz="1500" dirty="0"/>
          </a:p>
          <a:p>
            <a:pPr marL="203200" indent="-203200">
              <a:spcAft>
                <a:spcPts val="600"/>
              </a:spcAft>
              <a:buSzPct val="100000"/>
              <a:buChar char="•"/>
            </a:pPr>
            <a:r>
              <a:rPr lang="en-US" sz="1500" dirty="0">
                <a:solidFill>
                  <a:srgbClr val="17292B"/>
                </a:solidFill>
              </a:rPr>
              <a:t>One suggestion per finding: a value to correct, a value to check, or information to ask for</a:t>
            </a:r>
            <a:endParaRPr lang="en-US" sz="1500" dirty="0"/>
          </a:p>
          <a:p>
            <a:pPr marL="203200" indent="-203200">
              <a:spcAft>
                <a:spcPts val="600"/>
              </a:spcAft>
              <a:buSzPct val="100000"/>
              <a:buChar char="•"/>
            </a:pPr>
            <a:r>
              <a:rPr lang="en-US" sz="1500" dirty="0">
                <a:solidFill>
                  <a:srgbClr val="17292B"/>
                </a:solidFill>
              </a:rPr>
              <a:t>Built by code from the findings. No model, so nothing to hallucinate</a:t>
            </a:r>
            <a:endParaRPr lang="en-US" sz="1500" dirty="0"/>
          </a:p>
          <a:p>
            <a:pPr marL="203200" indent="-203200">
              <a:spcAft>
                <a:spcPts val="600"/>
              </a:spcAft>
              <a:buSzPct val="100000"/>
              <a:buChar char="•"/>
            </a:pPr>
            <a:r>
              <a:rPr lang="en-US" sz="1500" dirty="0">
                <a:solidFill>
                  <a:srgbClr val="17292B"/>
                </a:solidFill>
              </a:rPr>
              <a:t>A value is proposed only if it follows from other values on the same claim. Nothing missing is invented, no identifier can be edited</a:t>
            </a:r>
            <a:endParaRPr lang="en-US" sz="1500" dirty="0"/>
          </a:p>
        </p:txBody>
      </p:sp>
      <p:sp>
        <p:nvSpPr>
          <p:cNvPr id="8"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 claim with no finding reads: Pre-validation clearance, not payer approval or a promise of payment.</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Try a correction, then save it as a new version</a:t>
            </a:r>
            <a:endParaRPr lang="en-US" sz="3200" dirty="0"/>
          </a:p>
        </p:txBody>
      </p:sp>
      <p:sp>
        <p:nvSpPr>
          <p:cNvPr id="4" name="tag"/>
          <p:cNvSpPr/>
          <p:nvPr/>
        </p:nvSpPr>
        <p:spPr>
          <a:xfrm>
            <a:off x="10241280" y="73152"/>
            <a:ext cx="82296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10241280" y="73152"/>
            <a:ext cx="822960" cy="274320"/>
          </a:xfrm>
          <a:prstGeom prst="rect">
            <a:avLst/>
          </a:prstGeom>
          <a:noFill/>
          <a:ln/>
        </p:spPr>
        <p:txBody>
          <a:bodyPr wrap="square" lIns="0" tIns="0" rIns="0" bIns="0" rtlCol="0" anchor="ctr"/>
          <a:lstStyle/>
          <a:p>
            <a:pPr algn="ctr" indent="0" marL="0">
              <a:buNone/>
            </a:pPr>
            <a:r>
              <a:rPr lang="en-US" sz="1100" b="1" dirty="0">
                <a:solidFill>
                  <a:srgbClr val="17292B"/>
                </a:solidFill>
              </a:rPr>
              <a:t>new</a:t>
            </a:r>
            <a:endParaRPr lang="en-US" sz="1100" dirty="0"/>
          </a:p>
        </p:txBody>
      </p:sp>
      <p:pic>
        <p:nvPicPr>
          <p:cNvPr id="6" name="whatif.png" descr="C:\Users\moham\AppData\Local\Temp\claude\C--Users-moham-cstam\f25db9ed-2154-460d-a343-94d0c9b150c3\scratchpad\deck\assets\whatif.png">    </p:cNvPr>
          <p:cNvPicPr>
            <a:picLocks noChangeAspect="1"/>
          </p:cNvPicPr>
          <p:nvPr/>
        </p:nvPicPr>
        <p:blipFill>
          <a:blip r:embed="rId1"/>
          <a:stretch>
            <a:fillRect/>
          </a:stretch>
        </p:blipFill>
        <p:spPr>
          <a:xfrm>
            <a:off x="548640" y="1371600"/>
            <a:ext cx="5486400" cy="3529584"/>
          </a:xfrm>
          <a:prstGeom prst="rect">
            <a:avLst/>
          </a:prstGeom>
        </p:spPr>
      </p:pic>
      <p:sp>
        <p:nvSpPr>
          <p:cNvPr id="7" name="flow 1"/>
          <p:cNvSpPr/>
          <p:nvPr/>
        </p:nvSpPr>
        <p:spPr>
          <a:xfrm>
            <a:off x="6309360" y="1371600"/>
            <a:ext cx="5303520" cy="777240"/>
          </a:xfrm>
          <a:prstGeom prst="roundRect">
            <a:avLst>
              <a:gd name="adj" fmla="val 14118"/>
            </a:avLst>
          </a:prstGeom>
          <a:solidFill>
            <a:srgbClr val="F2F6F5"/>
          </a:solidFill>
          <a:ln w="12700">
            <a:solidFill>
              <a:srgbClr val="F2F6F5"/>
            </a:solidFill>
            <a:prstDash val="solid"/>
          </a:ln>
        </p:spPr>
      </p:sp>
      <p:sp>
        <p:nvSpPr>
          <p:cNvPr id="8" name="flow text"/>
          <p:cNvSpPr txBox="1"/>
          <p:nvPr/>
        </p:nvSpPr>
        <p:spPr>
          <a:xfrm>
            <a:off x="6492240" y="1371600"/>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What-if</a:t>
            </a:r>
            <a:endParaRPr lang="en-US" sz="1400" dirty="0"/>
          </a:p>
          <a:p>
            <a:pPr indent="0" marL="0">
              <a:buNone/>
            </a:pPr>
            <a:r>
              <a:rPr lang="en-US" sz="1250" dirty="0">
                <a:solidFill>
                  <a:srgbClr val="17292B"/>
                </a:solidFill>
              </a:rPr>
              <a:t>the engine runs on a copy. Nothing is saved</a:t>
            </a:r>
            <a:endParaRPr lang="en-US" sz="1400" dirty="0"/>
          </a:p>
        </p:txBody>
      </p:sp>
      <p:sp>
        <p:nvSpPr>
          <p:cNvPr id="9" name="flow 2"/>
          <p:cNvSpPr/>
          <p:nvPr/>
        </p:nvSpPr>
        <p:spPr>
          <a:xfrm>
            <a:off x="6309360" y="2258568"/>
            <a:ext cx="5303520" cy="777240"/>
          </a:xfrm>
          <a:prstGeom prst="roundRect">
            <a:avLst>
              <a:gd name="adj" fmla="val 14118"/>
            </a:avLst>
          </a:prstGeom>
          <a:solidFill>
            <a:srgbClr val="F2F6F5"/>
          </a:solidFill>
          <a:ln w="12700">
            <a:solidFill>
              <a:srgbClr val="F2F6F5"/>
            </a:solidFill>
            <a:prstDash val="solid"/>
          </a:ln>
        </p:spPr>
      </p:sp>
      <p:sp>
        <p:nvSpPr>
          <p:cNvPr id="10" name="flow text"/>
          <p:cNvSpPr txBox="1"/>
          <p:nvPr/>
        </p:nvSpPr>
        <p:spPr>
          <a:xfrm>
            <a:off x="6492240" y="2258568"/>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Recheck</a:t>
            </a:r>
            <a:endParaRPr lang="en-US" sz="1400" dirty="0"/>
          </a:p>
          <a:p>
            <a:pPr indent="0" marL="0">
              <a:buNone/>
            </a:pPr>
            <a:r>
              <a:rPr lang="en-US" sz="1250" dirty="0">
                <a:solidFill>
                  <a:srgbClr val="17292B"/>
                </a:solidFill>
              </a:rPr>
              <a:t>the correction becomes version 2 and goes through triage</a:t>
            </a:r>
            <a:endParaRPr lang="en-US" sz="1400" dirty="0"/>
          </a:p>
        </p:txBody>
      </p:sp>
      <p:sp>
        <p:nvSpPr>
          <p:cNvPr id="11" name="flow 3"/>
          <p:cNvSpPr/>
          <p:nvPr/>
        </p:nvSpPr>
        <p:spPr>
          <a:xfrm>
            <a:off x="6309360" y="3145536"/>
            <a:ext cx="5303520" cy="777240"/>
          </a:xfrm>
          <a:prstGeom prst="roundRect">
            <a:avLst>
              <a:gd name="adj" fmla="val 14118"/>
            </a:avLst>
          </a:prstGeom>
          <a:solidFill>
            <a:srgbClr val="F2F6F5"/>
          </a:solidFill>
          <a:ln w="12700">
            <a:solidFill>
              <a:srgbClr val="F2F6F5"/>
            </a:solidFill>
            <a:prstDash val="solid"/>
          </a:ln>
        </p:spPr>
      </p:sp>
      <p:sp>
        <p:nvSpPr>
          <p:cNvPr id="12" name="flow text"/>
          <p:cNvSpPr txBox="1"/>
          <p:nvPr/>
        </p:nvSpPr>
        <p:spPr>
          <a:xfrm>
            <a:off x="6492240" y="3145536"/>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Original</a:t>
            </a:r>
            <a:endParaRPr lang="en-US" sz="1400" dirty="0"/>
          </a:p>
          <a:p>
            <a:pPr indent="0" marL="0">
              <a:buNone/>
            </a:pPr>
            <a:r>
              <a:rPr lang="en-US" sz="1250" dirty="0">
                <a:solidFill>
                  <a:srgbClr val="17292B"/>
                </a:solidFill>
              </a:rPr>
              <a:t>version 1 is kept exactly as received and closed</a:t>
            </a:r>
            <a:endParaRPr lang="en-US" sz="1400" dirty="0"/>
          </a:p>
        </p:txBody>
      </p:sp>
      <p:sp>
        <p:nvSpPr>
          <p:cNvPr id="13" name="flow 4"/>
          <p:cNvSpPr/>
          <p:nvPr/>
        </p:nvSpPr>
        <p:spPr>
          <a:xfrm>
            <a:off x="6309360" y="4032504"/>
            <a:ext cx="5303520" cy="777240"/>
          </a:xfrm>
          <a:prstGeom prst="roundRect">
            <a:avLst>
              <a:gd name="adj" fmla="val 14118"/>
            </a:avLst>
          </a:prstGeom>
          <a:solidFill>
            <a:srgbClr val="F2F6F5"/>
          </a:solidFill>
          <a:ln w="12700">
            <a:solidFill>
              <a:srgbClr val="F2F6F5"/>
            </a:solidFill>
            <a:prstDash val="solid"/>
          </a:ln>
        </p:spPr>
      </p:sp>
      <p:sp>
        <p:nvSpPr>
          <p:cNvPr id="14" name="flow text"/>
          <p:cNvSpPr txBox="1"/>
          <p:nvPr/>
        </p:nvSpPr>
        <p:spPr>
          <a:xfrm>
            <a:off x="6492240" y="4032504"/>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Cleared findings</a:t>
            </a:r>
            <a:endParaRPr lang="en-US" sz="1400" dirty="0"/>
          </a:p>
          <a:p>
            <a:pPr indent="0" marL="0">
              <a:buNone/>
            </a:pPr>
            <a:r>
              <a:rPr lang="en-US" sz="1250" dirty="0">
                <a:solidFill>
                  <a:srgbClr val="17292B"/>
                </a:solidFill>
              </a:rPr>
              <a:t>recorded with the reviewer's reason</a:t>
            </a:r>
            <a:endParaRPr lang="en-US" sz="1400" dirty="0"/>
          </a:p>
        </p:txBody>
      </p:sp>
      <p:sp>
        <p:nvSpPr>
          <p:cNvPr id="15" name="controls card"/>
          <p:cNvSpPr/>
          <p:nvPr/>
        </p:nvSpPr>
        <p:spPr>
          <a:xfrm>
            <a:off x="548640" y="4937760"/>
            <a:ext cx="11064240" cy="1188720"/>
          </a:xfrm>
          <a:prstGeom prst="roundRect">
            <a:avLst>
              <a:gd name="adj" fmla="val 9231"/>
            </a:avLst>
          </a:prstGeom>
          <a:solidFill>
            <a:srgbClr val="FFF1DB"/>
          </a:solidFill>
          <a:ln w="12700">
            <a:solidFill>
              <a:srgbClr val="FFF1DB"/>
            </a:solidFill>
            <a:prstDash val="solid"/>
          </a:ln>
        </p:spPr>
      </p:sp>
      <p:sp>
        <p:nvSpPr>
          <p:cNvPr id="16" name="controls text"/>
          <p:cNvSpPr txBox="1"/>
          <p:nvPr/>
        </p:nvSpPr>
        <p:spPr>
          <a:xfrm>
            <a:off x="777240" y="4937760"/>
            <a:ext cx="10607040" cy="1188720"/>
          </a:xfrm>
          <a:prstGeom prst="rect">
            <a:avLst/>
          </a:prstGeom>
          <a:noFill/>
          <a:ln/>
        </p:spPr>
        <p:txBody>
          <a:bodyPr wrap="square" lIns="0" tIns="0" rIns="0" bIns="0" rtlCol="0" anchor="ctr"/>
          <a:lstStyle/>
          <a:p>
            <a:pPr indent="0" marL="0">
              <a:buNone/>
            </a:pPr>
            <a:r>
              <a:rPr lang="en-US" sz="1450" b="1" dirty="0">
                <a:solidFill>
                  <a:srgbClr val="0E3B3F"/>
                </a:solidFill>
              </a:rPr>
              <a:t>Controls: </a:t>
            </a:r>
            <a:pPr indent="0" marL="0">
              <a:buNone/>
            </a:pPr>
            <a:r>
              <a:rPr lang="en-US" sz="1450" dirty="0">
                <a:solidFill>
                  <a:srgbClr val="17292B"/>
                </a:solidFill>
              </a:rPr>
              <a:t>only the holder of the claim can try or apply a correction. Clearing a high-severity finding needs the same senior authority as deciding it. Patient, member and claim identifiers cannot be edited. A recheck needs a reason that does not contain the identifier.</a:t>
            </a:r>
            <a:endParaRPr lang="en-US" sz="14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Do the proposals work? Measured against the real engine</a:t>
            </a:r>
            <a:endParaRPr lang="en-US" sz="3200" dirty="0"/>
          </a:p>
        </p:txBody>
      </p:sp>
      <p:graphicFrame>
        <p:nvGraphicFramePr>
          <p:cNvPr id="4" name="Chart 0" descr=""/>
          <p:cNvGraphicFramePr/>
          <p:nvPr/>
        </p:nvGraphicFramePr>
        <p:xfrm>
          <a:off x="548640" y="1371600"/>
          <a:ext cx="5852160" cy="4297680"/>
        </p:xfrm>
        <a:graphic xmlns:a="http://schemas.openxmlformats.org/drawingml/2006/main">
          <a:graphicData uri="http://schemas.openxmlformats.org/drawingml/2006/chart">
            <c:chart xmlns:c="http://schemas.openxmlformats.org/drawingml/2006/chart" r:id="rId1"/>
          </a:graphicData>
        </a:graphic>
      </p:graphicFrame>
      <p:sp>
        <p:nvSpPr>
          <p:cNvPr id="5" name="stat"/>
          <p:cNvSpPr txBox="1"/>
          <p:nvPr/>
        </p:nvSpPr>
        <p:spPr>
          <a:xfrm>
            <a:off x="6766560" y="13716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777</a:t>
            </a:r>
            <a:endParaRPr lang="en-US" sz="4000" dirty="0"/>
          </a:p>
        </p:txBody>
      </p:sp>
      <p:sp>
        <p:nvSpPr>
          <p:cNvPr id="6" name="stat label"/>
          <p:cNvSpPr txBox="1"/>
          <p:nvPr/>
        </p:nvSpPr>
        <p:spPr>
          <a:xfrm>
            <a:off x="6766560" y="2240280"/>
            <a:ext cx="2377440" cy="822960"/>
          </a:xfrm>
          <a:prstGeom prst="rect">
            <a:avLst/>
          </a:prstGeom>
          <a:noFill/>
          <a:ln/>
        </p:spPr>
        <p:txBody>
          <a:bodyPr wrap="square" lIns="0" tIns="0" rIns="0" bIns="0" rtlCol="0" anchor="t"/>
          <a:lstStyle/>
          <a:p>
            <a:pPr indent="0" marL="0">
              <a:buNone/>
            </a:pPr>
            <a:r>
              <a:rPr lang="en-US" sz="1400" dirty="0">
                <a:solidFill>
                  <a:srgbClr val="5C7173"/>
                </a:solidFill>
              </a:rPr>
              <a:t>flagged findings on 600 public claims, each with exactly one suggestion</a:t>
            </a:r>
            <a:endParaRPr lang="en-US" sz="1400" dirty="0"/>
          </a:p>
        </p:txBody>
      </p:sp>
      <p:sp>
        <p:nvSpPr>
          <p:cNvPr id="7" name="stat"/>
          <p:cNvSpPr txBox="1"/>
          <p:nvPr/>
        </p:nvSpPr>
        <p:spPr>
          <a:xfrm>
            <a:off x="9326880" y="13716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0</a:t>
            </a:r>
            <a:endParaRPr lang="en-US" sz="4000" dirty="0"/>
          </a:p>
        </p:txBody>
      </p:sp>
      <p:sp>
        <p:nvSpPr>
          <p:cNvPr id="8" name="stat label"/>
          <p:cNvSpPr txBox="1"/>
          <p:nvPr/>
        </p:nvSpPr>
        <p:spPr>
          <a:xfrm>
            <a:off x="9326880" y="2240280"/>
            <a:ext cx="2377440" cy="822960"/>
          </a:xfrm>
          <a:prstGeom prst="rect">
            <a:avLst/>
          </a:prstGeom>
          <a:noFill/>
          <a:ln/>
        </p:spPr>
        <p:txBody>
          <a:bodyPr wrap="square" lIns="0" tIns="0" rIns="0" bIns="0" rtlCol="0" anchor="t"/>
          <a:lstStyle/>
          <a:p>
            <a:pPr indent="0" marL="0">
              <a:buNone/>
            </a:pPr>
            <a:r>
              <a:rPr lang="en-US" sz="1400" dirty="0">
                <a:solidFill>
                  <a:srgbClr val="5C7173"/>
                </a:solidFill>
              </a:rPr>
              <a:t>cited paths missing on the claim. 0 texts with approval or payment words</a:t>
            </a:r>
            <a:endParaRPr lang="en-US" sz="1400" dirty="0"/>
          </a:p>
        </p:txBody>
      </p:sp>
      <p:sp>
        <p:nvSpPr>
          <p:cNvPr id="9" name="stat"/>
          <p:cNvSpPr txBox="1"/>
          <p:nvPr/>
        </p:nvSpPr>
        <p:spPr>
          <a:xfrm>
            <a:off x="6766560" y="32004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0 new</a:t>
            </a:r>
            <a:endParaRPr lang="en-US" sz="4000" dirty="0"/>
          </a:p>
        </p:txBody>
      </p:sp>
      <p:sp>
        <p:nvSpPr>
          <p:cNvPr id="10" name="stat label"/>
          <p:cNvSpPr txBox="1"/>
          <p:nvPr/>
        </p:nvSpPr>
        <p:spPr>
          <a:xfrm>
            <a:off x="6766560" y="4069080"/>
            <a:ext cx="2377440" cy="822960"/>
          </a:xfrm>
          <a:prstGeom prst="rect">
            <a:avLst/>
          </a:prstGeom>
          <a:noFill/>
          <a:ln/>
        </p:spPr>
        <p:txBody>
          <a:bodyPr wrap="square" lIns="0" tIns="0" rIns="0" bIns="0" rtlCol="0" anchor="t"/>
          <a:lstStyle/>
          <a:p>
            <a:pPr indent="0" marL="0">
              <a:buNone/>
            </a:pPr>
            <a:r>
              <a:rPr lang="en-US" sz="1400" dirty="0">
                <a:solidFill>
                  <a:srgbClr val="5C7173"/>
                </a:solidFill>
              </a:rPr>
              <a:t>findings created when all proposals on a claim are applied together</a:t>
            </a:r>
            <a:endParaRPr lang="en-US" sz="1400" dirty="0"/>
          </a:p>
        </p:txBody>
      </p:sp>
      <p:sp>
        <p:nvSpPr>
          <p:cNvPr id="11" name="stat"/>
          <p:cNvSpPr txBox="1"/>
          <p:nvPr/>
        </p:nvSpPr>
        <p:spPr>
          <a:xfrm>
            <a:off x="9326880" y="32004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4,200</a:t>
            </a:r>
            <a:endParaRPr lang="en-US" sz="4000" dirty="0"/>
          </a:p>
        </p:txBody>
      </p:sp>
      <p:sp>
        <p:nvSpPr>
          <p:cNvPr id="12" name="stat label"/>
          <p:cNvSpPr txBox="1"/>
          <p:nvPr/>
        </p:nvSpPr>
        <p:spPr>
          <a:xfrm>
            <a:off x="9326880" y="4069080"/>
            <a:ext cx="2377440" cy="822960"/>
          </a:xfrm>
          <a:prstGeom prst="rect">
            <a:avLst/>
          </a:prstGeom>
          <a:noFill/>
          <a:ln/>
        </p:spPr>
        <p:txBody>
          <a:bodyPr wrap="square" lIns="0" tIns="0" rIns="0" bIns="0" rtlCol="0" anchor="t"/>
          <a:lstStyle/>
          <a:p>
            <a:pPr indent="0" marL="0">
              <a:buNone/>
            </a:pPr>
            <a:r>
              <a:rPr lang="en-US" sz="1400" dirty="0">
                <a:solidFill>
                  <a:srgbClr val="5C7173"/>
                </a:solidFill>
              </a:rPr>
              <a:t>attempts to edit an identifier, all refused</a:t>
            </a:r>
            <a:endParaRPr lang="en-US" sz="1400" dirty="0"/>
          </a:p>
        </p:txBody>
      </p:sp>
      <p:sp>
        <p:nvSpPr>
          <p:cNvPr id="13" name="limit card"/>
          <p:cNvSpPr/>
          <p:nvPr/>
        </p:nvSpPr>
        <p:spPr>
          <a:xfrm>
            <a:off x="6766560" y="4983480"/>
            <a:ext cx="4846320" cy="1097280"/>
          </a:xfrm>
          <a:prstGeom prst="roundRect">
            <a:avLst>
              <a:gd name="adj" fmla="val 10000"/>
            </a:avLst>
          </a:prstGeom>
          <a:solidFill>
            <a:srgbClr val="FFF1DB"/>
          </a:solidFill>
          <a:ln w="12700">
            <a:solidFill>
              <a:srgbClr val="FFF1DB"/>
            </a:solidFill>
            <a:prstDash val="solid"/>
          </a:ln>
        </p:spPr>
      </p:sp>
      <p:sp>
        <p:nvSpPr>
          <p:cNvPr id="14" name="limit text"/>
          <p:cNvSpPr txBox="1"/>
          <p:nvPr/>
        </p:nvSpPr>
        <p:spPr>
          <a:xfrm>
            <a:off x="6949440" y="4983480"/>
            <a:ext cx="4526280" cy="1097280"/>
          </a:xfrm>
          <a:prstGeom prst="rect">
            <a:avLst/>
          </a:prstGeom>
          <a:noFill/>
          <a:ln/>
        </p:spPr>
        <p:txBody>
          <a:bodyPr wrap="square" lIns="0" tIns="0" rIns="0" bIns="0" rtlCol="0" anchor="ctr"/>
          <a:lstStyle/>
          <a:p>
            <a:pPr indent="0" marL="0">
              <a:buNone/>
            </a:pPr>
            <a:r>
              <a:rPr lang="en-US" sz="1300" dirty="0">
                <a:solidFill>
                  <a:srgbClr val="17292B"/>
                </a:solidFill>
              </a:rPr>
              <a:t>Limit: only three rules have computable proposals. For the other twelve the copilot asks or checks. The reviewer still compares the figure with the bill.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Fewer decisions for a person, with the risk bounded</a:t>
            </a:r>
            <a:endParaRPr lang="en-US" sz="3200" dirty="0"/>
          </a:p>
        </p:txBody>
      </p:sp>
      <p:sp>
        <p:nvSpPr>
          <p:cNvPr id="4" name="tag"/>
          <p:cNvSpPr/>
          <p:nvPr/>
        </p:nvSpPr>
        <p:spPr>
          <a:xfrm>
            <a:off x="9966960" y="73152"/>
            <a:ext cx="11887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9966960" y="73152"/>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simulated</a:t>
            </a:r>
            <a:endParaRPr lang="en-US" sz="1100" dirty="0"/>
          </a:p>
        </p:txBody>
      </p:sp>
      <p:sp>
        <p:nvSpPr>
          <p:cNvPr id="6" name="lever 1"/>
          <p:cNvSpPr/>
          <p:nvPr/>
        </p:nvSpPr>
        <p:spPr>
          <a:xfrm>
            <a:off x="548640" y="1417320"/>
            <a:ext cx="6400800" cy="914400"/>
          </a:xfrm>
          <a:prstGeom prst="roundRect">
            <a:avLst>
              <a:gd name="adj" fmla="val 12000"/>
            </a:avLst>
          </a:prstGeom>
          <a:solidFill>
            <a:srgbClr val="F2F6F5"/>
          </a:solidFill>
          <a:ln w="12700">
            <a:solidFill>
              <a:srgbClr val="F2F6F5"/>
            </a:solidFill>
            <a:prstDash val="solid"/>
          </a:ln>
        </p:spPr>
      </p:sp>
      <p:sp>
        <p:nvSpPr>
          <p:cNvPr id="7" name="tag"/>
          <p:cNvSpPr/>
          <p:nvPr/>
        </p:nvSpPr>
        <p:spPr>
          <a:xfrm>
            <a:off x="5806440" y="1737360"/>
            <a:ext cx="1005840" cy="274320"/>
          </a:xfrm>
          <a:prstGeom prst="roundRect">
            <a:avLst>
              <a:gd name="adj" fmla="val 50000"/>
            </a:avLst>
          </a:prstGeom>
          <a:solidFill>
            <a:srgbClr val="14746F"/>
          </a:solidFill>
          <a:ln w="12700">
            <a:solidFill>
              <a:srgbClr val="14746F"/>
            </a:solidFill>
            <a:prstDash val="solid"/>
          </a:ln>
        </p:spPr>
      </p:sp>
      <p:sp>
        <p:nvSpPr>
          <p:cNvPr id="8" name="tag text"/>
          <p:cNvSpPr txBox="1"/>
          <p:nvPr/>
        </p:nvSpPr>
        <p:spPr>
          <a:xfrm>
            <a:off x="5806440" y="1737360"/>
            <a:ext cx="1005840" cy="274320"/>
          </a:xfrm>
          <a:prstGeom prst="rect">
            <a:avLst/>
          </a:prstGeom>
          <a:noFill/>
          <a:ln/>
        </p:spPr>
        <p:txBody>
          <a:bodyPr wrap="square" lIns="0" tIns="0" rIns="0" bIns="0" rtlCol="0" anchor="ctr"/>
          <a:lstStyle/>
          <a:p>
            <a:pPr algn="ctr" indent="0" marL="0">
              <a:buNone/>
            </a:pPr>
            <a:r>
              <a:rPr lang="en-US" sz="1100" b="1" dirty="0">
                <a:solidFill>
                  <a:srgbClr val="FFFFFF"/>
                </a:solidFill>
              </a:rPr>
              <a:t>on</a:t>
            </a:r>
            <a:endParaRPr lang="en-US" sz="1100" dirty="0"/>
          </a:p>
        </p:txBody>
      </p:sp>
      <p:sp>
        <p:nvSpPr>
          <p:cNvPr id="9" name="lever text"/>
          <p:cNvSpPr txBox="1"/>
          <p:nvPr/>
        </p:nvSpPr>
        <p:spPr>
          <a:xfrm>
            <a:off x="731520" y="1417320"/>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One-click confirm</a:t>
            </a:r>
            <a:endParaRPr lang="en-US" sz="1500" dirty="0"/>
          </a:p>
          <a:p>
            <a:pPr indent="0" marL="0">
              <a:buNone/>
            </a:pPr>
            <a:r>
              <a:rPr lang="en-US" sz="1200" dirty="0">
                <a:solidFill>
                  <a:srgbClr val="17292B"/>
                </a:solidFill>
              </a:rPr>
              <a:t>Confirming needs no typed reason. Dismissing still does, because it overrides the engine.</a:t>
            </a:r>
            <a:endParaRPr lang="en-US" sz="1500" dirty="0"/>
          </a:p>
        </p:txBody>
      </p:sp>
      <p:sp>
        <p:nvSpPr>
          <p:cNvPr id="10" name="lever 2"/>
          <p:cNvSpPr/>
          <p:nvPr/>
        </p:nvSpPr>
        <p:spPr>
          <a:xfrm>
            <a:off x="548640" y="2441448"/>
            <a:ext cx="6400800" cy="914400"/>
          </a:xfrm>
          <a:prstGeom prst="roundRect">
            <a:avLst>
              <a:gd name="adj" fmla="val 12000"/>
            </a:avLst>
          </a:prstGeom>
          <a:solidFill>
            <a:srgbClr val="F2F6F5"/>
          </a:solidFill>
          <a:ln w="12700">
            <a:solidFill>
              <a:srgbClr val="F2F6F5"/>
            </a:solidFill>
            <a:prstDash val="solid"/>
          </a:ln>
        </p:spPr>
      </p:sp>
      <p:sp>
        <p:nvSpPr>
          <p:cNvPr id="11" name="tag"/>
          <p:cNvSpPr/>
          <p:nvPr/>
        </p:nvSpPr>
        <p:spPr>
          <a:xfrm>
            <a:off x="5806440" y="2761488"/>
            <a:ext cx="1005840" cy="274320"/>
          </a:xfrm>
          <a:prstGeom prst="roundRect">
            <a:avLst>
              <a:gd name="adj" fmla="val 50000"/>
            </a:avLst>
          </a:prstGeom>
          <a:solidFill>
            <a:srgbClr val="D5E1DF"/>
          </a:solidFill>
          <a:ln w="12700">
            <a:solidFill>
              <a:srgbClr val="D5E1DF"/>
            </a:solidFill>
            <a:prstDash val="solid"/>
          </a:ln>
        </p:spPr>
      </p:sp>
      <p:sp>
        <p:nvSpPr>
          <p:cNvPr id="12" name="tag text"/>
          <p:cNvSpPr txBox="1"/>
          <p:nvPr/>
        </p:nvSpPr>
        <p:spPr>
          <a:xfrm>
            <a:off x="5806440" y="2761488"/>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13" name="lever text"/>
          <p:cNvSpPr txBox="1"/>
          <p:nvPr/>
        </p:nvSpPr>
        <p:spPr>
          <a:xfrm>
            <a:off x="731520" y="2441448"/>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Bulk confirm</a:t>
            </a:r>
            <a:endParaRPr lang="en-US" sz="1500" dirty="0"/>
          </a:p>
          <a:p>
            <a:pPr indent="0" marL="0">
              <a:buNone/>
            </a:pPr>
            <a:r>
              <a:rPr lang="en-US" sz="1200" dirty="0">
                <a:solidFill>
                  <a:srgbClr val="17292B"/>
                </a:solidFill>
              </a:rPr>
              <a:t>For rules reviewers almost always uphold. A random share still gets a full review. Bulk decisions never count as evidence.</a:t>
            </a:r>
            <a:endParaRPr lang="en-US" sz="1500" dirty="0"/>
          </a:p>
        </p:txBody>
      </p:sp>
      <p:sp>
        <p:nvSpPr>
          <p:cNvPr id="14" name="lever 3"/>
          <p:cNvSpPr/>
          <p:nvPr/>
        </p:nvSpPr>
        <p:spPr>
          <a:xfrm>
            <a:off x="548640" y="3465576"/>
            <a:ext cx="6400800" cy="914400"/>
          </a:xfrm>
          <a:prstGeom prst="roundRect">
            <a:avLst>
              <a:gd name="adj" fmla="val 12000"/>
            </a:avLst>
          </a:prstGeom>
          <a:solidFill>
            <a:srgbClr val="F2F6F5"/>
          </a:solidFill>
          <a:ln w="12700">
            <a:solidFill>
              <a:srgbClr val="F2F6F5"/>
            </a:solidFill>
            <a:prstDash val="solid"/>
          </a:ln>
        </p:spPr>
      </p:sp>
      <p:sp>
        <p:nvSpPr>
          <p:cNvPr id="15" name="tag"/>
          <p:cNvSpPr/>
          <p:nvPr/>
        </p:nvSpPr>
        <p:spPr>
          <a:xfrm>
            <a:off x="5806440" y="3785616"/>
            <a:ext cx="1005840" cy="274320"/>
          </a:xfrm>
          <a:prstGeom prst="roundRect">
            <a:avLst>
              <a:gd name="adj" fmla="val 50000"/>
            </a:avLst>
          </a:prstGeom>
          <a:solidFill>
            <a:srgbClr val="D5E1DF"/>
          </a:solidFill>
          <a:ln w="12700">
            <a:solidFill>
              <a:srgbClr val="D5E1DF"/>
            </a:solidFill>
            <a:prstDash val="solid"/>
          </a:ln>
        </p:spPr>
      </p:sp>
      <p:sp>
        <p:nvSpPr>
          <p:cNvPr id="16" name="tag text"/>
          <p:cNvSpPr txBox="1"/>
          <p:nvPr/>
        </p:nvSpPr>
        <p:spPr>
          <a:xfrm>
            <a:off x="5806440" y="3785616"/>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17" name="lever text"/>
          <p:cNvSpPr txBox="1"/>
          <p:nvPr/>
        </p:nvSpPr>
        <p:spPr>
          <a:xfrm>
            <a:off x="731520" y="3465576"/>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Auto-clear green claims</a:t>
            </a:r>
            <a:endParaRPr lang="en-US" sz="1500" dirty="0"/>
          </a:p>
          <a:p>
            <a:pPr indent="0" marL="0">
              <a:buNone/>
            </a:pPr>
            <a:r>
              <a:rPr lang="en-US" sz="1200" dirty="0">
                <a:solidFill>
                  <a:srgbClr val="17292B"/>
                </a:solidFill>
              </a:rPr>
              <a:t>Pre-validation clearance only, with a random audit sample and an exact bound on the miss rate.</a:t>
            </a:r>
            <a:endParaRPr lang="en-US" sz="1500" dirty="0"/>
          </a:p>
        </p:txBody>
      </p:sp>
      <p:sp>
        <p:nvSpPr>
          <p:cNvPr id="18" name="lever 4"/>
          <p:cNvSpPr/>
          <p:nvPr/>
        </p:nvSpPr>
        <p:spPr>
          <a:xfrm>
            <a:off x="548640" y="4489704"/>
            <a:ext cx="6400800" cy="914400"/>
          </a:xfrm>
          <a:prstGeom prst="roundRect">
            <a:avLst>
              <a:gd name="adj" fmla="val 12000"/>
            </a:avLst>
          </a:prstGeom>
          <a:solidFill>
            <a:srgbClr val="F2F6F5"/>
          </a:solidFill>
          <a:ln w="12700">
            <a:solidFill>
              <a:srgbClr val="F2F6F5"/>
            </a:solidFill>
            <a:prstDash val="solid"/>
          </a:ln>
        </p:spPr>
      </p:sp>
      <p:sp>
        <p:nvSpPr>
          <p:cNvPr id="19" name="tag"/>
          <p:cNvSpPr/>
          <p:nvPr/>
        </p:nvSpPr>
        <p:spPr>
          <a:xfrm>
            <a:off x="5806440" y="4809744"/>
            <a:ext cx="1005840" cy="274320"/>
          </a:xfrm>
          <a:prstGeom prst="roundRect">
            <a:avLst>
              <a:gd name="adj" fmla="val 50000"/>
            </a:avLst>
          </a:prstGeom>
          <a:solidFill>
            <a:srgbClr val="D5E1DF"/>
          </a:solidFill>
          <a:ln w="12700">
            <a:solidFill>
              <a:srgbClr val="D5E1DF"/>
            </a:solidFill>
            <a:prstDash val="solid"/>
          </a:ln>
        </p:spPr>
      </p:sp>
      <p:sp>
        <p:nvSpPr>
          <p:cNvPr id="20" name="tag text"/>
          <p:cNvSpPr txBox="1"/>
          <p:nvPr/>
        </p:nvSpPr>
        <p:spPr>
          <a:xfrm>
            <a:off x="5806440" y="4809744"/>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21" name="lever text"/>
          <p:cNvSpPr txBox="1"/>
          <p:nvPr/>
        </p:nvSpPr>
        <p:spPr>
          <a:xfrm>
            <a:off x="731520" y="4489704"/>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Auto-request information</a:t>
            </a:r>
            <a:endParaRPr lang="en-US" sz="1500" dirty="0"/>
          </a:p>
          <a:p>
            <a:pPr indent="0" marL="0">
              <a:buNone/>
            </a:pPr>
            <a:r>
              <a:rPr lang="en-US" sz="1200" dirty="0">
                <a:solidFill>
                  <a:srgbClr val="17292B"/>
                </a:solidFill>
              </a:rPr>
              <a:t>For UNABLE_TO_ASSESS findings. The audit sample goes to a person.</a:t>
            </a:r>
            <a:endParaRPr lang="en-US" sz="1500" dirty="0"/>
          </a:p>
        </p:txBody>
      </p:sp>
      <p:sp>
        <p:nvSpPr>
          <p:cNvPr id="22" name="stat"/>
          <p:cNvSpPr txBox="1"/>
          <p:nvPr/>
        </p:nvSpPr>
        <p:spPr>
          <a:xfrm>
            <a:off x="7406640" y="1417320"/>
            <a:ext cx="21031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-39%</a:t>
            </a:r>
            <a:endParaRPr lang="en-US" sz="4400" dirty="0"/>
          </a:p>
        </p:txBody>
      </p:sp>
      <p:sp>
        <p:nvSpPr>
          <p:cNvPr id="23" name="stat label"/>
          <p:cNvSpPr txBox="1"/>
          <p:nvPr/>
        </p:nvSpPr>
        <p:spPr>
          <a:xfrm>
            <a:off x="7406640" y="2286000"/>
            <a:ext cx="2103120" cy="822960"/>
          </a:xfrm>
          <a:prstGeom prst="rect">
            <a:avLst/>
          </a:prstGeom>
          <a:noFill/>
          <a:ln/>
        </p:spPr>
        <p:txBody>
          <a:bodyPr wrap="square" lIns="0" tIns="0" rIns="0" bIns="0" rtlCol="0" anchor="t"/>
          <a:lstStyle/>
          <a:p>
            <a:pPr indent="0" marL="0">
              <a:buNone/>
            </a:pPr>
            <a:r>
              <a:rPr lang="en-US" sz="1400" dirty="0">
                <a:solidFill>
                  <a:srgbClr val="5C7173"/>
                </a:solidFill>
              </a:rPr>
              <a:t>findings a person decides per 500 claims: 650 to 399</a:t>
            </a:r>
            <a:endParaRPr lang="en-US" sz="1400" dirty="0"/>
          </a:p>
        </p:txBody>
      </p:sp>
      <p:sp>
        <p:nvSpPr>
          <p:cNvPr id="24" name="stat"/>
          <p:cNvSpPr txBox="1"/>
          <p:nvPr/>
        </p:nvSpPr>
        <p:spPr>
          <a:xfrm>
            <a:off x="9601200" y="1417320"/>
            <a:ext cx="201168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0</a:t>
            </a:r>
            <a:endParaRPr lang="en-US" sz="4400" dirty="0"/>
          </a:p>
        </p:txBody>
      </p:sp>
      <p:sp>
        <p:nvSpPr>
          <p:cNvPr id="25" name="stat label"/>
          <p:cNvSpPr txBox="1"/>
          <p:nvPr/>
        </p:nvSpPr>
        <p:spPr>
          <a:xfrm>
            <a:off x="9601200" y="2286000"/>
            <a:ext cx="2011680" cy="822960"/>
          </a:xfrm>
          <a:prstGeom prst="rect">
            <a:avLst/>
          </a:prstGeom>
          <a:noFill/>
          <a:ln/>
        </p:spPr>
        <p:txBody>
          <a:bodyPr wrap="square" lIns="0" tIns="0" rIns="0" bIns="0" rtlCol="0" anchor="t"/>
          <a:lstStyle/>
          <a:p>
            <a:pPr indent="0" marL="0">
              <a:buNone/>
            </a:pPr>
            <a:r>
              <a:rPr lang="en-US" sz="1400" dirty="0">
                <a:solidFill>
                  <a:srgbClr val="5C7173"/>
                </a:solidFill>
              </a:rPr>
              <a:t>wrong against the answer key</a:t>
            </a:r>
            <a:endParaRPr lang="en-US" sz="1400" dirty="0"/>
          </a:p>
        </p:txBody>
      </p:sp>
      <p:sp>
        <p:nvSpPr>
          <p:cNvPr id="26" name="honesty card"/>
          <p:cNvSpPr/>
          <p:nvPr/>
        </p:nvSpPr>
        <p:spPr>
          <a:xfrm>
            <a:off x="7406640" y="3429000"/>
            <a:ext cx="4206240" cy="2651760"/>
          </a:xfrm>
          <a:prstGeom prst="roundRect">
            <a:avLst>
              <a:gd name="adj" fmla="val 4138"/>
            </a:avLst>
          </a:prstGeom>
          <a:solidFill>
            <a:srgbClr val="0E3B3F"/>
          </a:solidFill>
          <a:ln w="12700">
            <a:solidFill>
              <a:srgbClr val="0E3B3F"/>
            </a:solidFill>
            <a:prstDash val="solid"/>
          </a:ln>
        </p:spPr>
      </p:sp>
      <p:sp>
        <p:nvSpPr>
          <p:cNvPr id="27" name="h"/>
          <p:cNvSpPr txBox="1"/>
          <p:nvPr/>
        </p:nvSpPr>
        <p:spPr>
          <a:xfrm>
            <a:off x="7635240" y="3520440"/>
            <a:ext cx="374904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is not known</a:t>
            </a:r>
            <a:endParaRPr lang="en-US" sz="1700" dirty="0"/>
          </a:p>
        </p:txBody>
      </p:sp>
      <p:sp>
        <p:nvSpPr>
          <p:cNvPr id="28" name="honesty text"/>
          <p:cNvSpPr txBox="1"/>
          <p:nvPr/>
        </p:nvSpPr>
        <p:spPr>
          <a:xfrm>
            <a:off x="7635240" y="3931920"/>
            <a:ext cx="3749040" cy="2011680"/>
          </a:xfrm>
          <a:prstGeom prst="rect">
            <a:avLst/>
          </a:prstGeom>
          <a:noFill/>
          <a:ln/>
        </p:spPr>
        <p:txBody>
          <a:bodyPr wrap="square" lIns="0" tIns="0" rIns="0" bIns="0" rtlCol="0" anchor="t"/>
          <a:lstStyle/>
          <a:p>
            <a:pPr indent="0" marL="0">
              <a:buNone/>
            </a:pPr>
            <a:r>
              <a:rPr lang="en-US" sz="1400" dirty="0">
                <a:solidFill>
                  <a:srgbClr val="DDEEEB"/>
                </a:solidFill>
              </a:rPr>
              <a:t>Time per finding has not been measured. The savings are counted in decisions, on the real pipeline with simulated reviewers. The first real step is a timed session with a few officers.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Auto-clear green claims, with a random audit</a:t>
            </a:r>
            <a:endParaRPr lang="en-US" sz="3200" dirty="0"/>
          </a:p>
        </p:txBody>
      </p:sp>
      <p:sp>
        <p:nvSpPr>
          <p:cNvPr id="4" name="tag"/>
          <p:cNvSpPr/>
          <p:nvPr/>
        </p:nvSpPr>
        <p:spPr>
          <a:xfrm>
            <a:off x="9966960" y="73152"/>
            <a:ext cx="137160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9966960" y="73152"/>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6" name="bullets"/>
          <p:cNvSpPr txBox="1"/>
          <p:nvPr/>
        </p:nvSpPr>
        <p:spPr>
          <a:xfrm>
            <a:off x="548640" y="1371600"/>
            <a:ext cx="5486400" cy="274320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7292B"/>
                </a:solidFill>
              </a:rPr>
              <a:t>A claim with nothing flagged and an intact set of 15 results can be cleared by the system (actor system:auto-clear)</a:t>
            </a:r>
            <a:endParaRPr lang="en-US" sz="1350" dirty="0"/>
          </a:p>
          <a:p>
            <a:pPr marL="203200" indent="-203200">
              <a:spcAft>
                <a:spcPts val="600"/>
              </a:spcAft>
              <a:buSzPct val="100000"/>
              <a:buChar char="•"/>
            </a:pPr>
            <a:r>
              <a:rPr lang="en-US" sz="1350" dirty="0">
                <a:solidFill>
                  <a:srgbClr val="17292B"/>
                </a:solidFill>
              </a:rPr>
              <a:t>Except a random 5% (audit_percent, 1 to 100) that still go to a person. The draw is written on the claim</a:t>
            </a:r>
            <a:endParaRPr lang="en-US" sz="1350" dirty="0"/>
          </a:p>
          <a:p>
            <a:pPr marL="203200" indent="-203200">
              <a:spcAft>
                <a:spcPts val="600"/>
              </a:spcAft>
              <a:buSzPct val="100000"/>
              <a:buChar char="•"/>
            </a:pPr>
            <a:r>
              <a:rPr lang="en-US" sz="1350" dirty="0">
                <a:solidFill>
                  <a:srgbClr val="17292B"/>
                </a:solidFill>
              </a:rPr>
              <a:t>A damaged claim, or one with a flagged finding, is never cleared by the system</a:t>
            </a:r>
            <a:endParaRPr lang="en-US" sz="1350" dirty="0"/>
          </a:p>
          <a:p>
            <a:pPr marL="203200" indent="-203200">
              <a:spcAft>
                <a:spcPts val="600"/>
              </a:spcAft>
              <a:buSzPct val="100000"/>
              <a:buChar char="•"/>
            </a:pPr>
            <a:r>
              <a:rPr lang="en-US" sz="1350" dirty="0">
                <a:solidFill>
                  <a:srgbClr val="17292B"/>
                </a:solidFill>
              </a:rPr>
              <a:t>System-cleared claims never count as verified by a person in the feedback reports</a:t>
            </a:r>
            <a:endParaRPr lang="en-US" sz="1350" dirty="0"/>
          </a:p>
        </p:txBody>
      </p:sp>
      <p:sp>
        <p:nvSpPr>
          <p:cNvPr id="7" name="stat"/>
          <p:cNvSpPr txBox="1"/>
          <p:nvPr/>
        </p:nvSpPr>
        <p:spPr>
          <a:xfrm>
            <a:off x="548640" y="4160520"/>
            <a:ext cx="2651760" cy="822960"/>
          </a:xfrm>
          <a:prstGeom prst="rect">
            <a:avLst/>
          </a:prstGeom>
          <a:noFill/>
          <a:ln/>
        </p:spPr>
        <p:txBody>
          <a:bodyPr wrap="square" lIns="0" tIns="0" rIns="0" bIns="0" rtlCol="0" anchor="b"/>
          <a:lstStyle/>
          <a:p>
            <a:pPr indent="0" marL="0">
              <a:buNone/>
            </a:pPr>
            <a:r>
              <a:rPr lang="en-US" sz="3400" b="1" dirty="0">
                <a:solidFill>
                  <a:srgbClr val="14746F"/>
                </a:solidFill>
                <a:latin typeface="Cambria" pitchFamily="34" charset="0"/>
                <a:ea typeface="Cambria" pitchFamily="34" charset="-122"/>
                <a:cs typeface="Cambria" pitchFamily="34" charset="-120"/>
              </a:rPr>
              <a:t>159 of 500</a:t>
            </a:r>
            <a:endParaRPr lang="en-US" sz="3400" dirty="0"/>
          </a:p>
        </p:txBody>
      </p:sp>
      <p:sp>
        <p:nvSpPr>
          <p:cNvPr id="8" name="stat label"/>
          <p:cNvSpPr txBox="1"/>
          <p:nvPr/>
        </p:nvSpPr>
        <p:spPr>
          <a:xfrm>
            <a:off x="548640" y="5029200"/>
            <a:ext cx="2651760" cy="822960"/>
          </a:xfrm>
          <a:prstGeom prst="rect">
            <a:avLst/>
          </a:prstGeom>
          <a:noFill/>
          <a:ln/>
        </p:spPr>
        <p:txBody>
          <a:bodyPr wrap="square" lIns="0" tIns="0" rIns="0" bIns="0" rtlCol="0" anchor="t"/>
          <a:lstStyle/>
          <a:p>
            <a:pPr indent="0" marL="0">
              <a:buNone/>
            </a:pPr>
            <a:r>
              <a:rPr lang="en-US" sz="1400" dirty="0">
                <a:solidFill>
                  <a:srgbClr val="5C7173"/>
                </a:solidFill>
              </a:rPr>
              <a:t>claims cleared by the system (31.8%), on 20 random batches of the 600 labelled claims</a:t>
            </a:r>
            <a:endParaRPr lang="en-US" sz="1400" dirty="0"/>
          </a:p>
        </p:txBody>
      </p:sp>
      <p:sp>
        <p:nvSpPr>
          <p:cNvPr id="9" name="stat"/>
          <p:cNvSpPr txBox="1"/>
          <p:nvPr/>
        </p:nvSpPr>
        <p:spPr>
          <a:xfrm>
            <a:off x="3383280" y="4160520"/>
            <a:ext cx="2651760" cy="822960"/>
          </a:xfrm>
          <a:prstGeom prst="rect">
            <a:avLst/>
          </a:prstGeom>
          <a:noFill/>
          <a:ln/>
        </p:spPr>
        <p:txBody>
          <a:bodyPr wrap="square" lIns="0" tIns="0" rIns="0" bIns="0" rtlCol="0" anchor="b"/>
          <a:lstStyle/>
          <a:p>
            <a:pPr indent="0" marL="0">
              <a:buNone/>
            </a:pPr>
            <a:r>
              <a:rPr lang="en-US" sz="3400" b="1" dirty="0">
                <a:solidFill>
                  <a:srgbClr val="14746F"/>
                </a:solidFill>
                <a:latin typeface="Cambria" pitchFamily="34" charset="0"/>
                <a:ea typeface="Cambria" pitchFamily="34" charset="-122"/>
                <a:cs typeface="Cambria" pitchFamily="34" charset="-120"/>
              </a:rPr>
              <a:t>0</a:t>
            </a:r>
            <a:endParaRPr lang="en-US" sz="3400" dirty="0"/>
          </a:p>
        </p:txBody>
      </p:sp>
      <p:sp>
        <p:nvSpPr>
          <p:cNvPr id="10" name="stat label"/>
          <p:cNvSpPr txBox="1"/>
          <p:nvPr/>
        </p:nvSpPr>
        <p:spPr>
          <a:xfrm>
            <a:off x="3383280" y="5029200"/>
            <a:ext cx="2651760" cy="822960"/>
          </a:xfrm>
          <a:prstGeom prst="rect">
            <a:avLst/>
          </a:prstGeom>
          <a:noFill/>
          <a:ln/>
        </p:spPr>
        <p:txBody>
          <a:bodyPr wrap="square" lIns="0" tIns="0" rIns="0" bIns="0" rtlCol="0" anchor="t"/>
          <a:lstStyle/>
          <a:p>
            <a:pPr indent="0" marL="0">
              <a:buNone/>
            </a:pPr>
            <a:r>
              <a:rPr lang="en-US" sz="1400" dirty="0">
                <a:solidFill>
                  <a:srgbClr val="5C7173"/>
                </a:solidFill>
              </a:rPr>
              <a:t>cleared claims that had a finding in the answer key</a:t>
            </a:r>
            <a:endParaRPr lang="en-US" sz="1400" dirty="0"/>
          </a:p>
        </p:txBody>
      </p:sp>
      <p:graphicFrame>
        <p:nvGraphicFramePr>
          <p:cNvPr id="11" name="Chart 0" descr=""/>
          <p:cNvGraphicFramePr/>
          <p:nvPr/>
        </p:nvGraphicFramePr>
        <p:xfrm>
          <a:off x="6309360" y="1325880"/>
          <a:ext cx="5303520" cy="2926080"/>
        </p:xfrm>
        <a:graphic xmlns:a="http://schemas.openxmlformats.org/drawingml/2006/main">
          <a:graphicData uri="http://schemas.openxmlformats.org/drawingml/2006/chart">
            <c:chart xmlns:c="http://schemas.openxmlformats.org/drawingml/2006/chart" r:id="rId1"/>
          </a:graphicData>
        </a:graphic>
      </p:graphicFrame>
      <p:sp>
        <p:nvSpPr>
          <p:cNvPr id="12" name="audit panel card"/>
          <p:cNvSpPr/>
          <p:nvPr/>
        </p:nvSpPr>
        <p:spPr>
          <a:xfrm>
            <a:off x="6309360" y="4389120"/>
            <a:ext cx="5303520" cy="1691640"/>
          </a:xfrm>
          <a:prstGeom prst="roundRect">
            <a:avLst>
              <a:gd name="adj" fmla="val 6486"/>
            </a:avLst>
          </a:prstGeom>
          <a:solidFill>
            <a:srgbClr val="0E3B3F"/>
          </a:solidFill>
          <a:ln w="12700">
            <a:solidFill>
              <a:srgbClr val="0E3B3F"/>
            </a:solidFill>
            <a:prstDash val="solid"/>
          </a:ln>
        </p:spPr>
      </p:sp>
      <p:sp>
        <p:nvSpPr>
          <p:cNvPr id="13" name="audit panel text"/>
          <p:cNvSpPr txBox="1"/>
          <p:nvPr/>
        </p:nvSpPr>
        <p:spPr>
          <a:xfrm>
            <a:off x="6492240" y="4434840"/>
            <a:ext cx="4937760" cy="1600200"/>
          </a:xfrm>
          <a:prstGeom prst="rect">
            <a:avLst/>
          </a:prstGeom>
          <a:noFill/>
          <a:ln/>
        </p:spPr>
        <p:txBody>
          <a:bodyPr wrap="square" lIns="0" tIns="0" rIns="0" bIns="0" rtlCol="0" anchor="ctr"/>
          <a:lstStyle/>
          <a:p>
            <a:pPr indent="0" marL="0">
              <a:spcAft>
                <a:spcPts val="400"/>
              </a:spcAft>
              <a:buNone/>
            </a:pPr>
            <a:r>
              <a:rPr lang="en-US" sz="1500" b="1" dirty="0">
                <a:solidFill>
                  <a:srgbClr val="FFFFFF"/>
                </a:solidFill>
                <a:latin typeface="Cambria" pitchFamily="34" charset="0"/>
                <a:ea typeface="Cambria" pitchFamily="34" charset="-122"/>
                <a:cs typeface="Cambria" pitchFamily="34" charset="-120"/>
              </a:rPr>
              <a:t>The audit panel (administrator)</a:t>
            </a:r>
            <a:endParaRPr lang="en-US" sz="1500" dirty="0"/>
          </a:p>
          <a:p>
            <a:pPr indent="0" marL="0">
              <a:buNone/>
            </a:pPr>
            <a:r>
              <a:rPr lang="en-US" sz="1200" dirty="0">
                <a:solidFill>
                  <a:srgbClr val="DDEEEB"/>
                </a:solidFill>
              </a:rPr>
              <a:t>Claims cleared, verified clear, escalated, and the escalation rate with an exact 95% upper bound. Every escalation counts as a possible miss. Read-only advice: keep 5% until 300 audited claims are resolved; lower it only when the bound is under 1%.</a:t>
            </a:r>
            <a:endParaRPr lang="en-US" sz="1500" dirty="0"/>
          </a:p>
        </p:txBody>
      </p:sp>
      <p:sp>
        <p:nvSpPr>
          <p:cNvPr id="14" name="footnote"/>
          <p:cNvSpPr txBox="1"/>
          <p:nvPr/>
        </p:nvSpPr>
        <p:spPr>
          <a:xfrm>
            <a:off x="548640" y="621792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Synthetic mix, engine equal to the key: this shows what the policy does here, not what a hospital would see.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Auto-request, and what each step saves</a:t>
            </a:r>
            <a:endParaRPr lang="en-US" sz="3200" dirty="0"/>
          </a:p>
        </p:txBody>
      </p:sp>
      <p:sp>
        <p:nvSpPr>
          <p:cNvPr id="4" name="tag"/>
          <p:cNvSpPr/>
          <p:nvPr/>
        </p:nvSpPr>
        <p:spPr>
          <a:xfrm>
            <a:off x="9966960" y="73152"/>
            <a:ext cx="137160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9966960" y="73152"/>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743200"/>
                <a:gridCol w="2011680"/>
                <a:gridCol w="1828800"/>
              </a:tblGrid>
              <a:tr h="457200">
                <a:tc>
                  <a:txBody>
                    <a:bodyPr/>
                    <a:lstStyle/>
                    <a:p>
                      <a:pPr indent="0" marL="0">
                        <a:buNone/>
                      </a:pPr>
                      <a:r>
                        <a:rPr lang="en-US" sz="1250" b="1" dirty="0">
                          <a:solidFill>
                            <a:srgbClr val="FFFFFF"/>
                          </a:solidFill>
                        </a:rPr>
                        <a:t>Per 500 claims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Decided without a person</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Findings a person decides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250" dirty="0">
                          <a:solidFill>
                            <a:srgbClr val="17292B"/>
                          </a:solidFill>
                        </a:rPr>
                        <a:t>Today</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650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7292B"/>
                          </a:solidFill>
                        </a:rPr>
                        <a:t>Auto-clear only</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159 (31.7%)</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650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250" dirty="0">
                          <a:solidFill>
                            <a:srgbClr val="17292B"/>
                          </a:solidFill>
                        </a:rPr>
                        <a:t>+ auto-request, medium severity</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170 (34.1%)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541 (-16.9%)</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7292B"/>
                          </a:solidFill>
                        </a:rPr>
                        <a:t>+ auto-request, all severities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b="1" dirty="0">
                          <a:solidFill>
                            <a:srgbClr val="14746F"/>
                          </a:solidFill>
                        </a:rPr>
                        <a:t>196 (39.1%)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b="1" dirty="0">
                          <a:solidFill>
                            <a:srgbClr val="14746F"/>
                          </a:solidFill>
                        </a:rPr>
                        <a:t>399 (-38.6%)</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7" name="bullets"/>
          <p:cNvSpPr txBox="1"/>
          <p:nvPr/>
        </p:nvSpPr>
        <p:spPr>
          <a:xfrm>
            <a:off x="548640" y="3840480"/>
            <a:ext cx="6583680" cy="22860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For a finding that only says data is missing (UNABLE_TO_ASSESS), the system records the request itself (system:auto-request)</a:t>
            </a:r>
            <a:endParaRPr lang="en-US" sz="1250" dirty="0"/>
          </a:p>
          <a:p>
            <a:pPr marL="203200" indent="-203200">
              <a:spcAft>
                <a:spcPts val="600"/>
              </a:spcAft>
              <a:buSzPct val="100000"/>
              <a:buChar char="•"/>
            </a:pPr>
            <a:r>
              <a:rPr lang="en-US" sz="1250" dirty="0">
                <a:solidFill>
                  <a:srgbClr val="17292B"/>
                </a:solidFill>
              </a:rPr>
              <a:t>The reason is the rulebook's own corrective-action text, never claim data</a:t>
            </a:r>
            <a:endParaRPr lang="en-US" sz="1250" dirty="0"/>
          </a:p>
          <a:p>
            <a:pPr marL="203200" indent="-203200">
              <a:spcAft>
                <a:spcPts val="600"/>
              </a:spcAft>
              <a:buSzPct val="100000"/>
              <a:buChar char="•"/>
            </a:pPr>
            <a:r>
              <a:rPr lang="en-US" sz="1250" dirty="0">
                <a:solidFill>
                  <a:srgbClr val="17292B"/>
                </a:solidFill>
              </a:rPr>
              <a:t>A claim that also has real findings keeps them for a person</a:t>
            </a:r>
            <a:endParaRPr lang="en-US" sz="1250" dirty="0"/>
          </a:p>
          <a:p>
            <a:pPr marL="203200" indent="-203200">
              <a:spcAft>
                <a:spcPts val="600"/>
              </a:spcAft>
              <a:buSzPct val="100000"/>
              <a:buChar char="•"/>
            </a:pPr>
            <a:r>
              <a:rPr lang="en-US" sz="1250" dirty="0">
                <a:solidFill>
                  <a:srgbClr val="17292B"/>
                </a:solidFill>
              </a:rPr>
              <a:t>A random share is handled by a person in full, and the audit counts how often they asked too</a:t>
            </a:r>
            <a:endParaRPr lang="en-US" sz="1250" dirty="0"/>
          </a:p>
          <a:p>
            <a:pPr marL="203200" indent="-203200">
              <a:spcAft>
                <a:spcPts val="600"/>
              </a:spcAft>
              <a:buSzPct val="100000"/>
              <a:buChar char="•"/>
            </a:pPr>
            <a:r>
              <a:rPr lang="en-US" sz="1250" dirty="0">
                <a:solidFill>
                  <a:srgbClr val="17292B"/>
                </a:solidFill>
              </a:rPr>
              <a:t>0 recorded requests were on a finding the answer key does not call missing data</a:t>
            </a:r>
            <a:endParaRPr lang="en-US" sz="1250" dirty="0"/>
          </a:p>
        </p:txBody>
      </p:sp>
      <p:graphicFrame>
        <p:nvGraphicFramePr>
          <p:cNvPr id="8" name="Chart 0" descr=""/>
          <p:cNvGraphicFramePr/>
          <p:nvPr/>
        </p:nvGraphicFramePr>
        <p:xfrm>
          <a:off x="7315200" y="1325880"/>
          <a:ext cx="4297680" cy="3840480"/>
        </p:xfrm>
        <a:graphic xmlns:a="http://schemas.openxmlformats.org/drawingml/2006/main">
          <a:graphicData uri="http://schemas.openxmlformats.org/drawingml/2006/chart">
            <c:chart xmlns:c="http://schemas.openxmlformats.org/drawingml/2006/chart" r:id="rId1"/>
          </a:graphicData>
        </a:graphic>
      </p:graphicFrame>
      <p:sp>
        <p:nvSpPr>
          <p:cNvPr id="9" name="footnote"/>
          <p:cNvSpPr txBox="1"/>
          <p:nvPr/>
        </p:nvSpPr>
        <p:spPr>
          <a:xfrm>
            <a:off x="548640" y="621792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Real engine and triage, 20 random batches, 5% audit. No review time is measured: these are shares of claims and findings, not minutes.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One-click confirm, and bulk confirm for reliable rules</a:t>
            </a:r>
            <a:endParaRPr lang="en-US" sz="3200" dirty="0"/>
          </a:p>
        </p:txBody>
      </p:sp>
      <p:sp>
        <p:nvSpPr>
          <p:cNvPr id="4" name="confirm card 1"/>
          <p:cNvSpPr/>
          <p:nvPr/>
        </p:nvSpPr>
        <p:spPr>
          <a:xfrm>
            <a:off x="548640" y="1371600"/>
            <a:ext cx="3566160" cy="4069080"/>
          </a:xfrm>
          <a:prstGeom prst="roundRect">
            <a:avLst>
              <a:gd name="adj" fmla="val 3077"/>
            </a:avLst>
          </a:prstGeom>
          <a:solidFill>
            <a:srgbClr val="F2F6F5"/>
          </a:solidFill>
          <a:ln w="12700">
            <a:solidFill>
              <a:srgbClr val="F2F6F5"/>
            </a:solidFill>
            <a:prstDash val="solid"/>
          </a:ln>
        </p:spPr>
      </p:sp>
      <p:sp>
        <p:nvSpPr>
          <p:cNvPr id="5" name="confirm title"/>
          <p:cNvSpPr txBox="1"/>
          <p:nvPr/>
        </p:nvSpPr>
        <p:spPr>
          <a:xfrm>
            <a:off x="777240" y="1463040"/>
            <a:ext cx="3108960" cy="45720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One-click confirm</a:t>
            </a:r>
            <a:endParaRPr lang="en-US" sz="1700" dirty="0"/>
          </a:p>
        </p:txBody>
      </p:sp>
      <p:sp>
        <p:nvSpPr>
          <p:cNvPr id="6" name="tag"/>
          <p:cNvSpPr/>
          <p:nvPr/>
        </p:nvSpPr>
        <p:spPr>
          <a:xfrm>
            <a:off x="777240" y="1965960"/>
            <a:ext cx="1280160" cy="274320"/>
          </a:xfrm>
          <a:prstGeom prst="roundRect">
            <a:avLst>
              <a:gd name="adj" fmla="val 50000"/>
            </a:avLst>
          </a:prstGeom>
          <a:solidFill>
            <a:srgbClr val="14746F"/>
          </a:solidFill>
          <a:ln w="12700">
            <a:solidFill>
              <a:srgbClr val="14746F"/>
            </a:solidFill>
            <a:prstDash val="solid"/>
          </a:ln>
        </p:spPr>
      </p:sp>
      <p:sp>
        <p:nvSpPr>
          <p:cNvPr id="7" name="tag text"/>
          <p:cNvSpPr txBox="1"/>
          <p:nvPr/>
        </p:nvSpPr>
        <p:spPr>
          <a:xfrm>
            <a:off x="777240" y="1965960"/>
            <a:ext cx="1280160" cy="274320"/>
          </a:xfrm>
          <a:prstGeom prst="rect">
            <a:avLst/>
          </a:prstGeom>
          <a:noFill/>
          <a:ln/>
        </p:spPr>
        <p:txBody>
          <a:bodyPr wrap="square" lIns="0" tIns="0" rIns="0" bIns="0" rtlCol="0" anchor="ctr"/>
          <a:lstStyle/>
          <a:p>
            <a:pPr algn="ctr" indent="0" marL="0">
              <a:buNone/>
            </a:pPr>
            <a:r>
              <a:rPr lang="en-US" sz="1100" b="1" dirty="0">
                <a:solidFill>
                  <a:srgbClr val="FFFFFF"/>
                </a:solidFill>
              </a:rPr>
              <a:t>on</a:t>
            </a:r>
            <a:endParaRPr lang="en-US" sz="1100" dirty="0"/>
          </a:p>
        </p:txBody>
      </p:sp>
      <p:sp>
        <p:nvSpPr>
          <p:cNvPr id="8" name="bullets"/>
          <p:cNvSpPr txBox="1"/>
          <p:nvPr/>
        </p:nvSpPr>
        <p:spPr>
          <a:xfrm>
            <a:off x="777240" y="2423160"/>
            <a:ext cx="3154680" cy="292608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Confirming agrees with the engine, so it needs no typed reason; dismissing still does</a:t>
            </a:r>
            <a:endParaRPr lang="en-US" sz="1250" dirty="0"/>
          </a:p>
          <a:p>
            <a:pPr marL="203200" indent="-203200">
              <a:spcAft>
                <a:spcPts val="600"/>
              </a:spcAft>
              <a:buSzPct val="100000"/>
              <a:buChar char="•"/>
            </a:pPr>
            <a:r>
              <a:rPr lang="en-US" sz="1250" dirty="0">
                <a:solidFill>
                  <a:srgbClr val="17292B"/>
                </a:solidFill>
              </a:rPr>
              <a:t>Confirm the issue, or Confirm all N findings in two clicks, or press c twice</a:t>
            </a:r>
            <a:endParaRPr lang="en-US" sz="1250" dirty="0"/>
          </a:p>
          <a:p>
            <a:pPr marL="203200" indent="-203200">
              <a:spcAft>
                <a:spcPts val="600"/>
              </a:spcAft>
              <a:buSzPct val="100000"/>
              <a:buChar char="•"/>
            </a:pPr>
            <a:r>
              <a:rPr lang="en-US" sz="1250" dirty="0">
                <a:solidFill>
                  <a:srgbClr val="17292B"/>
                </a:solidFill>
              </a:rPr>
              <a:t>When the last finding is decided the console opens the next claim</a:t>
            </a:r>
            <a:endParaRPr lang="en-US" sz="1250" dirty="0"/>
          </a:p>
          <a:p>
            <a:pPr marL="203200" indent="-203200">
              <a:spcAft>
                <a:spcPts val="600"/>
              </a:spcAft>
              <a:buSzPct val="100000"/>
              <a:buChar char="•"/>
            </a:pPr>
            <a:r>
              <a:rPr lang="en-US" sz="1250" dirty="0">
                <a:solidFill>
                  <a:srgbClr val="17292B"/>
                </a:solidFill>
              </a:rPr>
              <a:t>Same record in the review log and the security log as before</a:t>
            </a:r>
            <a:endParaRPr lang="en-US" sz="1250" dirty="0"/>
          </a:p>
        </p:txBody>
      </p:sp>
      <p:sp>
        <p:nvSpPr>
          <p:cNvPr id="9" name="confirm card 2"/>
          <p:cNvSpPr/>
          <p:nvPr/>
        </p:nvSpPr>
        <p:spPr>
          <a:xfrm>
            <a:off x="4297680" y="1371600"/>
            <a:ext cx="3566160" cy="4069080"/>
          </a:xfrm>
          <a:prstGeom prst="roundRect">
            <a:avLst>
              <a:gd name="adj" fmla="val 3077"/>
            </a:avLst>
          </a:prstGeom>
          <a:solidFill>
            <a:srgbClr val="F2F6F5"/>
          </a:solidFill>
          <a:ln w="12700">
            <a:solidFill>
              <a:srgbClr val="F2F6F5"/>
            </a:solidFill>
            <a:prstDash val="solid"/>
          </a:ln>
        </p:spPr>
      </p:sp>
      <p:sp>
        <p:nvSpPr>
          <p:cNvPr id="10" name="confirm title"/>
          <p:cNvSpPr txBox="1"/>
          <p:nvPr/>
        </p:nvSpPr>
        <p:spPr>
          <a:xfrm>
            <a:off x="4526280" y="1463040"/>
            <a:ext cx="3108960" cy="45720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Bulk confirm</a:t>
            </a:r>
            <a:endParaRPr lang="en-US" sz="1700" dirty="0"/>
          </a:p>
        </p:txBody>
      </p:sp>
      <p:sp>
        <p:nvSpPr>
          <p:cNvPr id="11" name="tag"/>
          <p:cNvSpPr/>
          <p:nvPr/>
        </p:nvSpPr>
        <p:spPr>
          <a:xfrm>
            <a:off x="4526280" y="1965960"/>
            <a:ext cx="1280160" cy="274320"/>
          </a:xfrm>
          <a:prstGeom prst="roundRect">
            <a:avLst>
              <a:gd name="adj" fmla="val 50000"/>
            </a:avLst>
          </a:prstGeom>
          <a:solidFill>
            <a:srgbClr val="D5E1DF"/>
          </a:solidFill>
          <a:ln w="12700">
            <a:solidFill>
              <a:srgbClr val="D5E1DF"/>
            </a:solidFill>
            <a:prstDash val="solid"/>
          </a:ln>
        </p:spPr>
      </p:sp>
      <p:sp>
        <p:nvSpPr>
          <p:cNvPr id="12" name="tag text"/>
          <p:cNvSpPr txBox="1"/>
          <p:nvPr/>
        </p:nvSpPr>
        <p:spPr>
          <a:xfrm>
            <a:off x="4526280" y="1965960"/>
            <a:ext cx="128016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13" name="bullets"/>
          <p:cNvSpPr txBox="1"/>
          <p:nvPr/>
        </p:nvSpPr>
        <p:spPr>
          <a:xfrm>
            <a:off x="4526280" y="2423160"/>
            <a:ext cx="3154680" cy="292608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Only for rules whose findings reviewers almost always uphold: an exact 95% lower bound of the upheld rate above a setting, from at least 20 decisions by at least 3 reviewers</a:t>
            </a:r>
            <a:endParaRPr lang="en-US" sz="1250" dirty="0"/>
          </a:p>
          <a:p>
            <a:pPr marL="203200" indent="-203200">
              <a:spcAft>
                <a:spcPts val="600"/>
              </a:spcAft>
              <a:buSzPct val="100000"/>
              <a:buChar char="•"/>
            </a:pPr>
            <a:r>
              <a:rPr lang="en-US" sz="1250" dirty="0">
                <a:solidFill>
                  <a:srgbClr val="17292B"/>
                </a:solidFill>
              </a:rPr>
              <a:t>A By rule view: open the list, look, confirm all in two clicks</a:t>
            </a:r>
            <a:endParaRPr lang="en-US" sz="1250" dirty="0"/>
          </a:p>
          <a:p>
            <a:pPr marL="203200" indent="-203200">
              <a:spcAft>
                <a:spcPts val="600"/>
              </a:spcAft>
              <a:buSzPct val="100000"/>
              <a:buChar char="•"/>
            </a:pPr>
            <a:r>
              <a:rPr lang="en-US" sz="1250" dirty="0">
                <a:solidFill>
                  <a:srgbClr val="17292B"/>
                </a:solidFill>
              </a:rPr>
              <a:t>Only confirm is possible</a:t>
            </a:r>
            <a:endParaRPr lang="en-US" sz="1250" dirty="0"/>
          </a:p>
        </p:txBody>
      </p:sp>
      <p:sp>
        <p:nvSpPr>
          <p:cNvPr id="14" name="confirm card 3"/>
          <p:cNvSpPr/>
          <p:nvPr/>
        </p:nvSpPr>
        <p:spPr>
          <a:xfrm>
            <a:off x="8046720" y="1371600"/>
            <a:ext cx="3566160" cy="4069080"/>
          </a:xfrm>
          <a:prstGeom prst="roundRect">
            <a:avLst>
              <a:gd name="adj" fmla="val 3077"/>
            </a:avLst>
          </a:prstGeom>
          <a:solidFill>
            <a:srgbClr val="F2F6F5"/>
          </a:solidFill>
          <a:ln w="12700">
            <a:solidFill>
              <a:srgbClr val="F2F6F5"/>
            </a:solidFill>
            <a:prstDash val="solid"/>
          </a:ln>
        </p:spPr>
      </p:sp>
      <p:sp>
        <p:nvSpPr>
          <p:cNvPr id="15" name="confirm title"/>
          <p:cNvSpPr txBox="1"/>
          <p:nvPr/>
        </p:nvSpPr>
        <p:spPr>
          <a:xfrm>
            <a:off x="8275320" y="1463040"/>
            <a:ext cx="3108960" cy="45720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Guards, all on the server</a:t>
            </a:r>
            <a:endParaRPr lang="en-US" sz="1700" dirty="0"/>
          </a:p>
        </p:txBody>
      </p:sp>
      <p:sp>
        <p:nvSpPr>
          <p:cNvPr id="16" name="bullets"/>
          <p:cNvSpPr txBox="1"/>
          <p:nvPr/>
        </p:nvSpPr>
        <p:spPr>
          <a:xfrm>
            <a:off x="8275320" y="2011680"/>
            <a:ext cx="3154680" cy="292608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The rule must qualify at that moment, checked on every request</a:t>
            </a:r>
            <a:endParaRPr lang="en-US" sz="1250" dirty="0"/>
          </a:p>
          <a:p>
            <a:pPr marL="203200" indent="-203200">
              <a:spcAft>
                <a:spcPts val="600"/>
              </a:spcAft>
              <a:buSzPct val="100000"/>
              <a:buChar char="•"/>
            </a:pPr>
            <a:r>
              <a:rPr lang="en-US" sz="1250" dirty="0">
                <a:solidFill>
                  <a:srgbClr val="17292B"/>
                </a:solidFill>
              </a:rPr>
              <a:t>Each claim goes through the normal decision path: lease, clearance, two-senior sign-off, masking, both logs</a:t>
            </a:r>
            <a:endParaRPr lang="en-US" sz="1250" dirty="0"/>
          </a:p>
          <a:p>
            <a:pPr marL="203200" indent="-203200">
              <a:spcAft>
                <a:spcPts val="600"/>
              </a:spcAft>
              <a:buSzPct val="100000"/>
              <a:buChar char="•"/>
            </a:pPr>
            <a:r>
              <a:rPr lang="en-US" sz="1250" dirty="0">
                <a:solidFill>
                  <a:srgbClr val="17292B"/>
                </a:solidFill>
              </a:rPr>
              <a:t>A random share is left for a full review</a:t>
            </a:r>
            <a:endParaRPr lang="en-US" sz="1250" dirty="0"/>
          </a:p>
          <a:p>
            <a:pPr marL="203200" indent="-203200">
              <a:spcAft>
                <a:spcPts val="600"/>
              </a:spcAft>
              <a:buSzPct val="100000"/>
              <a:buChar char="•"/>
            </a:pPr>
            <a:r>
              <a:rPr lang="en-US" sz="1250" dirty="0">
                <a:solidFill>
                  <a:srgbClr val="17292B"/>
                </a:solidFill>
              </a:rPr>
              <a:t>Bulk decisions never count as evidence, so a rubber stamp cannot keep a rule eligible</a:t>
            </a:r>
            <a:endParaRPr lang="en-US" sz="1250" dirty="0"/>
          </a:p>
        </p:txBody>
      </p:sp>
      <p:sp>
        <p:nvSpPr>
          <p:cNvPr id="17" name="confirm limit"/>
          <p:cNvSpPr/>
          <p:nvPr/>
        </p:nvSpPr>
        <p:spPr>
          <a:xfrm>
            <a:off x="548640" y="5532120"/>
            <a:ext cx="11064240" cy="594360"/>
          </a:xfrm>
          <a:prstGeom prst="roundRect">
            <a:avLst>
              <a:gd name="adj" fmla="val 18462"/>
            </a:avLst>
          </a:prstGeom>
          <a:solidFill>
            <a:srgbClr val="FFF1DB"/>
          </a:solidFill>
          <a:ln w="12700">
            <a:solidFill>
              <a:srgbClr val="FFF1DB"/>
            </a:solidFill>
            <a:prstDash val="solid"/>
          </a:ln>
        </p:spPr>
      </p:sp>
      <p:sp>
        <p:nvSpPr>
          <p:cNvPr id="18" name="confirm limit text"/>
          <p:cNvSpPr txBox="1"/>
          <p:nvPr/>
        </p:nvSpPr>
        <p:spPr>
          <a:xfrm>
            <a:off x="731520" y="5532120"/>
            <a:ext cx="10698480" cy="594360"/>
          </a:xfrm>
          <a:prstGeom prst="rect">
            <a:avLst/>
          </a:prstGeom>
          <a:noFill/>
          <a:ln/>
        </p:spPr>
        <p:txBody>
          <a:bodyPr wrap="square" lIns="0" tIns="0" rIns="0" bIns="0" rtlCol="0" anchor="ctr"/>
          <a:lstStyle/>
          <a:p>
            <a:pPr indent="0" marL="0">
              <a:buNone/>
            </a:pPr>
            <a:r>
              <a:rPr lang="en-US" sz="1200" dirty="0">
                <a:solidFill>
                  <a:srgbClr val="17292B"/>
                </a:solidFill>
              </a:rPr>
              <a:t>Limits: the 'look at the list first' step is enforced by the screen only. The evidence for the reliable rules came from simulated reviewers. One administrator can switch these on, logged but without a second approval, and there is no automatic brake.</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Learning from feedback, and a model we set aside</a:t>
            </a:r>
            <a:endParaRPr lang="en-US" sz="3200" dirty="0"/>
          </a:p>
        </p:txBody>
      </p:sp>
      <p:sp>
        <p:nvSpPr>
          <p:cNvPr id="4" name="left"/>
          <p:cNvSpPr/>
          <p:nvPr/>
        </p:nvSpPr>
        <p:spPr>
          <a:xfrm>
            <a:off x="548640" y="1417320"/>
            <a:ext cx="5394960" cy="4572000"/>
          </a:xfrm>
          <a:prstGeom prst="roundRect">
            <a:avLst>
              <a:gd name="adj" fmla="val 2400"/>
            </a:avLst>
          </a:prstGeom>
          <a:solidFill>
            <a:srgbClr val="F2F6F5"/>
          </a:solidFill>
          <a:ln w="12700">
            <a:solidFill>
              <a:srgbClr val="F2F6F5"/>
            </a:solidFill>
            <a:prstDash val="solid"/>
          </a:ln>
        </p:spPr>
      </p:sp>
      <p:sp>
        <p:nvSpPr>
          <p:cNvPr id="5" name="h"/>
          <p:cNvSpPr txBox="1"/>
          <p:nvPr/>
        </p:nvSpPr>
        <p:spPr>
          <a:xfrm>
            <a:off x="777240" y="1508760"/>
            <a:ext cx="493776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Workload report (live)</a:t>
            </a:r>
            <a:endParaRPr lang="en-US" sz="1800" dirty="0"/>
          </a:p>
        </p:txBody>
      </p:sp>
      <p:sp>
        <p:nvSpPr>
          <p:cNvPr id="6" name="bullets"/>
          <p:cNvSpPr txBox="1"/>
          <p:nvPr/>
        </p:nvSpPr>
        <p:spPr>
          <a:xfrm>
            <a:off x="777240" y="2011680"/>
            <a:ext cx="4937760"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Reads reviewer confirmations and dismissals per rule</a:t>
            </a:r>
            <a:endParaRPr lang="en-US" sz="1500" dirty="0"/>
          </a:p>
          <a:p>
            <a:pPr marL="203200" indent="-203200">
              <a:spcAft>
                <a:spcPts val="600"/>
              </a:spcAft>
              <a:buSzPct val="100000"/>
              <a:buChar char="•"/>
            </a:pPr>
            <a:r>
              <a:rPr lang="en-US" sz="1500" dirty="0">
                <a:solidFill>
                  <a:srgbClr val="17292B"/>
                </a:solidFill>
              </a:rPr>
              <a:t>Lists rules reviewers keep overriding: candidates to retune</a:t>
            </a:r>
            <a:endParaRPr lang="en-US" sz="1500" dirty="0"/>
          </a:p>
          <a:p>
            <a:pPr marL="203200" indent="-203200">
              <a:spcAft>
                <a:spcPts val="600"/>
              </a:spcAft>
              <a:buSzPct val="100000"/>
              <a:buChar char="•"/>
            </a:pPr>
            <a:r>
              <a:rPr lang="en-US" sz="1500" dirty="0">
                <a:solidFill>
                  <a:srgbClr val="17292B"/>
                </a:solidFill>
              </a:rPr>
              <a:t>Lists rules almost always upheld: candidates for light review, with a bounded price</a:t>
            </a:r>
            <a:endParaRPr lang="en-US" sz="1500" dirty="0"/>
          </a:p>
          <a:p>
            <a:pPr marL="203200" indent="-203200">
              <a:spcAft>
                <a:spcPts val="600"/>
              </a:spcAft>
              <a:buSzPct val="100000"/>
              <a:buChar char="•"/>
            </a:pPr>
            <a:r>
              <a:rPr lang="en-US" sz="1500" dirty="0">
                <a:solidFill>
                  <a:srgbClr val="17292B"/>
                </a:solidFill>
              </a:rPr>
              <a:t>Read-only. It changes nothing by itself</a:t>
            </a:r>
            <a:endParaRPr lang="en-US" sz="1500" dirty="0"/>
          </a:p>
        </p:txBody>
      </p:sp>
      <p:sp>
        <p:nvSpPr>
          <p:cNvPr id="7" name="note"/>
          <p:cNvSpPr txBox="1"/>
          <p:nvPr/>
        </p:nvSpPr>
        <p:spPr>
          <a:xfrm>
            <a:off x="777240" y="4572000"/>
            <a:ext cx="4937760" cy="1188720"/>
          </a:xfrm>
          <a:prstGeom prst="rect">
            <a:avLst/>
          </a:prstGeom>
          <a:noFill/>
          <a:ln/>
        </p:spPr>
        <p:txBody>
          <a:bodyPr wrap="square" lIns="0" tIns="0" rIns="0" bIns="0" rtlCol="0" anchor="t"/>
          <a:lstStyle/>
          <a:p>
            <a:pPr indent="0" marL="0">
              <a:buNone/>
            </a:pPr>
            <a:r>
              <a:rPr lang="en-US" sz="1300" i="1" dirty="0">
                <a:solidFill>
                  <a:srgbClr val="5C7173"/>
                </a:solidFill>
              </a:rPr>
              <a:t>In simulation both bad rules were found in 20 of 20 histories after 5,000 decisions, with 0 false alarms.</a:t>
            </a:r>
            <a:endParaRPr lang="en-US" sz="1300" dirty="0"/>
          </a:p>
        </p:txBody>
      </p:sp>
      <p:sp>
        <p:nvSpPr>
          <p:cNvPr id="8" name="right"/>
          <p:cNvSpPr/>
          <p:nvPr/>
        </p:nvSpPr>
        <p:spPr>
          <a:xfrm>
            <a:off x="6217920" y="1417320"/>
            <a:ext cx="5394960" cy="4572000"/>
          </a:xfrm>
          <a:prstGeom prst="roundRect">
            <a:avLst>
              <a:gd name="adj" fmla="val 2400"/>
            </a:avLst>
          </a:prstGeom>
          <a:solidFill>
            <a:srgbClr val="F2F6F5"/>
          </a:solidFill>
          <a:ln w="12700">
            <a:solidFill>
              <a:srgbClr val="F2F6F5"/>
            </a:solidFill>
            <a:prstDash val="solid"/>
          </a:ln>
        </p:spPr>
      </p:sp>
      <p:sp>
        <p:nvSpPr>
          <p:cNvPr id="9" name="h"/>
          <p:cNvSpPr txBox="1"/>
          <p:nvPr/>
        </p:nvSpPr>
        <p:spPr>
          <a:xfrm>
            <a:off x="6446520" y="1508760"/>
            <a:ext cx="493776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Laya fine-tune (archived)</a:t>
            </a:r>
            <a:endParaRPr lang="en-US" sz="18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6446520" y="2011680"/>
          <a:ext cx="4937760" cy="914400"/>
        </p:xfrm>
        <a:graphic>
          <a:graphicData uri="http://schemas.openxmlformats.org/drawingml/2006/table">
            <a:tbl>
              <a:tblPr/>
              <a:tblGrid>
                <a:gridCol w="2377440"/>
                <a:gridCol w="1280160"/>
                <a:gridCol w="1280160"/>
              </a:tblGrid>
              <a:tr h="365760">
                <a:tc>
                  <a:txBody>
                    <a:bodyPr/>
                    <a:lstStyle/>
                    <a:p>
                      <a:pPr indent="0" marL="0">
                        <a:buNone/>
                      </a:pPr>
                      <a:r>
                        <a:rPr lang="en-US" sz="1300" b="1" dirty="0">
                          <a:solidFill>
                            <a:srgbClr val="FFFFFF"/>
                          </a:solidFill>
                        </a:rPr>
                        <a:t>Test split, 150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Accuracy</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Macro-F1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365760">
                <a:tc>
                  <a:txBody>
                    <a:bodyPr/>
                    <a:lstStyle/>
                    <a:p>
                      <a:pPr indent="0" marL="0">
                        <a:buNone/>
                      </a:pPr>
                      <a:r>
                        <a:rPr lang="en-US" sz="1300" dirty="0">
                          <a:solidFill>
                            <a:srgbClr val="17292B"/>
                          </a:solidFill>
                        </a:rPr>
                        <a:t>Zero-shot</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0.631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0.289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7292B"/>
                          </a:solidFill>
                        </a:rPr>
                        <a:t>Fine-tuned</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0.971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0.915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365760">
                <a:tc>
                  <a:txBody>
                    <a:bodyPr/>
                    <a:lstStyle/>
                    <a:p>
                      <a:pPr indent="0" marL="0">
                        <a:buNone/>
                      </a:pPr>
                      <a:r>
                        <a:rPr lang="en-US" sz="1300" dirty="0">
                          <a:solidFill>
                            <a:srgbClr val="17292B"/>
                          </a:solidFill>
                        </a:rPr>
                        <a:t>Always guess PASS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0.835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11" name="bullets"/>
          <p:cNvSpPr txBox="1"/>
          <p:nvPr/>
        </p:nvSpPr>
        <p:spPr>
          <a:xfrm>
            <a:off x="6446520" y="3657600"/>
            <a:ext cx="4937760" cy="228600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7292B"/>
                </a:solidFill>
              </a:rPr>
              <a:t>It learned the rulebook, well calibrated (ECE 0.027), but finds only 64% of real FAILs</a:t>
            </a:r>
            <a:endParaRPr lang="en-US" sz="1400" dirty="0"/>
          </a:p>
          <a:p>
            <a:pPr marL="203200" indent="-203200">
              <a:spcAft>
                <a:spcPts val="600"/>
              </a:spcAft>
              <a:buSzPct val="100000"/>
              <a:buChar char="•"/>
            </a:pPr>
            <a:r>
              <a:rPr lang="en-US" sz="1400" dirty="0">
                <a:solidFill>
                  <a:srgbClr val="17292B"/>
                </a:solidFill>
              </a:rPr>
              <a:t>Its labels are the engine's own, so after the engine it cannot save an operator any time</a:t>
            </a:r>
            <a:endParaRPr lang="en-US" sz="1400" dirty="0"/>
          </a:p>
          <a:p>
            <a:pPr marL="203200" indent="-203200">
              <a:spcAft>
                <a:spcPts val="600"/>
              </a:spcAft>
              <a:buSzPct val="100000"/>
              <a:buChar char="•"/>
            </a:pPr>
            <a:r>
              <a:rPr lang="en-US" sz="1400" dirty="0">
                <a:solidFill>
                  <a:srgbClr val="17292B"/>
                </a:solidFill>
              </a:rPr>
              <a:t>Archived, not in the decision path. A confidence is never shown as a probability</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Advisory checks that stay out of the official result</a:t>
            </a:r>
            <a:endParaRPr lang="en-US" sz="32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822960"/>
                <a:gridCol w="4754880"/>
                <a:gridCol w="1188720"/>
              </a:tblGrid>
              <a:tr h="457200">
                <a:tc>
                  <a:txBody>
                    <a:bodyPr/>
                    <a:lstStyle/>
                    <a:p>
                      <a:pPr indent="0" marL="0">
                        <a:buNone/>
                      </a:pPr>
                      <a:r>
                        <a:rPr lang="en-US" sz="1300" b="1" dirty="0">
                          <a:solidFill>
                            <a:srgbClr val="FFFFFF"/>
                          </a:solidFill>
                        </a:rPr>
                        <a:t>Rule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What it looks for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Severity</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300" dirty="0">
                          <a:solidFill>
                            <a:srgbClr val="17292B"/>
                          </a:solidFill>
                        </a:rPr>
                        <a:t>E001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Procedure pair billed without an exception modifier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E002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Exception modifier on a never-bundle pair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E003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Event date required by the diagnosis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E004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Route of administration missing</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E005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Diagnosis cannot be the primary one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E101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A line duplicates one on an earlier claim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E102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Authorization exhausted across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E103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Daily quantity across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rules card"/>
          <p:cNvSpPr/>
          <p:nvPr/>
        </p:nvSpPr>
        <p:spPr>
          <a:xfrm>
            <a:off x="7589520" y="1417320"/>
            <a:ext cx="4023360" cy="3749040"/>
          </a:xfrm>
          <a:prstGeom prst="roundRect">
            <a:avLst>
              <a:gd name="adj" fmla="val 2927"/>
            </a:avLst>
          </a:prstGeom>
          <a:solidFill>
            <a:srgbClr val="F2F6F5"/>
          </a:solidFill>
          <a:ln w="12700">
            <a:solidFill>
              <a:srgbClr val="F2F6F5"/>
            </a:solidFill>
            <a:prstDash val="solid"/>
          </a:ln>
        </p:spPr>
      </p:sp>
      <p:sp>
        <p:nvSpPr>
          <p:cNvPr id="6" name="h"/>
          <p:cNvSpPr txBox="1"/>
          <p:nvPr/>
        </p:nvSpPr>
        <p:spPr>
          <a:xfrm>
            <a:off x="7818120" y="1508760"/>
            <a:ext cx="3566160" cy="36576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Why they are separate</a:t>
            </a:r>
            <a:endParaRPr lang="en-US" sz="1700" dirty="0"/>
          </a:p>
        </p:txBody>
      </p:sp>
      <p:sp>
        <p:nvSpPr>
          <p:cNvPr id="7" name="bullets"/>
          <p:cNvSpPr txBox="1"/>
          <p:nvPr/>
        </p:nvSpPr>
        <p:spPr>
          <a:xfrm>
            <a:off x="7818120" y="1965960"/>
            <a:ext cx="3611880" cy="31089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7292B"/>
                </a:solidFill>
              </a:rPr>
              <a:t>Own ids, file and schema. They never change an official result</a:t>
            </a:r>
            <a:endParaRPr lang="en-US" sz="1350" dirty="0"/>
          </a:p>
          <a:p>
            <a:pPr marL="203200" indent="-203200">
              <a:spcAft>
                <a:spcPts val="600"/>
              </a:spcAft>
              <a:buSzPct val="100000"/>
              <a:buChar char="•"/>
            </a:pPr>
            <a:r>
              <a:rPr lang="en-US" sz="1350" dirty="0">
                <a:solidFill>
                  <a:srgbClr val="17292B"/>
                </a:solidFill>
              </a:rPr>
              <a:t>E102 is the cross-claim authorization usage you described, on explicitly synthetic history</a:t>
            </a:r>
            <a:endParaRPr lang="en-US" sz="1350" dirty="0"/>
          </a:p>
          <a:p>
            <a:pPr marL="203200" indent="-203200">
              <a:spcAft>
                <a:spcPts val="600"/>
              </a:spcAft>
              <a:buSzPct val="100000"/>
              <a:buChar char="•"/>
            </a:pPr>
            <a:r>
              <a:rPr lang="en-US" sz="1350" dirty="0">
                <a:solidFill>
                  <a:srgbClr val="17292B"/>
                </a:solidFill>
              </a:rPr>
              <a:t>E001 to E005 cannot fire on public data by design: they use invented codes</a:t>
            </a:r>
            <a:endParaRPr lang="en-US" sz="1350" dirty="0"/>
          </a:p>
          <a:p>
            <a:pPr marL="203200" indent="-203200">
              <a:spcAft>
                <a:spcPts val="600"/>
              </a:spcAft>
              <a:buSzPct val="100000"/>
              <a:buChar char="•"/>
            </a:pPr>
            <a:r>
              <a:rPr lang="en-US" sz="1350" dirty="0">
                <a:solidFill>
                  <a:srgbClr val="17292B"/>
                </a:solidFill>
              </a:rPr>
              <a:t>4,800 of 4,800 results agree with an independent oracle</a:t>
            </a:r>
            <a:endParaRPr lang="en-US" sz="1350" dirty="0"/>
          </a:p>
        </p:txBody>
      </p:sp>
      <p:sp>
        <p:nvSpPr>
          <p:cNvPr id="8" name="footnote"/>
          <p:cNvSpPr txBox="1"/>
          <p:nvPr/>
        </p:nvSpPr>
        <p:spPr>
          <a:xfrm>
            <a:off x="548640" y="585216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E102 fires only when earlier claims contributed units, so it never double-reports what R009 already fails.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Also built since Phase 1</a:t>
            </a:r>
            <a:endParaRPr lang="en-US" sz="3200" dirty="0"/>
          </a:p>
        </p:txBody>
      </p:sp>
      <p:sp>
        <p:nvSpPr>
          <p:cNvPr id="4" name="built card 1"/>
          <p:cNvSpPr/>
          <p:nvPr/>
        </p:nvSpPr>
        <p:spPr>
          <a:xfrm>
            <a:off x="548640" y="1371600"/>
            <a:ext cx="3566160" cy="4709160"/>
          </a:xfrm>
          <a:prstGeom prst="roundRect">
            <a:avLst>
              <a:gd name="adj" fmla="val 3077"/>
            </a:avLst>
          </a:prstGeom>
          <a:solidFill>
            <a:srgbClr val="F2F6F5"/>
          </a:solidFill>
          <a:ln w="12700">
            <a:solidFill>
              <a:srgbClr val="F2F6F5"/>
            </a:solidFill>
            <a:prstDash val="solid"/>
          </a:ln>
        </p:spPr>
      </p:sp>
      <p:sp>
        <p:nvSpPr>
          <p:cNvPr id="5" name="built title"/>
          <p:cNvSpPr txBox="1"/>
          <p:nvPr/>
        </p:nvSpPr>
        <p:spPr>
          <a:xfrm>
            <a:off x="777240" y="1481328"/>
            <a:ext cx="3108960" cy="45720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Payer rules as data</a:t>
            </a:r>
            <a:endParaRPr lang="en-US" sz="1800" dirty="0"/>
          </a:p>
        </p:txBody>
      </p:sp>
      <p:sp>
        <p:nvSpPr>
          <p:cNvPr id="6" name="tag"/>
          <p:cNvSpPr/>
          <p:nvPr/>
        </p:nvSpPr>
        <p:spPr>
          <a:xfrm>
            <a:off x="777240" y="2011680"/>
            <a:ext cx="1371600" cy="274320"/>
          </a:xfrm>
          <a:prstGeom prst="roundRect">
            <a:avLst>
              <a:gd name="adj" fmla="val 50000"/>
            </a:avLst>
          </a:prstGeom>
          <a:solidFill>
            <a:srgbClr val="F2A541"/>
          </a:solidFill>
          <a:ln w="12700">
            <a:solidFill>
              <a:srgbClr val="F2A541"/>
            </a:solidFill>
            <a:prstDash val="solid"/>
          </a:ln>
        </p:spPr>
      </p:sp>
      <p:sp>
        <p:nvSpPr>
          <p:cNvPr id="7" name="tag text"/>
          <p:cNvSpPr txBox="1"/>
          <p:nvPr/>
        </p:nvSpPr>
        <p:spPr>
          <a:xfrm>
            <a:off x="777240" y="2011680"/>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not editable code</a:t>
            </a:r>
            <a:endParaRPr lang="en-US" sz="1100" dirty="0"/>
          </a:p>
        </p:txBody>
      </p:sp>
      <p:sp>
        <p:nvSpPr>
          <p:cNvPr id="8" name="bullets"/>
          <p:cNvSpPr txBox="1"/>
          <p:nvPr/>
        </p:nvSpPr>
        <p:spPr>
          <a:xfrm>
            <a:off x="777240" y="2514600"/>
            <a:ext cx="3154680" cy="34747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The 15 rules are code, hashed with the build</a:t>
            </a:r>
            <a:endParaRPr lang="en-US" sz="1300" dirty="0"/>
          </a:p>
          <a:p>
            <a:pPr marL="203200" indent="-203200">
              <a:spcAft>
                <a:spcPts val="600"/>
              </a:spcAft>
              <a:buSzPct val="100000"/>
              <a:buChar char="•"/>
            </a:pPr>
            <a:r>
              <a:rPr lang="en-US" sz="1300" dirty="0">
                <a:solidFill>
                  <a:srgbClr val="17292B"/>
                </a:solidFill>
              </a:rPr>
              <a:t>A payer's table (window, providers, authorization services, limits) is data an administrator can change</a:t>
            </a:r>
            <a:endParaRPr lang="en-US" sz="1300" dirty="0"/>
          </a:p>
          <a:p>
            <a:pPr marL="203200" indent="-203200">
              <a:spcAft>
                <a:spcPts val="600"/>
              </a:spcAft>
              <a:buSzPct val="100000"/>
              <a:buChar char="•"/>
            </a:pPr>
            <a:r>
              <a:rPr lang="en-US" sz="1300" dirty="0">
                <a:solidFill>
                  <a:srgbClr val="17292B"/>
                </a:solidFill>
              </a:rPr>
              <a:t>Validated, shown as differences, needs a reason and a second administrator</a:t>
            </a:r>
            <a:endParaRPr lang="en-US" sz="1300" dirty="0"/>
          </a:p>
          <a:p>
            <a:pPr marL="203200" indent="-203200">
              <a:spcAft>
                <a:spcPts val="600"/>
              </a:spcAft>
              <a:buSzPct val="100000"/>
              <a:buChar char="•"/>
            </a:pPr>
            <a:r>
              <a:rPr lang="en-US" sz="1300" dirty="0">
                <a:solidFill>
                  <a:srgbClr val="17292B"/>
                </a:solidFill>
              </a:rPr>
              <a:t>Each change is a numbered version in a hash-chained log; every receipt names the version</a:t>
            </a:r>
            <a:endParaRPr lang="en-US" sz="1300" dirty="0"/>
          </a:p>
        </p:txBody>
      </p:sp>
      <p:sp>
        <p:nvSpPr>
          <p:cNvPr id="9" name="built card 2"/>
          <p:cNvSpPr/>
          <p:nvPr/>
        </p:nvSpPr>
        <p:spPr>
          <a:xfrm>
            <a:off x="4297680" y="1371600"/>
            <a:ext cx="3566160" cy="4709160"/>
          </a:xfrm>
          <a:prstGeom prst="roundRect">
            <a:avLst>
              <a:gd name="adj" fmla="val 3077"/>
            </a:avLst>
          </a:prstGeom>
          <a:solidFill>
            <a:srgbClr val="F2F6F5"/>
          </a:solidFill>
          <a:ln w="12700">
            <a:solidFill>
              <a:srgbClr val="F2F6F5"/>
            </a:solidFill>
            <a:prstDash val="solid"/>
          </a:ln>
        </p:spPr>
      </p:sp>
      <p:sp>
        <p:nvSpPr>
          <p:cNvPr id="10" name="built title"/>
          <p:cNvSpPr txBox="1"/>
          <p:nvPr/>
        </p:nvSpPr>
        <p:spPr>
          <a:xfrm>
            <a:off x="4526280" y="1481328"/>
            <a:ext cx="3108960" cy="45720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Specification and UML</a:t>
            </a:r>
            <a:endParaRPr lang="en-US" sz="1800" dirty="0"/>
          </a:p>
        </p:txBody>
      </p:sp>
      <p:sp>
        <p:nvSpPr>
          <p:cNvPr id="11" name="tag"/>
          <p:cNvSpPr/>
          <p:nvPr/>
        </p:nvSpPr>
        <p:spPr>
          <a:xfrm>
            <a:off x="4526280" y="2011680"/>
            <a:ext cx="1371600" cy="274320"/>
          </a:xfrm>
          <a:prstGeom prst="roundRect">
            <a:avLst>
              <a:gd name="adj" fmla="val 50000"/>
            </a:avLst>
          </a:prstGeom>
          <a:solidFill>
            <a:srgbClr val="F2A541"/>
          </a:solidFill>
          <a:ln w="12700">
            <a:solidFill>
              <a:srgbClr val="F2A541"/>
            </a:solidFill>
            <a:prstDash val="solid"/>
          </a:ln>
        </p:spPr>
      </p:sp>
      <p:sp>
        <p:nvSpPr>
          <p:cNvPr id="12" name="tag text"/>
          <p:cNvSpPr txBox="1"/>
          <p:nvPr/>
        </p:nvSpPr>
        <p:spPr>
          <a:xfrm>
            <a:off x="4526280" y="2011680"/>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documents</a:t>
            </a:r>
            <a:endParaRPr lang="en-US" sz="1100" dirty="0"/>
          </a:p>
        </p:txBody>
      </p:sp>
      <p:sp>
        <p:nvSpPr>
          <p:cNvPr id="13" name="bullets"/>
          <p:cNvSpPr txBox="1"/>
          <p:nvPr/>
        </p:nvSpPr>
        <p:spPr>
          <a:xfrm>
            <a:off x="4526280" y="2514600"/>
            <a:ext cx="3154680" cy="34747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20 use cases, each with a main scenario, alternatives and failures</a:t>
            </a:r>
            <a:endParaRPr lang="en-US" sz="1300" dirty="0"/>
          </a:p>
          <a:p>
            <a:pPr marL="203200" indent="-203200">
              <a:spcAft>
                <a:spcPts val="600"/>
              </a:spcAft>
              <a:buSzPct val="100000"/>
              <a:buChar char="•"/>
            </a:pPr>
            <a:r>
              <a:rPr lang="en-US" sz="1300" dirty="0">
                <a:solidFill>
                  <a:srgbClr val="17292B"/>
                </a:solidFill>
              </a:rPr>
              <a:t>14 UML diagrams checked against the code: states, collections, package dependencies</a:t>
            </a:r>
            <a:endParaRPr lang="en-US" sz="1300" dirty="0"/>
          </a:p>
          <a:p>
            <a:pPr marL="203200" indent="-203200">
              <a:spcAft>
                <a:spcPts val="600"/>
              </a:spcAft>
              <a:buSzPct val="100000"/>
              <a:buChar char="•"/>
            </a:pPr>
            <a:r>
              <a:rPr lang="en-US" sz="1300" dirty="0">
                <a:solidFill>
                  <a:srgbClr val="17292B"/>
                </a:solidFill>
              </a:rPr>
              <a:t>A catalogue of failures and recovery</a:t>
            </a:r>
            <a:endParaRPr lang="en-US" sz="1300" dirty="0"/>
          </a:p>
          <a:p>
            <a:pPr marL="203200" indent="-203200">
              <a:spcAft>
                <a:spcPts val="600"/>
              </a:spcAft>
              <a:buSzPct val="100000"/>
              <a:buChar char="•"/>
            </a:pPr>
            <a:r>
              <a:rPr lang="en-US" sz="1300" dirty="0">
                <a:solidFill>
                  <a:srgbClr val="17292B"/>
                </a:solidFill>
              </a:rPr>
              <a:t>A French cahier des charges for the UML teacher</a:t>
            </a:r>
            <a:endParaRPr lang="en-US" sz="1300" dirty="0"/>
          </a:p>
        </p:txBody>
      </p:sp>
      <p:sp>
        <p:nvSpPr>
          <p:cNvPr id="14" name="built card 3"/>
          <p:cNvSpPr/>
          <p:nvPr/>
        </p:nvSpPr>
        <p:spPr>
          <a:xfrm>
            <a:off x="8046720" y="1371600"/>
            <a:ext cx="3566160" cy="4709160"/>
          </a:xfrm>
          <a:prstGeom prst="roundRect">
            <a:avLst>
              <a:gd name="adj" fmla="val 3077"/>
            </a:avLst>
          </a:prstGeom>
          <a:solidFill>
            <a:srgbClr val="F2F6F5"/>
          </a:solidFill>
          <a:ln w="12700">
            <a:solidFill>
              <a:srgbClr val="F2F6F5"/>
            </a:solidFill>
            <a:prstDash val="solid"/>
          </a:ln>
        </p:spPr>
      </p:sp>
      <p:sp>
        <p:nvSpPr>
          <p:cNvPr id="15" name="built title"/>
          <p:cNvSpPr txBox="1"/>
          <p:nvPr/>
        </p:nvSpPr>
        <p:spPr>
          <a:xfrm>
            <a:off x="8275320" y="1481328"/>
            <a:ext cx="3108960" cy="45720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Live console updates</a:t>
            </a:r>
            <a:endParaRPr lang="en-US" sz="1800" dirty="0"/>
          </a:p>
        </p:txBody>
      </p:sp>
      <p:sp>
        <p:nvSpPr>
          <p:cNvPr id="16" name="tag"/>
          <p:cNvSpPr/>
          <p:nvPr/>
        </p:nvSpPr>
        <p:spPr>
          <a:xfrm>
            <a:off x="8275320" y="2011680"/>
            <a:ext cx="1371600" cy="274320"/>
          </a:xfrm>
          <a:prstGeom prst="roundRect">
            <a:avLst>
              <a:gd name="adj" fmla="val 50000"/>
            </a:avLst>
          </a:prstGeom>
          <a:solidFill>
            <a:srgbClr val="F2A541"/>
          </a:solidFill>
          <a:ln w="12700">
            <a:solidFill>
              <a:srgbClr val="F2A541"/>
            </a:solidFill>
            <a:prstDash val="solid"/>
          </a:ln>
        </p:spPr>
      </p:sp>
      <p:sp>
        <p:nvSpPr>
          <p:cNvPr id="17" name="tag text"/>
          <p:cNvSpPr txBox="1"/>
          <p:nvPr/>
        </p:nvSpPr>
        <p:spPr>
          <a:xfrm>
            <a:off x="8275320" y="2011680"/>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no claim data</a:t>
            </a:r>
            <a:endParaRPr lang="en-US" sz="1100" dirty="0"/>
          </a:p>
        </p:txBody>
      </p:sp>
      <p:sp>
        <p:nvSpPr>
          <p:cNvPr id="18" name="bullets"/>
          <p:cNvSpPr txBox="1"/>
          <p:nvPr/>
        </p:nvSpPr>
        <p:spPr>
          <a:xfrm>
            <a:off x="8275320" y="2514600"/>
            <a:ext cx="3154680" cy="34747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The console hears of a change in about 1.7 seconds instead of a 20-second poll</a:t>
            </a:r>
            <a:endParaRPr lang="en-US" sz="1300" dirty="0"/>
          </a:p>
          <a:p>
            <a:pPr marL="203200" indent="-203200">
              <a:spcAft>
                <a:spcPts val="600"/>
              </a:spcAft>
              <a:buSzPct val="100000"/>
              <a:buChar char="•"/>
            </a:pPr>
            <a:r>
              <a:rPr lang="en-US" sz="1300" dirty="0">
                <a:solidFill>
                  <a:srgbClr val="17292B"/>
                </a:solidFill>
              </a:rPr>
              <a:t>The stream carries only 'changed'; the page re-reads through the normal checked routes</a:t>
            </a:r>
            <a:endParaRPr lang="en-US" sz="1300" dirty="0"/>
          </a:p>
          <a:p>
            <a:pPr marL="203200" indent="-203200">
              <a:spcAft>
                <a:spcPts val="600"/>
              </a:spcAft>
              <a:buSzPct val="100000"/>
              <a:buChar char="•"/>
            </a:pPr>
            <a:r>
              <a:rPr lang="en-US" sz="1300" dirty="0">
                <a:solidFill>
                  <a:srgbClr val="17292B"/>
                </a:solidFill>
              </a:rPr>
              <a:t>A revoked session ends the stream</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console and the desktop app</a:t>
            </a:r>
            <a:endParaRPr lang="en-US" sz="32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766560" cy="914400"/>
        </p:xfrm>
        <a:graphic>
          <a:graphicData uri="http://schemas.openxmlformats.org/drawingml/2006/table">
            <a:tbl>
              <a:tblPr/>
              <a:tblGrid>
                <a:gridCol w="2103120"/>
                <a:gridCol w="4663440"/>
              </a:tblGrid>
              <a:tr h="640080">
                <a:tc>
                  <a:txBody>
                    <a:bodyPr/>
                    <a:lstStyle/>
                    <a:p>
                      <a:pPr indent="0" marL="0">
                        <a:buNone/>
                      </a:pPr>
                      <a:r>
                        <a:rPr lang="en-US" sz="1250" b="1" dirty="0">
                          <a:solidFill>
                            <a:srgbClr val="FFFFFF"/>
                          </a:solidFill>
                        </a:rPr>
                        <a:t>Who</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Pages they see</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640080">
                <a:tc>
                  <a:txBody>
                    <a:bodyPr/>
                    <a:lstStyle/>
                    <a:p>
                      <a:pPr indent="0" marL="0">
                        <a:buNone/>
                      </a:pPr>
                      <a:r>
                        <a:rPr lang="en-US" sz="1250" dirty="0">
                          <a:solidFill>
                            <a:srgbClr val="17292B"/>
                          </a:solidFill>
                        </a:rPr>
                        <a:t>Viewer (level 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All claims, read only</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640080">
                <a:tc>
                  <a:txBody>
                    <a:bodyPr/>
                    <a:lstStyle/>
                    <a:p>
                      <a:pPr indent="0" marL="0">
                        <a:buNone/>
                      </a:pPr>
                      <a:r>
                        <a:rPr lang="en-US" sz="1250" dirty="0">
                          <a:solidFill>
                            <a:srgbClr val="17292B"/>
                          </a:solidFill>
                        </a:rPr>
                        <a:t>Reviewer, senior (2, 3)</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My inbox, claim review with the copilot, what-if and recheck, Ask the rulebook, Import from files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640080">
                <a:tc>
                  <a:txBody>
                    <a:bodyPr/>
                    <a:lstStyle/>
                    <a:p>
                      <a:pPr indent="0" marL="0">
                        <a:buNone/>
                      </a:pPr>
                      <a:r>
                        <a:rPr lang="en-US" sz="1250" dirty="0">
                          <a:solidFill>
                            <a:srgbClr val="17292B"/>
                          </a:solidFill>
                        </a:rPr>
                        <a:t>Administrator (4)</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Queue overview, Submit claims, Routing settings, Users, Payer rules, System health, Audit and trace. An administrator cannot decide a claim</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548640" y="3977640"/>
            <a:ext cx="6766560" cy="21031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Pages are chosen by the permissions the server reports (hidden, not greyed out), and the server checks again on every request</a:t>
            </a:r>
            <a:endParaRPr lang="en-US" sz="1300" dirty="0"/>
          </a:p>
          <a:p>
            <a:pPr marL="203200" indent="-203200">
              <a:spcAft>
                <a:spcPts val="600"/>
              </a:spcAft>
              <a:buSzPct val="100000"/>
              <a:buChar char="•"/>
            </a:pPr>
            <a:r>
              <a:rPr lang="en-US" sz="1300" dirty="0">
                <a:solidFill>
                  <a:srgbClr val="17292B"/>
                </a:solidFill>
              </a:rPr>
              <a:t>Server text is only ever put on the page as text; a test scans every script for markup sinks</a:t>
            </a:r>
            <a:endParaRPr lang="en-US" sz="1300" dirty="0"/>
          </a:p>
          <a:p>
            <a:pPr marL="203200" indent="-203200">
              <a:spcAft>
                <a:spcPts val="600"/>
              </a:spcAft>
              <a:buSzPct val="100000"/>
              <a:buChar char="•"/>
            </a:pPr>
            <a:r>
              <a:rPr lang="en-US" sz="1300" dirty="0">
                <a:solidFill>
                  <a:srgbClr val="17292B"/>
                </a:solidFill>
              </a:rPr>
              <a:t>The lease countdown is on screen and a heartbeat keeps it alive</a:t>
            </a:r>
            <a:endParaRPr lang="en-US" sz="1300" dirty="0"/>
          </a:p>
          <a:p>
            <a:pPr marL="203200" indent="-203200">
              <a:spcAft>
                <a:spcPts val="600"/>
              </a:spcAft>
              <a:buSzPct val="100000"/>
              <a:buChar char="•"/>
            </a:pPr>
            <a:r>
              <a:rPr lang="en-US" sz="1300" dirty="0">
                <a:solidFill>
                  <a:srgbClr val="17292B"/>
                </a:solidFill>
              </a:rPr>
              <a:t>The console hears of changes by a live stream, not a 20-second poll</a:t>
            </a:r>
            <a:endParaRPr lang="en-US" sz="1300" dirty="0"/>
          </a:p>
        </p:txBody>
      </p:sp>
      <p:sp>
        <p:nvSpPr>
          <p:cNvPr id="6" name="desktop card"/>
          <p:cNvSpPr/>
          <p:nvPr/>
        </p:nvSpPr>
        <p:spPr>
          <a:xfrm>
            <a:off x="7589520" y="1371600"/>
            <a:ext cx="4023360" cy="4709160"/>
          </a:xfrm>
          <a:prstGeom prst="roundRect">
            <a:avLst>
              <a:gd name="adj" fmla="val 2727"/>
            </a:avLst>
          </a:prstGeom>
          <a:solidFill>
            <a:srgbClr val="0E3B3F"/>
          </a:solidFill>
          <a:ln w="12700">
            <a:solidFill>
              <a:srgbClr val="0E3B3F"/>
            </a:solidFill>
            <a:prstDash val="solid"/>
          </a:ln>
        </p:spPr>
      </p:sp>
      <p:sp>
        <p:nvSpPr>
          <p:cNvPr id="7" name="h"/>
          <p:cNvSpPr txBox="1"/>
          <p:nvPr/>
        </p:nvSpPr>
        <p:spPr>
          <a:xfrm>
            <a:off x="7818120" y="1463040"/>
            <a:ext cx="35661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Desktop app</a:t>
            </a:r>
            <a:endParaRPr lang="en-US" sz="1700" dirty="0"/>
          </a:p>
        </p:txBody>
      </p:sp>
      <p:sp>
        <p:nvSpPr>
          <p:cNvPr id="8" name="desktop text"/>
          <p:cNvSpPr txBox="1"/>
          <p:nvPr/>
        </p:nvSpPr>
        <p:spPr>
          <a:xfrm>
            <a:off x="7818120" y="1920240"/>
            <a:ext cx="3611880" cy="40233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DDEEEB"/>
                </a:solidFill>
              </a:rPr>
              <a:t>ClaimGuard.exe, one file of about 27 MB (v0.2.0, a pre-release)</a:t>
            </a:r>
            <a:endParaRPr lang="en-US" sz="1300" dirty="0"/>
          </a:p>
          <a:p>
            <a:pPr marL="177800" indent="-177800">
              <a:spcAft>
                <a:spcPts val="600"/>
              </a:spcAft>
              <a:buSzPct val="100000"/>
              <a:buChar char="•"/>
            </a:pPr>
            <a:r>
              <a:rPr lang="en-US" sz="1300" dirty="0">
                <a:solidFill>
                  <a:srgbClr val="DDEEEB"/>
                </a:solidFill>
              </a:rPr>
              <a:t>The same console in its own window; nothing to install beside it</a:t>
            </a:r>
            <a:endParaRPr lang="en-US" sz="1300" dirty="0"/>
          </a:p>
          <a:p>
            <a:pPr marL="177800" indent="-177800">
              <a:spcAft>
                <a:spcPts val="600"/>
              </a:spcAft>
              <a:buSzPct val="100000"/>
              <a:buChar char="•"/>
            </a:pPr>
            <a:r>
              <a:rPr lang="en-US" sz="1300" dirty="0">
                <a:solidFill>
                  <a:srgbClr val="DDEEEB"/>
                </a:solidFill>
              </a:rPr>
              <a:t>A hash is published with the release</a:t>
            </a:r>
            <a:endParaRPr lang="en-US" sz="1300" dirty="0"/>
          </a:p>
          <a:p>
            <a:pPr marL="177800" indent="-177800">
              <a:spcAft>
                <a:spcPts val="600"/>
              </a:spcAft>
              <a:buSzPct val="100000"/>
              <a:buChar char="•"/>
            </a:pPr>
            <a:r>
              <a:rPr lang="en-US" sz="1300" dirty="0">
                <a:solidFill>
                  <a:srgbClr val="DDEEEB"/>
                </a:solidFill>
              </a:rPr>
              <a:t>A clickable mobile prototype exists; after your meeting of 27 September the web console is the main target</a:t>
            </a:r>
            <a:endParaRPr lang="en-US" sz="1300" dirty="0"/>
          </a:p>
          <a:p>
            <a:pPr marL="177800" indent="-177800">
              <a:buSzPct val="100000"/>
              <a:buChar char="•"/>
            </a:pPr>
            <a:r>
              <a:rPr lang="en-US" sz="1300" dirty="0">
                <a:solidFill>
                  <a:srgbClr val="DDEEEB"/>
                </a:solidFill>
              </a:rPr>
              <a:t>Not done: a manual accessibility audit, and a test on a phone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Security: attacked, mutated and fuzzed before you did it</a:t>
            </a:r>
            <a:endParaRPr lang="en-US" sz="3200" dirty="0"/>
          </a:p>
        </p:txBody>
      </p:sp>
      <p:sp>
        <p:nvSpPr>
          <p:cNvPr id="4" name="stat"/>
          <p:cNvSpPr txBox="1"/>
          <p:nvPr/>
        </p:nvSpPr>
        <p:spPr>
          <a:xfrm>
            <a:off x="54864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116</a:t>
            </a:r>
            <a:endParaRPr lang="en-US" sz="4800" dirty="0"/>
          </a:p>
        </p:txBody>
      </p:sp>
      <p:sp>
        <p:nvSpPr>
          <p:cNvPr id="5" name="stat label"/>
          <p:cNvSpPr txBox="1"/>
          <p:nvPr/>
        </p:nvSpPr>
        <p:spPr>
          <a:xfrm>
            <a:off x="5486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black-box attack checks, all passing</a:t>
            </a:r>
            <a:endParaRPr lang="en-US" sz="1400" dirty="0"/>
          </a:p>
        </p:txBody>
      </p:sp>
      <p:sp>
        <p:nvSpPr>
          <p:cNvPr id="6" name="stat"/>
          <p:cNvSpPr txBox="1"/>
          <p:nvPr/>
        </p:nvSpPr>
        <p:spPr>
          <a:xfrm>
            <a:off x="338328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93</a:t>
            </a:r>
            <a:endParaRPr lang="en-US" sz="4800" dirty="0"/>
          </a:p>
        </p:txBody>
      </p:sp>
      <p:sp>
        <p:nvSpPr>
          <p:cNvPr id="7" name="stat label"/>
          <p:cNvSpPr txBox="1"/>
          <p:nvPr/>
        </p:nvSpPr>
        <p:spPr>
          <a:xfrm>
            <a:off x="338328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deliberate breakages of the security and queue rules, each caught by a test</a:t>
            </a:r>
            <a:endParaRPr lang="en-US" sz="1400" dirty="0"/>
          </a:p>
        </p:txBody>
      </p:sp>
      <p:sp>
        <p:nvSpPr>
          <p:cNvPr id="8" name="stat"/>
          <p:cNvSpPr txBox="1"/>
          <p:nvPr/>
        </p:nvSpPr>
        <p:spPr>
          <a:xfrm>
            <a:off x="621792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400,000</a:t>
            </a:r>
            <a:endParaRPr lang="en-US" sz="4800" dirty="0"/>
          </a:p>
        </p:txBody>
      </p:sp>
      <p:sp>
        <p:nvSpPr>
          <p:cNvPr id="9" name="stat label"/>
          <p:cNvSpPr txBox="1"/>
          <p:nvPr/>
        </p:nvSpPr>
        <p:spPr>
          <a:xfrm>
            <a:off x="621792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fuzzed requests through the API</a:t>
            </a:r>
            <a:endParaRPr lang="en-US" sz="1400" dirty="0"/>
          </a:p>
        </p:txBody>
      </p:sp>
      <p:sp>
        <p:nvSpPr>
          <p:cNvPr id="10" name="stat"/>
          <p:cNvSpPr txBox="1"/>
          <p:nvPr/>
        </p:nvSpPr>
        <p:spPr>
          <a:xfrm>
            <a:off x="905256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60</a:t>
            </a:r>
            <a:endParaRPr lang="en-US" sz="4800" dirty="0"/>
          </a:p>
        </p:txBody>
      </p:sp>
      <p:sp>
        <p:nvSpPr>
          <p:cNvPr id="11" name="stat label"/>
          <p:cNvSpPr txBox="1"/>
          <p:nvPr/>
        </p:nvSpPr>
        <p:spPr>
          <a:xfrm>
            <a:off x="905256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claims one person may unmask an hour, with a reason</a:t>
            </a:r>
            <a:endParaRPr lang="en-US" sz="1400" dirty="0"/>
          </a:p>
        </p:txBody>
      </p:sp>
      <p:sp>
        <p:nvSpPr>
          <p:cNvPr id="12" name="sec 1"/>
          <p:cNvSpPr/>
          <p:nvPr/>
        </p:nvSpPr>
        <p:spPr>
          <a:xfrm>
            <a:off x="548640" y="3291840"/>
            <a:ext cx="5440680" cy="1234440"/>
          </a:xfrm>
          <a:prstGeom prst="roundRect">
            <a:avLst>
              <a:gd name="adj" fmla="val 8889"/>
            </a:avLst>
          </a:prstGeom>
          <a:solidFill>
            <a:srgbClr val="F2F6F5"/>
          </a:solidFill>
          <a:ln w="12700">
            <a:solidFill>
              <a:srgbClr val="F2F6F5"/>
            </a:solidFill>
            <a:prstDash val="solid"/>
          </a:ln>
        </p:spPr>
      </p:sp>
      <p:sp>
        <p:nvSpPr>
          <p:cNvPr id="13" name="sec text"/>
          <p:cNvSpPr txBox="1"/>
          <p:nvPr/>
        </p:nvSpPr>
        <p:spPr>
          <a:xfrm>
            <a:off x="731520" y="32918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Identity</a:t>
            </a:r>
            <a:endParaRPr lang="en-US" sz="1500" dirty="0"/>
          </a:p>
          <a:p>
            <a:pPr indent="0" marL="0">
              <a:buNone/>
            </a:pPr>
            <a:r>
              <a:rPr lang="en-US" sz="1250" dirty="0">
                <a:solidFill>
                  <a:srgbClr val="17292B"/>
                </a:solidFill>
              </a:rPr>
              <a:t>badge, password, authenticator code. Four clearance levels, enforced on the server. A hidden action is not offered, not just disabled</a:t>
            </a:r>
            <a:endParaRPr lang="en-US" sz="1500" dirty="0"/>
          </a:p>
        </p:txBody>
      </p:sp>
      <p:sp>
        <p:nvSpPr>
          <p:cNvPr id="14" name="sec 2"/>
          <p:cNvSpPr/>
          <p:nvPr/>
        </p:nvSpPr>
        <p:spPr>
          <a:xfrm>
            <a:off x="6126480" y="3291840"/>
            <a:ext cx="5440680" cy="1234440"/>
          </a:xfrm>
          <a:prstGeom prst="roundRect">
            <a:avLst>
              <a:gd name="adj" fmla="val 8889"/>
            </a:avLst>
          </a:prstGeom>
          <a:solidFill>
            <a:srgbClr val="F2F6F5"/>
          </a:solidFill>
          <a:ln w="12700">
            <a:solidFill>
              <a:srgbClr val="F2F6F5"/>
            </a:solidFill>
            <a:prstDash val="solid"/>
          </a:ln>
        </p:spPr>
      </p:sp>
      <p:sp>
        <p:nvSpPr>
          <p:cNvPr id="15" name="sec text"/>
          <p:cNvSpPr txBox="1"/>
          <p:nvPr/>
        </p:nvSpPr>
        <p:spPr>
          <a:xfrm>
            <a:off x="6309360" y="32918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Privacy</a:t>
            </a:r>
            <a:endParaRPr lang="en-US" sz="1500" dirty="0"/>
          </a:p>
          <a:p>
            <a:pPr indent="0" marL="0">
              <a:buNone/>
            </a:pPr>
            <a:r>
              <a:rPr lang="en-US" sz="1250" dirty="0">
                <a:solidFill>
                  <a:srgbClr val="17292B"/>
                </a:solidFill>
              </a:rPr>
              <a:t>reviewers see pseudonyms. Unmasking needs its own permission, a reason without the identifier, and an hourly limit</a:t>
            </a:r>
            <a:endParaRPr lang="en-US" sz="1500" dirty="0"/>
          </a:p>
        </p:txBody>
      </p:sp>
      <p:sp>
        <p:nvSpPr>
          <p:cNvPr id="16" name="sec 3"/>
          <p:cNvSpPr/>
          <p:nvPr/>
        </p:nvSpPr>
        <p:spPr>
          <a:xfrm>
            <a:off x="548640" y="4663440"/>
            <a:ext cx="5440680" cy="1234440"/>
          </a:xfrm>
          <a:prstGeom prst="roundRect">
            <a:avLst>
              <a:gd name="adj" fmla="val 8889"/>
            </a:avLst>
          </a:prstGeom>
          <a:solidFill>
            <a:srgbClr val="F2F6F5"/>
          </a:solidFill>
          <a:ln w="12700">
            <a:solidFill>
              <a:srgbClr val="F2F6F5"/>
            </a:solidFill>
            <a:prstDash val="solid"/>
          </a:ln>
        </p:spPr>
      </p:sp>
      <p:sp>
        <p:nvSpPr>
          <p:cNvPr id="17" name="sec text"/>
          <p:cNvSpPr txBox="1"/>
          <p:nvPr/>
        </p:nvSpPr>
        <p:spPr>
          <a:xfrm>
            <a:off x="731520" y="46634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Two people</a:t>
            </a:r>
            <a:endParaRPr lang="en-US" sz="1500" dirty="0"/>
          </a:p>
          <a:p>
            <a:pPr indent="0" marL="0">
              <a:buNone/>
            </a:pPr>
            <a:r>
              <a:rPr lang="en-US" sz="1250" dirty="0">
                <a:solidFill>
                  <a:srgbClr val="17292B"/>
                </a:solidFill>
              </a:rPr>
              <a:t>the most dangerous administrator actions need a second administrator with a fresh code</a:t>
            </a:r>
            <a:endParaRPr lang="en-US" sz="1500" dirty="0"/>
          </a:p>
        </p:txBody>
      </p:sp>
      <p:sp>
        <p:nvSpPr>
          <p:cNvPr id="18" name="sec 4"/>
          <p:cNvSpPr/>
          <p:nvPr/>
        </p:nvSpPr>
        <p:spPr>
          <a:xfrm>
            <a:off x="6126480" y="4663440"/>
            <a:ext cx="5440680" cy="1234440"/>
          </a:xfrm>
          <a:prstGeom prst="roundRect">
            <a:avLst>
              <a:gd name="adj" fmla="val 8889"/>
            </a:avLst>
          </a:prstGeom>
          <a:solidFill>
            <a:srgbClr val="F2F6F5"/>
          </a:solidFill>
          <a:ln w="12700">
            <a:solidFill>
              <a:srgbClr val="F2F6F5"/>
            </a:solidFill>
            <a:prstDash val="solid"/>
          </a:ln>
        </p:spPr>
      </p:sp>
      <p:sp>
        <p:nvSpPr>
          <p:cNvPr id="19" name="sec text"/>
          <p:cNvSpPr txBox="1"/>
          <p:nvPr/>
        </p:nvSpPr>
        <p:spPr>
          <a:xfrm>
            <a:off x="6309360" y="46634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At rest</a:t>
            </a:r>
            <a:endParaRPr lang="en-US" sz="1500" dirty="0"/>
          </a:p>
          <a:p>
            <a:pPr indent="0" marL="0">
              <a:buNone/>
            </a:pPr>
            <a:r>
              <a:rPr lang="en-US" sz="1250" dirty="0">
                <a:solidFill>
                  <a:srgbClr val="17292B"/>
                </a:solidFill>
              </a:rPr>
              <a:t>claims, results and corrections are encrypted in MongoDB. Audit logs encrypted, key rotation tested</a:t>
            </a:r>
            <a:endParaRPr lang="en-US" sz="1500" dirty="0"/>
          </a:p>
        </p:txBody>
      </p:sp>
      <p:sp>
        <p:nvSpPr>
          <p:cNvPr id="20"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Not done: nobody outside the team has attacked it, and a lone administrator or one person holding two accounts is logged but not prevented.</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Sign-in: hard to guess, hard to lock out, equal in time</a:t>
            </a:r>
            <a:endParaRPr lang="en-US" sz="3200" dirty="0"/>
          </a:p>
        </p:txBody>
      </p:sp>
      <p:sp>
        <p:nvSpPr>
          <p:cNvPr id="4" name="stat"/>
          <p:cNvSpPr txBox="1"/>
          <p:nvPr/>
        </p:nvSpPr>
        <p:spPr>
          <a:xfrm>
            <a:off x="548640" y="1371600"/>
            <a:ext cx="25603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5 in 15 min</a:t>
            </a:r>
            <a:endParaRPr lang="en-US" sz="3200" dirty="0"/>
          </a:p>
        </p:txBody>
      </p:sp>
      <p:sp>
        <p:nvSpPr>
          <p:cNvPr id="5" name="stat label"/>
          <p:cNvSpPr txBox="1"/>
          <p:nvPr/>
        </p:nvSpPr>
        <p:spPr>
          <a:xfrm>
            <a:off x="54864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failures per badge and client; then that client is refused</a:t>
            </a:r>
            <a:endParaRPr lang="en-US" sz="1400" dirty="0"/>
          </a:p>
        </p:txBody>
      </p:sp>
      <p:sp>
        <p:nvSpPr>
          <p:cNvPr id="6" name="stat"/>
          <p:cNvSpPr txBox="1"/>
          <p:nvPr/>
        </p:nvSpPr>
        <p:spPr>
          <a:xfrm>
            <a:off x="3383280" y="1371600"/>
            <a:ext cx="25603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100</a:t>
            </a:r>
            <a:endParaRPr lang="en-US" sz="3200" dirty="0"/>
          </a:p>
        </p:txBody>
      </p:sp>
      <p:sp>
        <p:nvSpPr>
          <p:cNvPr id="7" name="stat label"/>
          <p:cNvSpPr txBox="1"/>
          <p:nvPr/>
        </p:nvSpPr>
        <p:spPr>
          <a:xfrm>
            <a:off x="338328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failures per 15 minutes for one address, over all badges</a:t>
            </a:r>
            <a:endParaRPr lang="en-US" sz="1400" dirty="0"/>
          </a:p>
        </p:txBody>
      </p:sp>
      <p:sp>
        <p:nvSpPr>
          <p:cNvPr id="8" name="stat"/>
          <p:cNvSpPr txBox="1"/>
          <p:nvPr/>
        </p:nvSpPr>
        <p:spPr>
          <a:xfrm>
            <a:off x="6217920" y="1371600"/>
            <a:ext cx="25603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30 days</a:t>
            </a:r>
            <a:endParaRPr lang="en-US" sz="3200" dirty="0"/>
          </a:p>
        </p:txBody>
      </p:sp>
      <p:sp>
        <p:nvSpPr>
          <p:cNvPr id="9" name="stat label"/>
          <p:cNvSpPr txBox="1"/>
          <p:nvPr/>
        </p:nvSpPr>
        <p:spPr>
          <a:xfrm>
            <a:off x="621792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a client the owner signed in from is remembered, as a keyed hash</a:t>
            </a:r>
            <a:endParaRPr lang="en-US" sz="1400" dirty="0"/>
          </a:p>
        </p:txBody>
      </p:sp>
      <p:sp>
        <p:nvSpPr>
          <p:cNvPr id="10" name="stat"/>
          <p:cNvSpPr txBox="1"/>
          <p:nvPr/>
        </p:nvSpPr>
        <p:spPr>
          <a:xfrm>
            <a:off x="9052560" y="1371600"/>
            <a:ext cx="25603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within 3%</a:t>
            </a:r>
            <a:endParaRPr lang="en-US" sz="3200" dirty="0"/>
          </a:p>
        </p:txBody>
      </p:sp>
      <p:sp>
        <p:nvSpPr>
          <p:cNvPr id="11" name="stat label"/>
          <p:cNvSpPr txBox="1"/>
          <p:nvPr/>
        </p:nvSpPr>
        <p:spPr>
          <a:xfrm>
            <a:off x="905256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time taken by 8 kinds of refused sign-in: 80.3 to 82.6 ms</a:t>
            </a:r>
            <a:endParaRPr lang="en-US" sz="1400" dirty="0"/>
          </a:p>
        </p:txBody>
      </p:sp>
      <p:sp>
        <p:nvSpPr>
          <p:cNvPr id="12" name="signin card 1"/>
          <p:cNvSpPr/>
          <p:nvPr/>
        </p:nvSpPr>
        <p:spPr>
          <a:xfrm>
            <a:off x="548640" y="3337560"/>
            <a:ext cx="3566160" cy="2743200"/>
          </a:xfrm>
          <a:prstGeom prst="roundRect">
            <a:avLst>
              <a:gd name="adj" fmla="val 4000"/>
            </a:avLst>
          </a:prstGeom>
          <a:solidFill>
            <a:srgbClr val="F2F6F5"/>
          </a:solidFill>
          <a:ln w="12700">
            <a:solidFill>
              <a:srgbClr val="F2F6F5"/>
            </a:solidFill>
            <a:prstDash val="solid"/>
          </a:ln>
        </p:spPr>
      </p:sp>
      <p:sp>
        <p:nvSpPr>
          <p:cNvPr id="13" name="signin title"/>
          <p:cNvSpPr txBox="1"/>
          <p:nvPr/>
        </p:nvSpPr>
        <p:spPr>
          <a:xfrm>
            <a:off x="777240" y="3429000"/>
            <a:ext cx="3108960" cy="41148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A stranger cannot lock you out</a:t>
            </a:r>
            <a:endParaRPr lang="en-US" sz="1500" dirty="0"/>
          </a:p>
        </p:txBody>
      </p:sp>
      <p:sp>
        <p:nvSpPr>
          <p:cNvPr id="14" name="bullets"/>
          <p:cNvSpPr txBox="1"/>
          <p:nvPr/>
        </p:nvSpPr>
        <p:spPr>
          <a:xfrm>
            <a:off x="777240" y="3886200"/>
            <a:ext cx="3154680" cy="214884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7292B"/>
                </a:solidFill>
              </a:rPr>
              <a:t>The account lock only keeps out clients the owner has never used</a:t>
            </a:r>
            <a:endParaRPr lang="en-US" sz="1200" dirty="0"/>
          </a:p>
          <a:p>
            <a:pPr marL="203200" indent="-203200">
              <a:spcAft>
                <a:spcPts val="600"/>
              </a:spcAft>
              <a:buSzPct val="100000"/>
              <a:buChar char="•"/>
            </a:pPr>
            <a:r>
              <a:rPr lang="en-US" sz="1200" dirty="0">
                <a:solidFill>
                  <a:srgbClr val="17292B"/>
                </a:solidFill>
              </a:rPr>
              <a:t>A correct sign-in by the owner clears the lock</a:t>
            </a:r>
            <a:endParaRPr lang="en-US" sz="1200" dirty="0"/>
          </a:p>
          <a:p>
            <a:pPr marL="203200" indent="-203200">
              <a:spcAft>
                <a:spcPts val="600"/>
              </a:spcAft>
              <a:buSzPct val="100000"/>
              <a:buChar char="•"/>
            </a:pPr>
            <a:r>
              <a:rPr lang="en-US" sz="1200" dirty="0">
                <a:solidFill>
                  <a:srgbClr val="17292B"/>
                </a:solidFill>
              </a:rPr>
              <a:t>Still true: a stranger can keep someone out of a new device for 15 minutes</a:t>
            </a:r>
            <a:endParaRPr lang="en-US" sz="1200" dirty="0"/>
          </a:p>
        </p:txBody>
      </p:sp>
      <p:sp>
        <p:nvSpPr>
          <p:cNvPr id="15" name="signin card 2"/>
          <p:cNvSpPr/>
          <p:nvPr/>
        </p:nvSpPr>
        <p:spPr>
          <a:xfrm>
            <a:off x="4297680" y="3337560"/>
            <a:ext cx="3566160" cy="2743200"/>
          </a:xfrm>
          <a:prstGeom prst="roundRect">
            <a:avLst>
              <a:gd name="adj" fmla="val 4000"/>
            </a:avLst>
          </a:prstGeom>
          <a:solidFill>
            <a:srgbClr val="F2F6F5"/>
          </a:solidFill>
          <a:ln w="12700">
            <a:solidFill>
              <a:srgbClr val="F2F6F5"/>
            </a:solidFill>
            <a:prstDash val="solid"/>
          </a:ln>
        </p:spPr>
      </p:sp>
      <p:sp>
        <p:nvSpPr>
          <p:cNvPr id="16" name="signin title"/>
          <p:cNvSpPr txBox="1"/>
          <p:nvPr/>
        </p:nvSpPr>
        <p:spPr>
          <a:xfrm>
            <a:off x="4526280" y="3429000"/>
            <a:ext cx="3108960" cy="41148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Counts survive a restart</a:t>
            </a:r>
            <a:endParaRPr lang="en-US" sz="1500" dirty="0"/>
          </a:p>
        </p:txBody>
      </p:sp>
      <p:sp>
        <p:nvSpPr>
          <p:cNvPr id="17" name="bullets"/>
          <p:cNvSpPr txBox="1"/>
          <p:nvPr/>
        </p:nvSpPr>
        <p:spPr>
          <a:xfrm>
            <a:off x="4526280" y="3886200"/>
            <a:ext cx="3154680" cy="214884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7292B"/>
                </a:solidFill>
              </a:rPr>
              <a:t>The counters live in the database, updated atomically and expiring by themselves</a:t>
            </a:r>
            <a:endParaRPr lang="en-US" sz="1200" dirty="0"/>
          </a:p>
          <a:p>
            <a:pPr marL="203200" indent="-203200">
              <a:spcAft>
                <a:spcPts val="600"/>
              </a:spcAft>
              <a:buSzPct val="100000"/>
              <a:buChar char="•"/>
            </a:pPr>
            <a:r>
              <a:rPr lang="en-US" sz="1200" dirty="0">
                <a:solidFill>
                  <a:srgbClr val="17292B"/>
                </a:solidFill>
              </a:rPr>
              <a:t>A restart, or a second server process, sees the same counts</a:t>
            </a:r>
            <a:endParaRPr lang="en-US" sz="1200" dirty="0"/>
          </a:p>
          <a:p>
            <a:pPr marL="203200" indent="-203200">
              <a:spcAft>
                <a:spcPts val="600"/>
              </a:spcAft>
              <a:buSzPct val="100000"/>
              <a:buChar char="•"/>
            </a:pPr>
            <a:r>
              <a:rPr lang="en-US" sz="1200" dirty="0">
                <a:solidFill>
                  <a:srgbClr val="17292B"/>
                </a:solidFill>
              </a:rPr>
              <a:t>Addresses are stored only as keyed hashes</a:t>
            </a:r>
            <a:endParaRPr lang="en-US" sz="1200" dirty="0"/>
          </a:p>
        </p:txBody>
      </p:sp>
      <p:sp>
        <p:nvSpPr>
          <p:cNvPr id="18" name="signin card 3"/>
          <p:cNvSpPr/>
          <p:nvPr/>
        </p:nvSpPr>
        <p:spPr>
          <a:xfrm>
            <a:off x="8046720" y="3337560"/>
            <a:ext cx="3566160" cy="2743200"/>
          </a:xfrm>
          <a:prstGeom prst="roundRect">
            <a:avLst>
              <a:gd name="adj" fmla="val 4000"/>
            </a:avLst>
          </a:prstGeom>
          <a:solidFill>
            <a:srgbClr val="F2F6F5"/>
          </a:solidFill>
          <a:ln w="12700">
            <a:solidFill>
              <a:srgbClr val="F2F6F5"/>
            </a:solidFill>
            <a:prstDash val="solid"/>
          </a:ln>
        </p:spPr>
      </p:sp>
      <p:sp>
        <p:nvSpPr>
          <p:cNvPr id="19" name="signin title"/>
          <p:cNvSpPr txBox="1"/>
          <p:nvPr/>
        </p:nvSpPr>
        <p:spPr>
          <a:xfrm>
            <a:off x="8275320" y="3429000"/>
            <a:ext cx="3108960" cy="41148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Every refusal looks the same</a:t>
            </a:r>
            <a:endParaRPr lang="en-US" sz="1500" dirty="0"/>
          </a:p>
        </p:txBody>
      </p:sp>
      <p:sp>
        <p:nvSpPr>
          <p:cNvPr id="20" name="bullets"/>
          <p:cNvSpPr txBox="1"/>
          <p:nvPr/>
        </p:nvSpPr>
        <p:spPr>
          <a:xfrm>
            <a:off x="8275320" y="3886200"/>
            <a:ext cx="3154680" cy="214884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7292B"/>
                </a:solidFill>
              </a:rPr>
              <a:t>Unknown badge, wrong password, wrong code, replayed code, locked, inactive: the same steps, the same time, the same answer</a:t>
            </a:r>
            <a:endParaRPr lang="en-US" sz="1200" dirty="0"/>
          </a:p>
          <a:p>
            <a:pPr marL="203200" indent="-203200">
              <a:spcAft>
                <a:spcPts val="600"/>
              </a:spcAft>
              <a:buSzPct val="100000"/>
              <a:buChar char="•"/>
            </a:pPr>
            <a:r>
              <a:rPr lang="en-US" sz="1200" dirty="0">
                <a:solidFill>
                  <a:srgbClr val="17292B"/>
                </a:solidFill>
              </a:rPr>
              <a:t>Comparison of the anti-forgery token and the session signature is constant-time</a:t>
            </a:r>
            <a:endParaRPr lang="en-US" sz="1200" dirty="0"/>
          </a:p>
          <a:p>
            <a:pPr marL="203200" indent="-203200">
              <a:spcAft>
                <a:spcPts val="600"/>
              </a:spcAft>
              <a:buSzPct val="100000"/>
              <a:buChar char="•"/>
            </a:pPr>
            <a:r>
              <a:rPr lang="en-US" sz="1200" dirty="0">
                <a:solidFill>
                  <a:srgbClr val="17292B"/>
                </a:solidFill>
              </a:rPr>
              <a:t>Measured in-process, not across a network</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Backup, restore and key rotation</a:t>
            </a:r>
            <a:endParaRPr lang="en-US" sz="3200" dirty="0"/>
          </a:p>
        </p:txBody>
      </p:sp>
      <p:sp>
        <p:nvSpPr>
          <p:cNvPr id="4" name="backup card"/>
          <p:cNvSpPr/>
          <p:nvPr/>
        </p:nvSpPr>
        <p:spPr>
          <a:xfrm>
            <a:off x="548640" y="1371600"/>
            <a:ext cx="5394960" cy="4709160"/>
          </a:xfrm>
          <a:prstGeom prst="roundRect">
            <a:avLst>
              <a:gd name="adj" fmla="val 2330"/>
            </a:avLst>
          </a:prstGeom>
          <a:solidFill>
            <a:srgbClr val="F2F6F5"/>
          </a:solidFill>
          <a:ln w="12700">
            <a:solidFill>
              <a:srgbClr val="F2F6F5"/>
            </a:solidFill>
            <a:prstDash val="solid"/>
          </a:ln>
        </p:spPr>
      </p:sp>
      <p:sp>
        <p:nvSpPr>
          <p:cNvPr id="5" name="h"/>
          <p:cNvSpPr txBox="1"/>
          <p:nvPr/>
        </p:nvSpPr>
        <p:spPr>
          <a:xfrm>
            <a:off x="777240" y="1463040"/>
            <a:ext cx="4937760" cy="45720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Encrypted backup, proven by wiping</a:t>
            </a:r>
            <a:endParaRPr lang="en-US" sz="1600" dirty="0"/>
          </a:p>
        </p:txBody>
      </p:sp>
      <p:sp>
        <p:nvSpPr>
          <p:cNvPr id="6" name="bullets"/>
          <p:cNvSpPr txBox="1"/>
          <p:nvPr/>
        </p:nvSpPr>
        <p:spPr>
          <a:xfrm>
            <a:off x="777240" y="2011680"/>
            <a:ext cx="4937760" cy="39776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One encrypted file (AES-256, 600,000 key-stretching rounds, key from a file) holding both databases, both audit logs and the audit mirror, plus a checksum. It never overwrites</a:t>
            </a:r>
            <a:endParaRPr lang="en-US" sz="1250" dirty="0"/>
          </a:p>
          <a:p>
            <a:pPr marL="203200" indent="-203200">
              <a:spcAft>
                <a:spcPts val="600"/>
              </a:spcAft>
              <a:buSzPct val="100000"/>
              <a:buChar char="•"/>
            </a:pPr>
            <a:r>
              <a:rPr lang="en-US" sz="1250" dirty="0">
                <a:solidFill>
                  <a:srgbClr val="17292B"/>
                </a:solidFill>
              </a:rPr>
              <a:t>Restore refuses a wrong key, a damaged file or contents that fail their checksums, and fails loudly if any document does not restore</a:t>
            </a:r>
            <a:endParaRPr lang="en-US" sz="1250" dirty="0"/>
          </a:p>
          <a:p>
            <a:pPr marL="203200" indent="-203200">
              <a:spcAft>
                <a:spcPts val="600"/>
              </a:spcAft>
              <a:buSzPct val="100000"/>
              <a:buChar char="•"/>
            </a:pPr>
            <a:r>
              <a:rPr lang="en-US" sz="1250" dirty="0">
                <a:solidFill>
                  <a:srgbClr val="17292B"/>
                </a:solidFill>
              </a:rPr>
              <a:t>The test (23 checks): put users and 12 claims in through the real API, back up, destroy every volume, restore. The same administrator signs in with the same password and authenticator; the audit chains verify</a:t>
            </a:r>
            <a:endParaRPr lang="en-US" sz="1250" dirty="0"/>
          </a:p>
          <a:p>
            <a:pPr marL="203200" indent="-203200">
              <a:spcAft>
                <a:spcPts val="600"/>
              </a:spcAft>
              <a:buSzPct val="100000"/>
              <a:buChar char="•"/>
            </a:pPr>
            <a:r>
              <a:rPr lang="en-US" sz="1250" dirty="0">
                <a:solidFill>
                  <a:srgbClr val="17292B"/>
                </a:solidFill>
              </a:rPr>
              <a:t>Testing found two real problems, both fixed: a restore that replaced the database's own accounts mid-way, and a script that reported success after a failure</a:t>
            </a:r>
            <a:endParaRPr lang="en-US" sz="1250" dirty="0"/>
          </a:p>
        </p:txBody>
      </p:sp>
      <p:sp>
        <p:nvSpPr>
          <p:cNvPr id="7" name="rotation card"/>
          <p:cNvSpPr/>
          <p:nvPr/>
        </p:nvSpPr>
        <p:spPr>
          <a:xfrm>
            <a:off x="6217920" y="1371600"/>
            <a:ext cx="5394960" cy="4709160"/>
          </a:xfrm>
          <a:prstGeom prst="roundRect">
            <a:avLst>
              <a:gd name="adj" fmla="val 2330"/>
            </a:avLst>
          </a:prstGeom>
          <a:solidFill>
            <a:srgbClr val="F2F6F5"/>
          </a:solidFill>
          <a:ln w="12700">
            <a:solidFill>
              <a:srgbClr val="F2F6F5"/>
            </a:solidFill>
            <a:prstDash val="solid"/>
          </a:ln>
        </p:spPr>
      </p:sp>
      <p:sp>
        <p:nvSpPr>
          <p:cNvPr id="8" name="h"/>
          <p:cNvSpPr txBox="1"/>
          <p:nvPr/>
        </p:nvSpPr>
        <p:spPr>
          <a:xfrm>
            <a:off x="6446520" y="1463040"/>
            <a:ext cx="4937760" cy="45720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Keys can be rotated</a:t>
            </a:r>
            <a:endParaRPr lang="en-US" sz="1600" dirty="0"/>
          </a:p>
        </p:txBody>
      </p:sp>
      <p:sp>
        <p:nvSpPr>
          <p:cNvPr id="9" name="bullets"/>
          <p:cNvSpPr txBox="1"/>
          <p:nvPr/>
        </p:nvSpPr>
        <p:spPr>
          <a:xfrm>
            <a:off x="6446520" y="2011680"/>
            <a:ext cx="4937760" cy="39776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cg rotate-key re-encrypts every stored claim, result, explanation, decision and name from the current data key to a new one, and rebuilds the patient index</a:t>
            </a:r>
            <a:endParaRPr lang="en-US" sz="1250" dirty="0"/>
          </a:p>
          <a:p>
            <a:pPr marL="203200" indent="-203200">
              <a:spcAft>
                <a:spcPts val="600"/>
              </a:spcAft>
              <a:buSzPct val="100000"/>
              <a:buChar char="•"/>
            </a:pPr>
            <a:r>
              <a:rPr lang="en-US" sz="1250" dirty="0">
                <a:solidFill>
                  <a:srgbClr val="17292B"/>
                </a:solidFill>
              </a:rPr>
              <a:t>It stops rather than damage a document that opens with neither key, skips and reports a document changed meanwhile, and can be repeated after an interruption</a:t>
            </a:r>
            <a:endParaRPr lang="en-US" sz="1250" dirty="0"/>
          </a:p>
          <a:p>
            <a:pPr marL="203200" indent="-203200">
              <a:spcAft>
                <a:spcPts val="600"/>
              </a:spcAft>
              <a:buSzPct val="100000"/>
              <a:buChar char="•"/>
            </a:pPr>
            <a:r>
              <a:rPr lang="en-US" sz="1250" dirty="0">
                <a:solidFill>
                  <a:srgbClr val="17292B"/>
                </a:solidFill>
              </a:rPr>
              <a:t>A dry run first. Tested against a real database: the old key is refused afterwards and the stored data holds nothing readable</a:t>
            </a:r>
            <a:endParaRPr lang="en-US" sz="1250" dirty="0"/>
          </a:p>
          <a:p>
            <a:pPr marL="203200" indent="-203200">
              <a:spcAft>
                <a:spcPts val="600"/>
              </a:spcAft>
              <a:buSzPct val="100000"/>
              <a:buChar char="•"/>
            </a:pPr>
            <a:r>
              <a:rPr lang="en-US" sz="1250" dirty="0">
                <a:solidFill>
                  <a:srgbClr val="17292B"/>
                </a:solidFill>
              </a:rPr>
              <a:t>cg rotate-fernet-key does the same for authenticator seeds, so nobody has to enrol again</a:t>
            </a:r>
            <a:endParaRPr lang="en-US" sz="1250" dirty="0"/>
          </a:p>
          <a:p>
            <a:pPr marL="203200" indent="-203200">
              <a:spcAft>
                <a:spcPts val="600"/>
              </a:spcAft>
              <a:buSzPct val="100000"/>
              <a:buChar char="•"/>
            </a:pPr>
            <a:r>
              <a:rPr lang="en-US" sz="1250" dirty="0">
                <a:solidFill>
                  <a:srgbClr val="17292B"/>
                </a:solidFill>
              </a:rPr>
              <a:t>The key for claim data and the key for authenticator seeds are separate</a:t>
            </a:r>
            <a:endParaRPr lang="en-US" sz="12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Stress tests: floods and hostile input</a:t>
            </a:r>
            <a:endParaRPr lang="en-US" sz="3200" dirty="0"/>
          </a:p>
        </p:txBody>
      </p:sp>
      <p:sp>
        <p:nvSpPr>
          <p:cNvPr id="4" name="stat"/>
          <p:cNvSpPr txBox="1"/>
          <p:nvPr/>
        </p:nvSpPr>
        <p:spPr>
          <a:xfrm>
            <a:off x="54864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29,700</a:t>
            </a:r>
            <a:endParaRPr lang="en-US" sz="3600" dirty="0"/>
          </a:p>
        </p:txBody>
      </p:sp>
      <p:sp>
        <p:nvSpPr>
          <p:cNvPr id="5" name="stat label"/>
          <p:cNvSpPr txBox="1"/>
          <p:nvPr/>
        </p:nvSpPr>
        <p:spPr>
          <a:xfrm>
            <a:off x="54864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requests from 300 clients in 20 seconds, all answered</a:t>
            </a:r>
            <a:endParaRPr lang="en-US" sz="1400" dirty="0"/>
          </a:p>
        </p:txBody>
      </p:sp>
      <p:sp>
        <p:nvSpPr>
          <p:cNvPr id="6" name="stat"/>
          <p:cNvSpPr txBox="1"/>
          <p:nvPr/>
        </p:nvSpPr>
        <p:spPr>
          <a:xfrm>
            <a:off x="338328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400</a:t>
            </a:r>
            <a:endParaRPr lang="en-US" sz="3600" dirty="0"/>
          </a:p>
        </p:txBody>
      </p:sp>
      <p:sp>
        <p:nvSpPr>
          <p:cNvPr id="7" name="stat label"/>
          <p:cNvSpPr txBox="1"/>
          <p:nvPr/>
        </p:nvSpPr>
        <p:spPr>
          <a:xfrm>
            <a:off x="338328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parallel sign-ins: ordinary refusals, then 429, no server error</a:t>
            </a:r>
            <a:endParaRPr lang="en-US" sz="1400" dirty="0"/>
          </a:p>
        </p:txBody>
      </p:sp>
      <p:sp>
        <p:nvSpPr>
          <p:cNvPr id="8" name="stat"/>
          <p:cNvSpPr txBox="1"/>
          <p:nvPr/>
        </p:nvSpPr>
        <p:spPr>
          <a:xfrm>
            <a:off x="621792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1 to 12 ms</a:t>
            </a:r>
            <a:endParaRPr lang="en-US" sz="3600" dirty="0"/>
          </a:p>
        </p:txBody>
      </p:sp>
      <p:sp>
        <p:nvSpPr>
          <p:cNvPr id="9" name="stat label"/>
          <p:cNvSpPr txBox="1"/>
          <p:nvPr/>
        </p:nvSpPr>
        <p:spPr>
          <a:xfrm>
            <a:off x="621792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answer time for a polite client during every flood</a:t>
            </a:r>
            <a:endParaRPr lang="en-US" sz="1400" dirty="0"/>
          </a:p>
        </p:txBody>
      </p:sp>
      <p:sp>
        <p:nvSpPr>
          <p:cNvPr id="10" name="stat"/>
          <p:cNvSpPr txBox="1"/>
          <p:nvPr/>
        </p:nvSpPr>
        <p:spPr>
          <a:xfrm>
            <a:off x="905256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87 MB</a:t>
            </a:r>
            <a:endParaRPr lang="en-US" sz="3600" dirty="0"/>
          </a:p>
        </p:txBody>
      </p:sp>
      <p:sp>
        <p:nvSpPr>
          <p:cNvPr id="11" name="stat label"/>
          <p:cNvSpPr txBox="1"/>
          <p:nvPr/>
        </p:nvSpPr>
        <p:spPr>
          <a:xfrm>
            <a:off x="905256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peak memory under flood (66 MB idle)</a:t>
            </a:r>
            <a:endParaRPr lang="en-US" sz="1400" dirty="0"/>
          </a:p>
        </p:txBody>
      </p:sp>
      <p:sp>
        <p:nvSpPr>
          <p:cNvPr id="12" name="stress card 1"/>
          <p:cNvSpPr/>
          <p:nvPr/>
        </p:nvSpPr>
        <p:spPr>
          <a:xfrm>
            <a:off x="548640" y="3337560"/>
            <a:ext cx="3566160" cy="2743200"/>
          </a:xfrm>
          <a:prstGeom prst="roundRect">
            <a:avLst>
              <a:gd name="adj" fmla="val 4000"/>
            </a:avLst>
          </a:prstGeom>
          <a:solidFill>
            <a:srgbClr val="F2F6F5"/>
          </a:solidFill>
          <a:ln w="12700">
            <a:solidFill>
              <a:srgbClr val="F2F6F5"/>
            </a:solidFill>
            <a:prstDash val="solid"/>
          </a:ln>
        </p:spPr>
      </p:sp>
      <p:sp>
        <p:nvSpPr>
          <p:cNvPr id="13" name="stress title"/>
          <p:cNvSpPr txBox="1"/>
          <p:nvPr/>
        </p:nvSpPr>
        <p:spPr>
          <a:xfrm>
            <a:off x="777240" y="3429000"/>
            <a:ext cx="3108960" cy="41148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The flood harness</a:t>
            </a:r>
            <a:endParaRPr lang="en-US" sz="1500" dirty="0"/>
          </a:p>
        </p:txBody>
      </p:sp>
      <p:sp>
        <p:nvSpPr>
          <p:cNvPr id="14" name="bullets"/>
          <p:cNvSpPr txBox="1"/>
          <p:nvPr/>
        </p:nvSpPr>
        <p:spPr>
          <a:xfrm>
            <a:off x="777240" y="3886200"/>
            <a:ext cx="3154680" cy="214884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7292B"/>
                </a:solidFill>
              </a:rPr>
              <a:t>16 checks: 3,000 idle connections, 300 busy clients, 200 clients without a session (all refused), a 400-client sign-in flood, 100 clients sending large bodies</a:t>
            </a:r>
            <a:endParaRPr lang="en-US" sz="1200" dirty="0"/>
          </a:p>
          <a:p>
            <a:pPr marL="203200" indent="-203200">
              <a:spcAft>
                <a:spcPts val="600"/>
              </a:spcAft>
              <a:buSzPct val="100000"/>
              <a:buChar char="•"/>
            </a:pPr>
            <a:r>
              <a:rPr lang="en-US" sz="1200" dirty="0">
                <a:solidFill>
                  <a:srgbClr val="17292B"/>
                </a:solidFill>
              </a:rPr>
              <a:t>The server was healthy afterwards</a:t>
            </a:r>
            <a:endParaRPr lang="en-US" sz="1200" dirty="0"/>
          </a:p>
          <a:p>
            <a:pPr marL="203200" indent="-203200">
              <a:spcAft>
                <a:spcPts val="600"/>
              </a:spcAft>
              <a:buSzPct val="100000"/>
              <a:buChar char="•"/>
            </a:pPr>
            <a:r>
              <a:rPr lang="en-US" sz="1200" dirty="0">
                <a:solidFill>
                  <a:srgbClr val="17292B"/>
                </a:solidFill>
              </a:rPr>
              <a:t>One machine and one address: no distributed attack</a:t>
            </a:r>
            <a:endParaRPr lang="en-US" sz="1200" dirty="0"/>
          </a:p>
        </p:txBody>
      </p:sp>
      <p:sp>
        <p:nvSpPr>
          <p:cNvPr id="15" name="stress card 2"/>
          <p:cNvSpPr/>
          <p:nvPr/>
        </p:nvSpPr>
        <p:spPr>
          <a:xfrm>
            <a:off x="4297680" y="3337560"/>
            <a:ext cx="3566160" cy="2743200"/>
          </a:xfrm>
          <a:prstGeom prst="roundRect">
            <a:avLst>
              <a:gd name="adj" fmla="val 4000"/>
            </a:avLst>
          </a:prstGeom>
          <a:solidFill>
            <a:srgbClr val="F2F6F5"/>
          </a:solidFill>
          <a:ln w="12700">
            <a:solidFill>
              <a:srgbClr val="F2F6F5"/>
            </a:solidFill>
            <a:prstDash val="solid"/>
          </a:ln>
        </p:spPr>
      </p:sp>
      <p:sp>
        <p:nvSpPr>
          <p:cNvPr id="16" name="stress title"/>
          <p:cNvSpPr txBox="1"/>
          <p:nvPr/>
        </p:nvSpPr>
        <p:spPr>
          <a:xfrm>
            <a:off x="4526280" y="3429000"/>
            <a:ext cx="3108960" cy="41148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Hostile input in a real browser</a:t>
            </a:r>
            <a:endParaRPr lang="en-US" sz="1500" dirty="0"/>
          </a:p>
        </p:txBody>
      </p:sp>
      <p:sp>
        <p:nvSpPr>
          <p:cNvPr id="17" name="bullets"/>
          <p:cNvSpPr txBox="1"/>
          <p:nvPr/>
        </p:nvSpPr>
        <p:spPr>
          <a:xfrm>
            <a:off x="4526280" y="3886200"/>
            <a:ext cx="3154680" cy="214884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7292B"/>
                </a:solidFill>
              </a:rPr>
              <a:t>19 checks in Chrome: script-injection payloads planted in notes, invoice numbers, provider ids, currencies, line ids, attachment text, names and failed-sign-in badges</a:t>
            </a:r>
            <a:endParaRPr lang="en-US" sz="1200" dirty="0"/>
          </a:p>
          <a:p>
            <a:pPr marL="203200" indent="-203200">
              <a:spcAft>
                <a:spcPts val="600"/>
              </a:spcAft>
              <a:buSzPct val="100000"/>
              <a:buChar char="•"/>
            </a:pPr>
            <a:r>
              <a:rPr lang="en-US" sz="1200" dirty="0">
                <a:solidFill>
                  <a:srgbClr val="17292B"/>
                </a:solidFill>
              </a:rPr>
              <a:t>On every screen no payload ran and the text showed as plain text</a:t>
            </a:r>
            <a:endParaRPr lang="en-US" sz="1200" dirty="0"/>
          </a:p>
        </p:txBody>
      </p:sp>
      <p:sp>
        <p:nvSpPr>
          <p:cNvPr id="18" name="stress card 3"/>
          <p:cNvSpPr/>
          <p:nvPr/>
        </p:nvSpPr>
        <p:spPr>
          <a:xfrm>
            <a:off x="8046720" y="3337560"/>
            <a:ext cx="3566160" cy="2743200"/>
          </a:xfrm>
          <a:prstGeom prst="roundRect">
            <a:avLst>
              <a:gd name="adj" fmla="val 4000"/>
            </a:avLst>
          </a:prstGeom>
          <a:solidFill>
            <a:srgbClr val="F2F6F5"/>
          </a:solidFill>
          <a:ln w="12700">
            <a:solidFill>
              <a:srgbClr val="F2F6F5"/>
            </a:solidFill>
            <a:prstDash val="solid"/>
          </a:ln>
        </p:spPr>
      </p:sp>
      <p:sp>
        <p:nvSpPr>
          <p:cNvPr id="19" name="stress title"/>
          <p:cNvSpPr txBox="1"/>
          <p:nvPr/>
        </p:nvSpPr>
        <p:spPr>
          <a:xfrm>
            <a:off x="8275320" y="3429000"/>
            <a:ext cx="3108960" cy="41148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Fuzzing and breakage</a:t>
            </a:r>
            <a:endParaRPr lang="en-US" sz="1500" dirty="0"/>
          </a:p>
        </p:txBody>
      </p:sp>
      <p:sp>
        <p:nvSpPr>
          <p:cNvPr id="20" name="bullets"/>
          <p:cNvSpPr txBox="1"/>
          <p:nvPr/>
        </p:nvSpPr>
        <p:spPr>
          <a:xfrm>
            <a:off x="8275320" y="3886200"/>
            <a:ext cx="3154680" cy="214884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7292B"/>
                </a:solidFill>
              </a:rPr>
              <a:t>400,000 random requests through the API, with sessions of each role</a:t>
            </a:r>
            <a:endParaRPr lang="en-US" sz="1200" dirty="0"/>
          </a:p>
          <a:p>
            <a:pPr marL="203200" indent="-203200">
              <a:spcAft>
                <a:spcPts val="600"/>
              </a:spcAft>
              <a:buSzPct val="100000"/>
              <a:buChar char="•"/>
            </a:pPr>
            <a:r>
              <a:rPr lang="en-US" sz="1200" dirty="0">
                <a:solidFill>
                  <a:srgbClr val="17292B"/>
                </a:solidFill>
              </a:rPr>
              <a:t>93 deliberate breakages of the security rules, each caught by a test</a:t>
            </a:r>
            <a:endParaRPr lang="en-US" sz="1200" dirty="0"/>
          </a:p>
          <a:p>
            <a:pPr marL="203200" indent="-203200">
              <a:spcAft>
                <a:spcPts val="600"/>
              </a:spcAft>
              <a:buSzPct val="100000"/>
              <a:buChar char="•"/>
            </a:pPr>
            <a:r>
              <a:rPr lang="en-US" sz="1200" dirty="0">
                <a:solidFill>
                  <a:srgbClr val="17292B"/>
                </a:solidFill>
              </a:rPr>
              <a:t>Not tested: floods below the HTTP layer, attack on the database server</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Everything is on record, and an edit is caught</a:t>
            </a:r>
            <a:endParaRPr lang="en-US" sz="32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2377440"/>
                <a:gridCol w="4572000"/>
              </a:tblGrid>
              <a:tr h="566928">
                <a:tc>
                  <a:txBody>
                    <a:bodyPr/>
                    <a:lstStyle/>
                    <a:p>
                      <a:pPr indent="0" marL="0">
                        <a:buNone/>
                      </a:pPr>
                      <a:r>
                        <a:rPr lang="en-US" sz="1350" b="1" dirty="0">
                          <a:solidFill>
                            <a:srgbClr val="FFFFFF"/>
                          </a:solidFill>
                        </a:rPr>
                        <a:t>Moment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What is written</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66928">
                <a:tc>
                  <a:txBody>
                    <a:bodyPr/>
                    <a:lstStyle/>
                    <a:p>
                      <a:pPr indent="0" marL="0">
                        <a:buNone/>
                      </a:pPr>
                      <a:r>
                        <a:rPr lang="en-US" sz="1350" dirty="0">
                          <a:solidFill>
                            <a:srgbClr val="17292B"/>
                          </a:solidFill>
                        </a:rPr>
                        <a:t>Claim received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input hash, rule pack hash, result hash, lane and score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66928">
                <a:tc>
                  <a:txBody>
                    <a:bodyPr/>
                    <a:lstStyle/>
                    <a:p>
                      <a:pPr indent="0" marL="0">
                        <a:buNone/>
                      </a:pPr>
                      <a:r>
                        <a:rPr lang="en-US" sz="1350" dirty="0">
                          <a:solidFill>
                            <a:srgbClr val="17292B"/>
                          </a:solidFill>
                        </a:rPr>
                        <a:t>A finding is decided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badge, action, reason, original status</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66928">
                <a:tc>
                  <a:txBody>
                    <a:bodyPr/>
                    <a:lstStyle/>
                    <a:p>
                      <a:pPr indent="0" marL="0">
                        <a:buNone/>
                      </a:pPr>
                      <a:r>
                        <a:rPr lang="en-US" sz="1350" dirty="0">
                          <a:solidFill>
                            <a:srgbClr val="17292B"/>
                          </a:solidFill>
                        </a:rPr>
                        <a:t>A what-if is tried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who, which claim, how many changes (nothing else is kept)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66928">
                <a:tc>
                  <a:txBody>
                    <a:bodyPr/>
                    <a:lstStyle/>
                    <a:p>
                      <a:pPr indent="0" marL="0">
                        <a:buNone/>
                      </a:pPr>
                      <a:r>
                        <a:rPr lang="en-US" sz="1350" dirty="0">
                          <a:solidFill>
                            <a:srgbClr val="17292B"/>
                          </a:solidFill>
                        </a:rPr>
                        <a:t>A correction is saved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both versions linked by input hash, each change from and to, findings cleared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66928">
                <a:tc>
                  <a:txBody>
                    <a:bodyPr/>
                    <a:lstStyle/>
                    <a:p>
                      <a:pPr indent="0" marL="0">
                        <a:buNone/>
                      </a:pPr>
                      <a:r>
                        <a:rPr lang="en-US" sz="1350" dirty="0">
                          <a:solidFill>
                            <a:srgbClr val="17292B"/>
                          </a:solidFill>
                        </a:rPr>
                        <a:t>An identifier is unmasked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badge, claim, reason, counted against an hourly limit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tamper card"/>
          <p:cNvSpPr/>
          <p:nvPr/>
        </p:nvSpPr>
        <p:spPr>
          <a:xfrm>
            <a:off x="7772400" y="1417320"/>
            <a:ext cx="3840480" cy="3429000"/>
          </a:xfrm>
          <a:prstGeom prst="roundRect">
            <a:avLst>
              <a:gd name="adj" fmla="val 3200"/>
            </a:avLst>
          </a:prstGeom>
          <a:solidFill>
            <a:srgbClr val="0E3B3F"/>
          </a:solidFill>
          <a:ln w="12700">
            <a:solidFill>
              <a:srgbClr val="0E3B3F"/>
            </a:solidFill>
            <a:prstDash val="solid"/>
          </a:ln>
        </p:spPr>
      </p:sp>
      <p:sp>
        <p:nvSpPr>
          <p:cNvPr id="6" name="h"/>
          <p:cNvSpPr txBox="1"/>
          <p:nvPr/>
        </p:nvSpPr>
        <p:spPr>
          <a:xfrm>
            <a:off x="8001000" y="1508760"/>
            <a:ext cx="33832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Tamper evidence</a:t>
            </a:r>
            <a:endParaRPr lang="en-US" sz="1700" dirty="0"/>
          </a:p>
        </p:txBody>
      </p:sp>
      <p:sp>
        <p:nvSpPr>
          <p:cNvPr id="7" name="tamper text"/>
          <p:cNvSpPr txBox="1"/>
          <p:nvPr/>
        </p:nvSpPr>
        <p:spPr>
          <a:xfrm>
            <a:off x="8001000" y="1965960"/>
            <a:ext cx="3429000" cy="28346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DDEEEB"/>
                </a:solidFill>
              </a:rPr>
              <a:t>Hash-chained, signed logs</a:t>
            </a:r>
            <a:endParaRPr lang="en-US" sz="1350" dirty="0"/>
          </a:p>
          <a:p>
            <a:pPr marL="177800" indent="-177800">
              <a:spcAft>
                <a:spcPts val="600"/>
              </a:spcAft>
              <a:buSzPct val="100000"/>
              <a:buChar char="•"/>
            </a:pPr>
            <a:r>
              <a:rPr lang="en-US" sz="1350" dirty="0">
                <a:solidFill>
                  <a:srgbClr val="DDEEEB"/>
                </a:solidFill>
              </a:rPr>
              <a:t>An append-only mirror that refuses to follow an edited log</a:t>
            </a:r>
            <a:endParaRPr lang="en-US" sz="1350" dirty="0"/>
          </a:p>
          <a:p>
            <a:pPr marL="177800" indent="-177800">
              <a:spcAft>
                <a:spcPts val="600"/>
              </a:spcAft>
              <a:buSzPct val="100000"/>
              <a:buChar char="•"/>
            </a:pPr>
            <a:r>
              <a:rPr lang="en-US" sz="1350" dirty="0">
                <a:solidFill>
                  <a:srgbClr val="DDEEEB"/>
                </a:solidFill>
              </a:rPr>
              <a:t>Ed25519 ledger with checkpoints and Merkle proofs</a:t>
            </a:r>
            <a:endParaRPr lang="en-US" sz="1350" dirty="0"/>
          </a:p>
          <a:p>
            <a:pPr marL="177800" indent="-177800">
              <a:buSzPct val="100000"/>
              <a:buChar char="•"/>
            </a:pPr>
            <a:r>
              <a:rPr lang="en-US" sz="1350" dirty="0">
                <a:solidFill>
                  <a:srgbClr val="DDEEEB"/>
                </a:solidFill>
              </a:rPr>
              <a:t>Demo: rewrite a row, the health panel goes red within seconds</a:t>
            </a:r>
            <a:endParaRPr lang="en-US" sz="1350" dirty="0"/>
          </a:p>
        </p:txBody>
      </p:sp>
      <p:sp>
        <p:nvSpPr>
          <p:cNvPr id="8"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Trace panel: both versions of a corrected claim, side by side, with their events and decisions.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Serving the model: what this laptop measured</a:t>
            </a:r>
            <a:endParaRPr lang="en-US" sz="32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7589520" cy="914400"/>
        </p:xfrm>
        <a:graphic>
          <a:graphicData uri="http://schemas.openxmlformats.org/drawingml/2006/table">
            <a:tbl>
              <a:tblPr/>
              <a:tblGrid>
                <a:gridCol w="1188720"/>
                <a:gridCol w="1280160"/>
                <a:gridCol w="1234440"/>
                <a:gridCol w="1280160"/>
                <a:gridCol w="1188720"/>
                <a:gridCol w="1417320"/>
              </a:tblGrid>
              <a:tr h="502920">
                <a:tc>
                  <a:txBody>
                    <a:bodyPr/>
                    <a:lstStyle/>
                    <a:p>
                      <a:pPr indent="0" marL="0">
                        <a:buNone/>
                      </a:pPr>
                      <a:r>
                        <a:rPr lang="en-US" sz="1300" b="1" dirty="0">
                          <a:solidFill>
                            <a:srgbClr val="FFFFFF"/>
                          </a:solidFill>
                        </a:rPr>
                        <a:t>Parallel requests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Default: per minute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Default: median</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per minute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median</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tokens per second</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02920">
                <a:tc>
                  <a:txBody>
                    <a:bodyPr/>
                    <a:lstStyle/>
                    <a:p>
                      <a:pPr indent="0" marL="0">
                        <a:buNone/>
                      </a:pPr>
                      <a:r>
                        <a:rPr lang="en-US" sz="1300" dirty="0">
                          <a:solidFill>
                            <a:srgbClr val="17292B"/>
                          </a:solidFill>
                        </a:rPr>
                        <a:t>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52.2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1.17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4746F"/>
                          </a:solidFill>
                        </a:rPr>
                        <a:t>53.3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1.13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63.8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7292B"/>
                          </a:solidFill>
                        </a:rPr>
                        <a:t>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54.5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4.36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4746F"/>
                          </a:solidFill>
                        </a:rPr>
                        <a:t>122.9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1.79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146.5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02920">
                <a:tc>
                  <a:txBody>
                    <a:bodyPr/>
                    <a:lstStyle/>
                    <a:p>
                      <a:pPr indent="0" marL="0">
                        <a:buNone/>
                      </a:pPr>
                      <a:r>
                        <a:rPr lang="en-US" sz="1300" dirty="0">
                          <a:solidFill>
                            <a:srgbClr val="17292B"/>
                          </a:solidFill>
                        </a:rPr>
                        <a:t>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52.8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8.9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4746F"/>
                          </a:solidFill>
                        </a:rPr>
                        <a:t>137.5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3.26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165.3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7292B"/>
                          </a:solidFill>
                        </a:rPr>
                        <a:t>16</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51.3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18.59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4746F"/>
                          </a:solidFill>
                        </a:rPr>
                        <a:t>134.9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6.75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160.4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stat"/>
          <p:cNvSpPr txBox="1"/>
          <p:nvPr/>
        </p:nvSpPr>
        <p:spPr>
          <a:xfrm>
            <a:off x="8412480" y="1325880"/>
            <a:ext cx="3291840" cy="822960"/>
          </a:xfrm>
          <a:prstGeom prst="rect">
            <a:avLst/>
          </a:prstGeom>
          <a:noFill/>
          <a:ln/>
        </p:spPr>
        <p:txBody>
          <a:bodyPr wrap="square" lIns="0" tIns="0" rIns="0" bIns="0" rtlCol="0" anchor="b"/>
          <a:lstStyle/>
          <a:p>
            <a:pPr indent="0" marL="0">
              <a:buNone/>
            </a:pPr>
            <a:r>
              <a:rPr lang="en-US" sz="5400" b="1" dirty="0">
                <a:solidFill>
                  <a:srgbClr val="F2A541"/>
                </a:solidFill>
                <a:latin typeface="Cambria" pitchFamily="34" charset="0"/>
                <a:ea typeface="Cambria" pitchFamily="34" charset="-122"/>
                <a:cs typeface="Cambria" pitchFamily="34" charset="-120"/>
              </a:rPr>
              <a:t>137</a:t>
            </a:r>
            <a:endParaRPr lang="en-US" sz="5400" dirty="0"/>
          </a:p>
        </p:txBody>
      </p:sp>
      <p:sp>
        <p:nvSpPr>
          <p:cNvPr id="6" name="stat label"/>
          <p:cNvSpPr txBox="1"/>
          <p:nvPr/>
        </p:nvSpPr>
        <p:spPr>
          <a:xfrm>
            <a:off x="8412480" y="2194560"/>
            <a:ext cx="3291840" cy="822960"/>
          </a:xfrm>
          <a:prstGeom prst="rect">
            <a:avLst/>
          </a:prstGeom>
          <a:noFill/>
          <a:ln/>
        </p:spPr>
        <p:txBody>
          <a:bodyPr wrap="square" lIns="0" tIns="0" rIns="0" bIns="0" rtlCol="0" anchor="t"/>
          <a:lstStyle/>
          <a:p>
            <a:pPr indent="0" marL="0">
              <a:buNone/>
            </a:pPr>
            <a:r>
              <a:rPr lang="en-US" sz="1400" dirty="0">
                <a:solidFill>
                  <a:srgbClr val="5C7173"/>
                </a:solidFill>
              </a:rPr>
              <a:t>explanations a minute with 8 slots (gemma3:4b, laptop RTX 4060). Default: 53, one at a time</a:t>
            </a:r>
            <a:endParaRPr lang="en-US" sz="1400" dirty="0"/>
          </a:p>
        </p:txBody>
      </p:sp>
      <p:sp>
        <p:nvSpPr>
          <p:cNvPr id="7" name="vllm card"/>
          <p:cNvSpPr/>
          <p:nvPr/>
        </p:nvSpPr>
        <p:spPr>
          <a:xfrm>
            <a:off x="548640" y="4297680"/>
            <a:ext cx="11064240" cy="1828800"/>
          </a:xfrm>
          <a:prstGeom prst="roundRect">
            <a:avLst>
              <a:gd name="adj" fmla="val 6000"/>
            </a:avLst>
          </a:prstGeom>
          <a:solidFill>
            <a:srgbClr val="FFF1DB"/>
          </a:solidFill>
          <a:ln w="12700">
            <a:solidFill>
              <a:srgbClr val="FFF1DB"/>
            </a:solidFill>
            <a:prstDash val="solid"/>
          </a:ln>
        </p:spPr>
      </p:sp>
      <p:sp>
        <p:nvSpPr>
          <p:cNvPr id="8" name="vllm text"/>
          <p:cNvSpPr txBox="1"/>
          <p:nvPr/>
        </p:nvSpPr>
        <p:spPr>
          <a:xfrm>
            <a:off x="777240" y="4297680"/>
            <a:ext cx="10607040" cy="1828800"/>
          </a:xfrm>
          <a:prstGeom prst="rect">
            <a:avLst/>
          </a:prstGeom>
          <a:noFill/>
          <a:ln/>
        </p:spPr>
        <p:txBody>
          <a:bodyPr wrap="square" lIns="0" tIns="0" rIns="0" bIns="0" rtlCol="0" anchor="ctr"/>
          <a:lstStyle/>
          <a:p>
            <a:pPr indent="0" marL="0">
              <a:spcAft>
                <a:spcPts val="600"/>
              </a:spcAft>
              <a:buNone/>
            </a:pPr>
            <a:r>
              <a:rPr lang="en-US" sz="1400" b="1" dirty="0">
                <a:solidFill>
                  <a:srgbClr val="0E3B3F"/>
                </a:solidFill>
              </a:rPr>
              <a:t>Through the real queue step: 399 claims, 777 findings, empty cache, 8 workers.</a:t>
            </a:r>
            <a:endParaRPr lang="en-US" sz="1400" dirty="0"/>
          </a:p>
          <a:p>
            <a:pPr indent="0" marL="0">
              <a:buNone/>
            </a:pPr>
            <a:r>
              <a:rPr lang="en-US" sz="1400" dirty="0">
                <a:solidFill>
                  <a:srgbClr val="17292B"/>
                </a:solidFill>
              </a:rPr>
              <a:t>74 model calls (90.5% of findings needed none), 49 seconds, about 490 claims a minute; warm cache about 2,050 a minute, 18 calls that retried 3 templates the guard had refused. 0 model errors. A debug build on this laptop: these are measurements of this machine only.</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we have not done, said before you ask</a:t>
            </a:r>
            <a:endParaRPr lang="en-US" sz="3200" dirty="0"/>
          </a:p>
        </p:txBody>
      </p:sp>
      <p:sp>
        <p:nvSpPr>
          <p:cNvPr id="4" name="limit 1"/>
          <p:cNvSpPr/>
          <p:nvPr/>
        </p:nvSpPr>
        <p:spPr>
          <a:xfrm>
            <a:off x="548640" y="1417320"/>
            <a:ext cx="5440680" cy="1005840"/>
          </a:xfrm>
          <a:prstGeom prst="roundRect">
            <a:avLst>
              <a:gd name="adj" fmla="val 10909"/>
            </a:avLst>
          </a:prstGeom>
          <a:solidFill>
            <a:srgbClr val="F2F6F5"/>
          </a:solidFill>
          <a:ln w="12700">
            <a:solidFill>
              <a:srgbClr val="F2F6F5"/>
            </a:solidFill>
            <a:prstDash val="solid"/>
          </a:ln>
        </p:spPr>
      </p:sp>
      <p:sp>
        <p:nvSpPr>
          <p:cNvPr id="5" name="badge"/>
          <p:cNvSpPr/>
          <p:nvPr/>
        </p:nvSpPr>
        <p:spPr>
          <a:xfrm>
            <a:off x="731520" y="1728216"/>
            <a:ext cx="384048" cy="384048"/>
          </a:xfrm>
          <a:prstGeom prst="ellipse">
            <a:avLst/>
          </a:prstGeom>
          <a:solidFill>
            <a:srgbClr val="C8553D"/>
          </a:solidFill>
          <a:ln w="12700">
            <a:solidFill>
              <a:srgbClr val="C8553D"/>
            </a:solidFill>
            <a:prstDash val="solid"/>
          </a:ln>
        </p:spPr>
      </p:sp>
      <p:sp>
        <p:nvSpPr>
          <p:cNvPr id="6" name="badge text"/>
          <p:cNvSpPr txBox="1"/>
          <p:nvPr/>
        </p:nvSpPr>
        <p:spPr>
          <a:xfrm>
            <a:off x="73152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limit text"/>
          <p:cNvSpPr txBox="1"/>
          <p:nvPr/>
        </p:nvSpPr>
        <p:spPr>
          <a:xfrm>
            <a:off x="1280160" y="1417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Public data is synthetic</a:t>
            </a:r>
            <a:endParaRPr lang="en-US" sz="1500" dirty="0"/>
          </a:p>
          <a:p>
            <a:pPr indent="0" marL="0">
              <a:buNone/>
            </a:pPr>
            <a:r>
              <a:rPr lang="en-US" sz="1250" dirty="0">
                <a:solidFill>
                  <a:srgbClr val="17292B"/>
                </a:solidFill>
              </a:rPr>
              <a:t>Perfect scores on it do not show how real claims behave.</a:t>
            </a:r>
            <a:endParaRPr lang="en-US" sz="1500" dirty="0"/>
          </a:p>
        </p:txBody>
      </p:sp>
      <p:sp>
        <p:nvSpPr>
          <p:cNvPr id="8" name="limit 2"/>
          <p:cNvSpPr/>
          <p:nvPr/>
        </p:nvSpPr>
        <p:spPr>
          <a:xfrm>
            <a:off x="6126480" y="1417320"/>
            <a:ext cx="5440680" cy="1005840"/>
          </a:xfrm>
          <a:prstGeom prst="roundRect">
            <a:avLst>
              <a:gd name="adj" fmla="val 10909"/>
            </a:avLst>
          </a:prstGeom>
          <a:solidFill>
            <a:srgbClr val="F2F6F5"/>
          </a:solidFill>
          <a:ln w="12700">
            <a:solidFill>
              <a:srgbClr val="F2F6F5"/>
            </a:solidFill>
            <a:prstDash val="solid"/>
          </a:ln>
        </p:spPr>
      </p:sp>
      <p:sp>
        <p:nvSpPr>
          <p:cNvPr id="9" name="badge"/>
          <p:cNvSpPr/>
          <p:nvPr/>
        </p:nvSpPr>
        <p:spPr>
          <a:xfrm>
            <a:off x="6309360" y="1728216"/>
            <a:ext cx="384048" cy="384048"/>
          </a:xfrm>
          <a:prstGeom prst="ellipse">
            <a:avLst/>
          </a:prstGeom>
          <a:solidFill>
            <a:srgbClr val="C8553D"/>
          </a:solidFill>
          <a:ln w="12700">
            <a:solidFill>
              <a:srgbClr val="C8553D"/>
            </a:solidFill>
            <a:prstDash val="solid"/>
          </a:ln>
        </p:spPr>
      </p:sp>
      <p:sp>
        <p:nvSpPr>
          <p:cNvPr id="10" name="badge text"/>
          <p:cNvSpPr txBox="1"/>
          <p:nvPr/>
        </p:nvSpPr>
        <p:spPr>
          <a:xfrm>
            <a:off x="630936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limit text"/>
          <p:cNvSpPr txBox="1"/>
          <p:nvPr/>
        </p:nvSpPr>
        <p:spPr>
          <a:xfrm>
            <a:off x="6858000" y="1417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Savings are simulated</a:t>
            </a:r>
            <a:endParaRPr lang="en-US" sz="1500" dirty="0"/>
          </a:p>
          <a:p>
            <a:pPr indent="0" marL="0">
              <a:buNone/>
            </a:pPr>
            <a:r>
              <a:rPr lang="en-US" sz="1250" dirty="0">
                <a:solidFill>
                  <a:srgbClr val="17292B"/>
                </a:solidFill>
              </a:rPr>
              <a:t>No timed session with real reviewers yet.</a:t>
            </a:r>
            <a:endParaRPr lang="en-US" sz="1500" dirty="0"/>
          </a:p>
        </p:txBody>
      </p:sp>
      <p:sp>
        <p:nvSpPr>
          <p:cNvPr id="12" name="limit 3"/>
          <p:cNvSpPr/>
          <p:nvPr/>
        </p:nvSpPr>
        <p:spPr>
          <a:xfrm>
            <a:off x="548640" y="2560320"/>
            <a:ext cx="5440680" cy="1005840"/>
          </a:xfrm>
          <a:prstGeom prst="roundRect">
            <a:avLst>
              <a:gd name="adj" fmla="val 10909"/>
            </a:avLst>
          </a:prstGeom>
          <a:solidFill>
            <a:srgbClr val="F2F6F5"/>
          </a:solidFill>
          <a:ln w="12700">
            <a:solidFill>
              <a:srgbClr val="F2F6F5"/>
            </a:solidFill>
            <a:prstDash val="solid"/>
          </a:ln>
        </p:spPr>
      </p:sp>
      <p:sp>
        <p:nvSpPr>
          <p:cNvPr id="13" name="badge"/>
          <p:cNvSpPr/>
          <p:nvPr/>
        </p:nvSpPr>
        <p:spPr>
          <a:xfrm>
            <a:off x="731520" y="2871216"/>
            <a:ext cx="384048" cy="384048"/>
          </a:xfrm>
          <a:prstGeom prst="ellipse">
            <a:avLst/>
          </a:prstGeom>
          <a:solidFill>
            <a:srgbClr val="C8553D"/>
          </a:solidFill>
          <a:ln w="12700">
            <a:solidFill>
              <a:srgbClr val="C8553D"/>
            </a:solidFill>
            <a:prstDash val="solid"/>
          </a:ln>
        </p:spPr>
      </p:sp>
      <p:sp>
        <p:nvSpPr>
          <p:cNvPr id="14" name="badge text"/>
          <p:cNvSpPr txBox="1"/>
          <p:nvPr/>
        </p:nvSpPr>
        <p:spPr>
          <a:xfrm>
            <a:off x="73152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limit text"/>
          <p:cNvSpPr txBox="1"/>
          <p:nvPr/>
        </p:nvSpPr>
        <p:spPr>
          <a:xfrm>
            <a:off x="1280160" y="2560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Documents</a:t>
            </a:r>
            <a:endParaRPr lang="en-US" sz="1500" dirty="0"/>
          </a:p>
          <a:p>
            <a:pPr indent="0" marL="0">
              <a:buNone/>
            </a:pPr>
            <a:r>
              <a:rPr lang="en-US" sz="1250" dirty="0">
                <a:solidFill>
                  <a:srgbClr val="17292B"/>
                </a:solidFill>
              </a:rPr>
              <a:t>Real paper, handwriting and Arabic are untested.</a:t>
            </a:r>
            <a:endParaRPr lang="en-US" sz="1500" dirty="0"/>
          </a:p>
        </p:txBody>
      </p:sp>
      <p:sp>
        <p:nvSpPr>
          <p:cNvPr id="16" name="limit 4"/>
          <p:cNvSpPr/>
          <p:nvPr/>
        </p:nvSpPr>
        <p:spPr>
          <a:xfrm>
            <a:off x="6126480" y="2560320"/>
            <a:ext cx="5440680" cy="1005840"/>
          </a:xfrm>
          <a:prstGeom prst="roundRect">
            <a:avLst>
              <a:gd name="adj" fmla="val 10909"/>
            </a:avLst>
          </a:prstGeom>
          <a:solidFill>
            <a:srgbClr val="F2F6F5"/>
          </a:solidFill>
          <a:ln w="12700">
            <a:solidFill>
              <a:srgbClr val="F2F6F5"/>
            </a:solidFill>
            <a:prstDash val="solid"/>
          </a:ln>
        </p:spPr>
      </p:sp>
      <p:sp>
        <p:nvSpPr>
          <p:cNvPr id="17" name="badge"/>
          <p:cNvSpPr/>
          <p:nvPr/>
        </p:nvSpPr>
        <p:spPr>
          <a:xfrm>
            <a:off x="6309360" y="2871216"/>
            <a:ext cx="384048" cy="384048"/>
          </a:xfrm>
          <a:prstGeom prst="ellipse">
            <a:avLst/>
          </a:prstGeom>
          <a:solidFill>
            <a:srgbClr val="C8553D"/>
          </a:solidFill>
          <a:ln w="12700">
            <a:solidFill>
              <a:srgbClr val="C8553D"/>
            </a:solidFill>
            <a:prstDash val="solid"/>
          </a:ln>
        </p:spPr>
      </p:sp>
      <p:sp>
        <p:nvSpPr>
          <p:cNvPr id="18" name="badge text"/>
          <p:cNvSpPr txBox="1"/>
          <p:nvPr/>
        </p:nvSpPr>
        <p:spPr>
          <a:xfrm>
            <a:off x="630936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limit text"/>
          <p:cNvSpPr txBox="1"/>
          <p:nvPr/>
        </p:nvSpPr>
        <p:spPr>
          <a:xfrm>
            <a:off x="6858000" y="2560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Data subject rights</a:t>
            </a:r>
            <a:endParaRPr lang="en-US" sz="1500" dirty="0"/>
          </a:p>
          <a:p>
            <a:pPr indent="0" marL="0">
              <a:buNone/>
            </a:pPr>
            <a:r>
              <a:rPr lang="en-US" sz="1250" dirty="0">
                <a:solidFill>
                  <a:srgbClr val="17292B"/>
                </a:solidFill>
              </a:rPr>
              <a:t>Access, erasure and retention are designed, not built.</a:t>
            </a:r>
            <a:endParaRPr lang="en-US" sz="1500" dirty="0"/>
          </a:p>
        </p:txBody>
      </p:sp>
      <p:sp>
        <p:nvSpPr>
          <p:cNvPr id="20" name="limit 5"/>
          <p:cNvSpPr/>
          <p:nvPr/>
        </p:nvSpPr>
        <p:spPr>
          <a:xfrm>
            <a:off x="548640" y="3703320"/>
            <a:ext cx="5440680" cy="1005840"/>
          </a:xfrm>
          <a:prstGeom prst="roundRect">
            <a:avLst>
              <a:gd name="adj" fmla="val 10909"/>
            </a:avLst>
          </a:prstGeom>
          <a:solidFill>
            <a:srgbClr val="F2F6F5"/>
          </a:solidFill>
          <a:ln w="12700">
            <a:solidFill>
              <a:srgbClr val="F2F6F5"/>
            </a:solidFill>
            <a:prstDash val="solid"/>
          </a:ln>
        </p:spPr>
      </p:sp>
      <p:sp>
        <p:nvSpPr>
          <p:cNvPr id="21" name="badge"/>
          <p:cNvSpPr/>
          <p:nvPr/>
        </p:nvSpPr>
        <p:spPr>
          <a:xfrm>
            <a:off x="731520" y="4014216"/>
            <a:ext cx="384048" cy="384048"/>
          </a:xfrm>
          <a:prstGeom prst="ellipse">
            <a:avLst/>
          </a:prstGeom>
          <a:solidFill>
            <a:srgbClr val="C8553D"/>
          </a:solidFill>
          <a:ln w="12700">
            <a:solidFill>
              <a:srgbClr val="C8553D"/>
            </a:solidFill>
            <a:prstDash val="solid"/>
          </a:ln>
        </p:spPr>
      </p:sp>
      <p:sp>
        <p:nvSpPr>
          <p:cNvPr id="22" name="badge text"/>
          <p:cNvSpPr txBox="1"/>
          <p:nvPr/>
        </p:nvSpPr>
        <p:spPr>
          <a:xfrm>
            <a:off x="731520" y="4014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3" name="limit text"/>
          <p:cNvSpPr txBox="1"/>
          <p:nvPr/>
        </p:nvSpPr>
        <p:spPr>
          <a:xfrm>
            <a:off x="1280160" y="3703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Automatic modes</a:t>
            </a:r>
            <a:endParaRPr lang="en-US" sz="1500" dirty="0"/>
          </a:p>
          <a:p>
            <a:pPr indent="0" marL="0">
              <a:buNone/>
            </a:pPr>
            <a:r>
              <a:rPr lang="en-US" sz="1250" dirty="0">
                <a:solidFill>
                  <a:srgbClr val="17292B"/>
                </a:solidFill>
              </a:rPr>
              <a:t>One administrator can switch them on, logged but without a second approval, and nothing switches them off by itself.</a:t>
            </a:r>
            <a:endParaRPr lang="en-US" sz="1500" dirty="0"/>
          </a:p>
        </p:txBody>
      </p:sp>
      <p:sp>
        <p:nvSpPr>
          <p:cNvPr id="24" name="limit 6"/>
          <p:cNvSpPr/>
          <p:nvPr/>
        </p:nvSpPr>
        <p:spPr>
          <a:xfrm>
            <a:off x="6126480" y="3703320"/>
            <a:ext cx="5440680" cy="1005840"/>
          </a:xfrm>
          <a:prstGeom prst="roundRect">
            <a:avLst>
              <a:gd name="adj" fmla="val 10909"/>
            </a:avLst>
          </a:prstGeom>
          <a:solidFill>
            <a:srgbClr val="F2F6F5"/>
          </a:solidFill>
          <a:ln w="12700">
            <a:solidFill>
              <a:srgbClr val="F2F6F5"/>
            </a:solidFill>
            <a:prstDash val="solid"/>
          </a:ln>
        </p:spPr>
      </p:sp>
      <p:sp>
        <p:nvSpPr>
          <p:cNvPr id="25" name="badge"/>
          <p:cNvSpPr/>
          <p:nvPr/>
        </p:nvSpPr>
        <p:spPr>
          <a:xfrm>
            <a:off x="6309360" y="4014216"/>
            <a:ext cx="384048" cy="384048"/>
          </a:xfrm>
          <a:prstGeom prst="ellipse">
            <a:avLst/>
          </a:prstGeom>
          <a:solidFill>
            <a:srgbClr val="C8553D"/>
          </a:solidFill>
          <a:ln w="12700">
            <a:solidFill>
              <a:srgbClr val="C8553D"/>
            </a:solidFill>
            <a:prstDash val="solid"/>
          </a:ln>
        </p:spPr>
      </p:sp>
      <p:sp>
        <p:nvSpPr>
          <p:cNvPr id="26" name="badge text"/>
          <p:cNvSpPr txBox="1"/>
          <p:nvPr/>
        </p:nvSpPr>
        <p:spPr>
          <a:xfrm>
            <a:off x="6309360" y="4014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7" name="limit text"/>
          <p:cNvSpPr txBox="1"/>
          <p:nvPr/>
        </p:nvSpPr>
        <p:spPr>
          <a:xfrm>
            <a:off x="6858000" y="3703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No write-back</a:t>
            </a:r>
            <a:endParaRPr lang="en-US" sz="1500" dirty="0"/>
          </a:p>
          <a:p>
            <a:pPr indent="0" marL="0">
              <a:buNone/>
            </a:pPr>
            <a:r>
              <a:rPr lang="en-US" sz="1250" dirty="0">
                <a:solidFill>
                  <a:srgbClr val="17292B"/>
                </a:solidFill>
              </a:rPr>
              <a:t>A correction is a new version here; it is not sent to the hospital's own system.</a:t>
            </a:r>
            <a:endParaRPr lang="en-US" sz="1500" dirty="0"/>
          </a:p>
        </p:txBody>
      </p:sp>
      <p:sp>
        <p:nvSpPr>
          <p:cNvPr id="28" name="limit 7"/>
          <p:cNvSpPr/>
          <p:nvPr/>
        </p:nvSpPr>
        <p:spPr>
          <a:xfrm>
            <a:off x="548640" y="4846320"/>
            <a:ext cx="5440680" cy="1005840"/>
          </a:xfrm>
          <a:prstGeom prst="roundRect">
            <a:avLst>
              <a:gd name="adj" fmla="val 10909"/>
            </a:avLst>
          </a:prstGeom>
          <a:solidFill>
            <a:srgbClr val="F2F6F5"/>
          </a:solidFill>
          <a:ln w="12700">
            <a:solidFill>
              <a:srgbClr val="F2F6F5"/>
            </a:solidFill>
            <a:prstDash val="solid"/>
          </a:ln>
        </p:spPr>
      </p:sp>
      <p:sp>
        <p:nvSpPr>
          <p:cNvPr id="29" name="badge"/>
          <p:cNvSpPr/>
          <p:nvPr/>
        </p:nvSpPr>
        <p:spPr>
          <a:xfrm>
            <a:off x="731520" y="5157216"/>
            <a:ext cx="384048" cy="384048"/>
          </a:xfrm>
          <a:prstGeom prst="ellipse">
            <a:avLst/>
          </a:prstGeom>
          <a:solidFill>
            <a:srgbClr val="C8553D"/>
          </a:solidFill>
          <a:ln w="12700">
            <a:solidFill>
              <a:srgbClr val="C8553D"/>
            </a:solidFill>
            <a:prstDash val="solid"/>
          </a:ln>
        </p:spPr>
      </p:sp>
      <p:sp>
        <p:nvSpPr>
          <p:cNvPr id="30" name="badge text"/>
          <p:cNvSpPr txBox="1"/>
          <p:nvPr/>
        </p:nvSpPr>
        <p:spPr>
          <a:xfrm>
            <a:off x="731520" y="5157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1" name="limit text"/>
          <p:cNvSpPr txBox="1"/>
          <p:nvPr/>
        </p:nvSpPr>
        <p:spPr>
          <a:xfrm>
            <a:off x="1280160" y="4846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Copilot proposals</a:t>
            </a:r>
            <a:endParaRPr lang="en-US" sz="1500" dirty="0"/>
          </a:p>
          <a:p>
            <a:pPr indent="0" marL="0">
              <a:buNone/>
            </a:pPr>
            <a:r>
              <a:rPr lang="en-US" sz="1250" dirty="0">
                <a:solidFill>
                  <a:srgbClr val="17292B"/>
                </a:solidFill>
              </a:rPr>
              <a:t>Three rules have computable fixes. The rest ask or check.</a:t>
            </a:r>
            <a:endParaRPr lang="en-US" sz="1500" dirty="0"/>
          </a:p>
        </p:txBody>
      </p:sp>
      <p:sp>
        <p:nvSpPr>
          <p:cNvPr id="32" name="limit 8"/>
          <p:cNvSpPr/>
          <p:nvPr/>
        </p:nvSpPr>
        <p:spPr>
          <a:xfrm>
            <a:off x="6126480" y="4846320"/>
            <a:ext cx="5440680" cy="1005840"/>
          </a:xfrm>
          <a:prstGeom prst="roundRect">
            <a:avLst>
              <a:gd name="adj" fmla="val 10909"/>
            </a:avLst>
          </a:prstGeom>
          <a:solidFill>
            <a:srgbClr val="F2F6F5"/>
          </a:solidFill>
          <a:ln w="12700">
            <a:solidFill>
              <a:srgbClr val="F2F6F5"/>
            </a:solidFill>
            <a:prstDash val="solid"/>
          </a:ln>
        </p:spPr>
      </p:sp>
      <p:sp>
        <p:nvSpPr>
          <p:cNvPr id="33" name="badge"/>
          <p:cNvSpPr/>
          <p:nvPr/>
        </p:nvSpPr>
        <p:spPr>
          <a:xfrm>
            <a:off x="6309360" y="5157216"/>
            <a:ext cx="384048" cy="384048"/>
          </a:xfrm>
          <a:prstGeom prst="ellipse">
            <a:avLst/>
          </a:prstGeom>
          <a:solidFill>
            <a:srgbClr val="C8553D"/>
          </a:solidFill>
          <a:ln w="12700">
            <a:solidFill>
              <a:srgbClr val="C8553D"/>
            </a:solidFill>
            <a:prstDash val="solid"/>
          </a:ln>
        </p:spPr>
      </p:sp>
      <p:sp>
        <p:nvSpPr>
          <p:cNvPr id="34" name="badge text"/>
          <p:cNvSpPr txBox="1"/>
          <p:nvPr/>
        </p:nvSpPr>
        <p:spPr>
          <a:xfrm>
            <a:off x="6309360" y="5157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35" name="limit text"/>
          <p:cNvSpPr txBox="1"/>
          <p:nvPr/>
        </p:nvSpPr>
        <p:spPr>
          <a:xfrm>
            <a:off x="6858000" y="4846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Nobody outside the team</a:t>
            </a:r>
            <a:endParaRPr lang="en-US" sz="1500" dirty="0"/>
          </a:p>
          <a:p>
            <a:pPr indent="0" marL="0">
              <a:buNone/>
            </a:pPr>
            <a:r>
              <a:rPr lang="en-US" sz="1250" dirty="0">
                <a:solidFill>
                  <a:srgbClr val="17292B"/>
                </a:solidFill>
              </a:rPr>
              <a:t>has attacked it.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Where this could go: plans, not claims</a:t>
            </a:r>
            <a:endParaRPr lang="en-US" sz="3200" dirty="0"/>
          </a:p>
        </p:txBody>
      </p:sp>
      <p:sp>
        <p:nvSpPr>
          <p:cNvPr id="4" name="tag"/>
          <p:cNvSpPr/>
          <p:nvPr/>
        </p:nvSpPr>
        <p:spPr>
          <a:xfrm>
            <a:off x="9966960" y="73152"/>
            <a:ext cx="11887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9966960" y="73152"/>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not built</a:t>
            </a:r>
            <a:endParaRPr lang="en-US" sz="1100" dirty="0"/>
          </a:p>
        </p:txBody>
      </p:sp>
      <p:sp>
        <p:nvSpPr>
          <p:cNvPr id="6" name="next card 1"/>
          <p:cNvSpPr/>
          <p:nvPr/>
        </p:nvSpPr>
        <p:spPr>
          <a:xfrm>
            <a:off x="548640" y="1371600"/>
            <a:ext cx="3566160" cy="3840480"/>
          </a:xfrm>
          <a:prstGeom prst="roundRect">
            <a:avLst>
              <a:gd name="adj" fmla="val 3077"/>
            </a:avLst>
          </a:prstGeom>
          <a:solidFill>
            <a:srgbClr val="F2F6F5"/>
          </a:solidFill>
          <a:ln w="12700">
            <a:solidFill>
              <a:srgbClr val="F2F6F5"/>
            </a:solidFill>
            <a:prstDash val="solid"/>
          </a:ln>
        </p:spPr>
      </p:sp>
      <p:sp>
        <p:nvSpPr>
          <p:cNvPr id="7" name="badge"/>
          <p:cNvSpPr/>
          <p:nvPr/>
        </p:nvSpPr>
        <p:spPr>
          <a:xfrm>
            <a:off x="777240" y="1554480"/>
            <a:ext cx="384048" cy="384048"/>
          </a:xfrm>
          <a:prstGeom prst="ellipse">
            <a:avLst/>
          </a:prstGeom>
          <a:solidFill>
            <a:srgbClr val="C47A12"/>
          </a:solidFill>
          <a:ln w="12700">
            <a:solidFill>
              <a:srgbClr val="C47A12"/>
            </a:solidFill>
            <a:prstDash val="solid"/>
          </a:ln>
        </p:spPr>
      </p:sp>
      <p:sp>
        <p:nvSpPr>
          <p:cNvPr id="8" name="badge text"/>
          <p:cNvSpPr txBox="1"/>
          <p:nvPr/>
        </p:nvSpPr>
        <p:spPr>
          <a:xfrm>
            <a:off x="77724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9" name="next title"/>
          <p:cNvSpPr txBox="1"/>
          <p:nvPr/>
        </p:nvSpPr>
        <p:spPr>
          <a:xfrm>
            <a:off x="1325880" y="1481328"/>
            <a:ext cx="2651760" cy="59436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Standard codes on every finding</a:t>
            </a:r>
            <a:endParaRPr lang="en-US" sz="1600" dirty="0"/>
          </a:p>
        </p:txBody>
      </p:sp>
      <p:sp>
        <p:nvSpPr>
          <p:cNvPr id="10" name="next text"/>
          <p:cNvSpPr txBox="1"/>
          <p:nvPr/>
        </p:nvSpPr>
        <p:spPr>
          <a:xfrm>
            <a:off x="777240" y="2286000"/>
            <a:ext cx="3154680" cy="2834640"/>
          </a:xfrm>
          <a:prstGeom prst="rect">
            <a:avLst/>
          </a:prstGeom>
          <a:noFill/>
          <a:ln/>
        </p:spPr>
        <p:txBody>
          <a:bodyPr wrap="square" lIns="0" tIns="0" rIns="0" bIns="0" rtlCol="0" anchor="t"/>
          <a:lstStyle/>
          <a:p>
            <a:pPr indent="0" marL="0">
              <a:buNone/>
            </a:pPr>
            <a:r>
              <a:rPr lang="en-US" sz="1400" dirty="0">
                <a:solidFill>
                  <a:srgbClr val="17292B"/>
                </a:solidFill>
              </a:rPr>
              <a:t>Each of the 15 + 8 rules carries the matching adjustment reason or NPHIES error code, shown as a badge in the console. We need the official value sets from you, not guesses.</a:t>
            </a:r>
            <a:endParaRPr lang="en-US" sz="1400" dirty="0"/>
          </a:p>
        </p:txBody>
      </p:sp>
      <p:sp>
        <p:nvSpPr>
          <p:cNvPr id="11" name="next card 2"/>
          <p:cNvSpPr/>
          <p:nvPr/>
        </p:nvSpPr>
        <p:spPr>
          <a:xfrm>
            <a:off x="4297680" y="1371600"/>
            <a:ext cx="3566160" cy="3840480"/>
          </a:xfrm>
          <a:prstGeom prst="roundRect">
            <a:avLst>
              <a:gd name="adj" fmla="val 3077"/>
            </a:avLst>
          </a:prstGeom>
          <a:solidFill>
            <a:srgbClr val="F2F6F5"/>
          </a:solidFill>
          <a:ln w="12700">
            <a:solidFill>
              <a:srgbClr val="F2F6F5"/>
            </a:solidFill>
            <a:prstDash val="solid"/>
          </a:ln>
        </p:spPr>
      </p:sp>
      <p:sp>
        <p:nvSpPr>
          <p:cNvPr id="12" name="badge"/>
          <p:cNvSpPr/>
          <p:nvPr/>
        </p:nvSpPr>
        <p:spPr>
          <a:xfrm>
            <a:off x="4526280" y="1554480"/>
            <a:ext cx="384048" cy="384048"/>
          </a:xfrm>
          <a:prstGeom prst="ellipse">
            <a:avLst/>
          </a:prstGeom>
          <a:solidFill>
            <a:srgbClr val="C47A12"/>
          </a:solidFill>
          <a:ln w="12700">
            <a:solidFill>
              <a:srgbClr val="C47A12"/>
            </a:solidFill>
            <a:prstDash val="solid"/>
          </a:ln>
        </p:spPr>
      </p:sp>
      <p:sp>
        <p:nvSpPr>
          <p:cNvPr id="13" name="badge text"/>
          <p:cNvSpPr txBox="1"/>
          <p:nvPr/>
        </p:nvSpPr>
        <p:spPr>
          <a:xfrm>
            <a:off x="452628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next title"/>
          <p:cNvSpPr txBox="1"/>
          <p:nvPr/>
        </p:nvSpPr>
        <p:spPr>
          <a:xfrm>
            <a:off x="5074920" y="1481328"/>
            <a:ext cx="2651760" cy="59436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Payer overlays</a:t>
            </a:r>
            <a:endParaRPr lang="en-US" sz="1600" dirty="0"/>
          </a:p>
        </p:txBody>
      </p:sp>
      <p:sp>
        <p:nvSpPr>
          <p:cNvPr id="15" name="next text"/>
          <p:cNvSpPr txBox="1"/>
          <p:nvPr/>
        </p:nvSpPr>
        <p:spPr>
          <a:xfrm>
            <a:off x="4526280" y="2286000"/>
            <a:ext cx="3154680" cy="2834640"/>
          </a:xfrm>
          <a:prstGeom prst="rect">
            <a:avLst/>
          </a:prstGeom>
          <a:noFill/>
          <a:ln/>
        </p:spPr>
        <p:txBody>
          <a:bodyPr wrap="square" lIns="0" tIns="0" rIns="0" bIns="0" rtlCol="0" anchor="t"/>
          <a:lstStyle/>
          <a:p>
            <a:pPr indent="0" marL="0">
              <a:buNone/>
            </a:pPr>
            <a:r>
              <a:rPr lang="en-US" sz="1400" dirty="0">
                <a:solidFill>
                  <a:srgbClr val="17292B"/>
                </a:solidFill>
              </a:rPr>
              <a:t>Today a payer's contract is one versioned, approved policy table. Next: payer-specific rule sets chosen by the insurer on the claim, so one claim can pass for one payer and fail for another.</a:t>
            </a:r>
            <a:endParaRPr lang="en-US" sz="1400" dirty="0"/>
          </a:p>
        </p:txBody>
      </p:sp>
      <p:sp>
        <p:nvSpPr>
          <p:cNvPr id="16" name="next card 3"/>
          <p:cNvSpPr/>
          <p:nvPr/>
        </p:nvSpPr>
        <p:spPr>
          <a:xfrm>
            <a:off x="8046720" y="1371600"/>
            <a:ext cx="3566160" cy="3840480"/>
          </a:xfrm>
          <a:prstGeom prst="roundRect">
            <a:avLst>
              <a:gd name="adj" fmla="val 3077"/>
            </a:avLst>
          </a:prstGeom>
          <a:solidFill>
            <a:srgbClr val="F2F6F5"/>
          </a:solidFill>
          <a:ln w="12700">
            <a:solidFill>
              <a:srgbClr val="F2F6F5"/>
            </a:solidFill>
            <a:prstDash val="solid"/>
          </a:ln>
        </p:spPr>
      </p:sp>
      <p:sp>
        <p:nvSpPr>
          <p:cNvPr id="17" name="badge"/>
          <p:cNvSpPr/>
          <p:nvPr/>
        </p:nvSpPr>
        <p:spPr>
          <a:xfrm>
            <a:off x="8275320" y="1554480"/>
            <a:ext cx="384048" cy="384048"/>
          </a:xfrm>
          <a:prstGeom prst="ellipse">
            <a:avLst/>
          </a:prstGeom>
          <a:solidFill>
            <a:srgbClr val="C47A12"/>
          </a:solidFill>
          <a:ln w="12700">
            <a:solidFill>
              <a:srgbClr val="C47A12"/>
            </a:solidFill>
            <a:prstDash val="solid"/>
          </a:ln>
        </p:spPr>
      </p:sp>
      <p:sp>
        <p:nvSpPr>
          <p:cNvPr id="18" name="badge text"/>
          <p:cNvSpPr txBox="1"/>
          <p:nvPr/>
        </p:nvSpPr>
        <p:spPr>
          <a:xfrm>
            <a:off x="827532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9" name="next title"/>
          <p:cNvSpPr txBox="1"/>
          <p:nvPr/>
        </p:nvSpPr>
        <p:spPr>
          <a:xfrm>
            <a:off x="8823960" y="1481328"/>
            <a:ext cx="2651760" cy="59436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A credible time-saved study</a:t>
            </a:r>
            <a:endParaRPr lang="en-US" sz="1600" dirty="0"/>
          </a:p>
        </p:txBody>
      </p:sp>
      <p:sp>
        <p:nvSpPr>
          <p:cNvPr id="20" name="next text"/>
          <p:cNvSpPr txBox="1"/>
          <p:nvPr/>
        </p:nvSpPr>
        <p:spPr>
          <a:xfrm>
            <a:off x="8275320" y="2286000"/>
            <a:ext cx="3154680" cy="2834640"/>
          </a:xfrm>
          <a:prstGeom prst="rect">
            <a:avLst/>
          </a:prstGeom>
          <a:noFill/>
          <a:ln/>
        </p:spPr>
        <p:txBody>
          <a:bodyPr wrap="square" lIns="0" tIns="0" rIns="0" bIns="0" rtlCol="0" anchor="t"/>
          <a:lstStyle/>
          <a:p>
            <a:pPr indent="0" marL="0">
              <a:buNone/>
            </a:pPr>
            <a:r>
              <a:rPr lang="en-US" sz="1400" dirty="0">
                <a:solidFill>
                  <a:srgbClr val="17292B"/>
                </a:solidFill>
              </a:rPr>
              <a:t>Two matched packs of 30 claims. Half the reviewers use the console first, half the plain view first, so learning effects cancel. Log median handling time, seeded errors missed, clean claims wrongly flagged; add a short workload survey.</a:t>
            </a:r>
            <a:endParaRPr lang="en-US" sz="1400" dirty="0"/>
          </a:p>
        </p:txBody>
      </p:sp>
      <p:sp>
        <p:nvSpPr>
          <p:cNvPr id="21" name="scope card"/>
          <p:cNvSpPr/>
          <p:nvPr/>
        </p:nvSpPr>
        <p:spPr>
          <a:xfrm>
            <a:off x="548640" y="5394960"/>
            <a:ext cx="11064240" cy="685800"/>
          </a:xfrm>
          <a:prstGeom prst="roundRect">
            <a:avLst>
              <a:gd name="adj" fmla="val 16000"/>
            </a:avLst>
          </a:prstGeom>
          <a:solidFill>
            <a:srgbClr val="FFF1DB"/>
          </a:solidFill>
          <a:ln w="12700">
            <a:solidFill>
              <a:srgbClr val="FFF1DB"/>
            </a:solidFill>
            <a:prstDash val="solid"/>
          </a:ln>
        </p:spPr>
      </p:sp>
      <p:sp>
        <p:nvSpPr>
          <p:cNvPr id="22" name="scope text"/>
          <p:cNvSpPr txBox="1"/>
          <p:nvPr/>
        </p:nvSpPr>
        <p:spPr>
          <a:xfrm>
            <a:off x="777240" y="5394960"/>
            <a:ext cx="10607040" cy="685800"/>
          </a:xfrm>
          <a:prstGeom prst="rect">
            <a:avLst/>
          </a:prstGeom>
          <a:noFill/>
          <a:ln/>
        </p:spPr>
        <p:txBody>
          <a:bodyPr wrap="square" lIns="0" tIns="0" rIns="0" bIns="0" rtlCol="0" anchor="ctr"/>
          <a:lstStyle/>
          <a:p>
            <a:pPr indent="0" marL="0">
              <a:buNone/>
            </a:pPr>
            <a:r>
              <a:rPr lang="en-US" sz="1400" dirty="0">
                <a:solidFill>
                  <a:srgbClr val="17292B"/>
                </a:solidFill>
              </a:rPr>
              <a:t>The benchmark stays at the 15 rules. These would be advisory or presentation changes, kept apart, and only after the mentor says which matter.</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Twelve minutes of demo, and four questions for you</a:t>
            </a:r>
            <a:endParaRPr lang="en-US" sz="3200" dirty="0"/>
          </a:p>
        </p:txBody>
      </p:sp>
      <p:sp>
        <p:nvSpPr>
          <p:cNvPr id="4" name="demo card"/>
          <p:cNvSpPr/>
          <p:nvPr/>
        </p:nvSpPr>
        <p:spPr>
          <a:xfrm>
            <a:off x="548640" y="1417320"/>
            <a:ext cx="5760720" cy="4663440"/>
          </a:xfrm>
          <a:prstGeom prst="roundRect">
            <a:avLst>
              <a:gd name="adj" fmla="val 2353"/>
            </a:avLst>
          </a:prstGeom>
          <a:solidFill>
            <a:srgbClr val="F2F6F5"/>
          </a:solidFill>
          <a:ln w="12700">
            <a:solidFill>
              <a:srgbClr val="F2F6F5"/>
            </a:solidFill>
            <a:prstDash val="solid"/>
          </a:ln>
        </p:spPr>
      </p:sp>
      <p:sp>
        <p:nvSpPr>
          <p:cNvPr id="5" name="h"/>
          <p:cNvSpPr txBox="1"/>
          <p:nvPr/>
        </p:nvSpPr>
        <p:spPr>
          <a:xfrm>
            <a:off x="777240" y="1508760"/>
            <a:ext cx="530352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The demo</a:t>
            </a:r>
            <a:endParaRPr lang="en-US" sz="1800" dirty="0"/>
          </a:p>
        </p:txBody>
      </p:sp>
      <p:sp>
        <p:nvSpPr>
          <p:cNvPr id="6" name="badge"/>
          <p:cNvSpPr/>
          <p:nvPr/>
        </p:nvSpPr>
        <p:spPr>
          <a:xfrm>
            <a:off x="777240" y="2057400"/>
            <a:ext cx="365760" cy="365760"/>
          </a:xfrm>
          <a:prstGeom prst="ellipse">
            <a:avLst/>
          </a:prstGeom>
          <a:solidFill>
            <a:srgbClr val="14746F"/>
          </a:solidFill>
          <a:ln w="12700">
            <a:solidFill>
              <a:srgbClr val="14746F"/>
            </a:solidFill>
            <a:prstDash val="solid"/>
          </a:ln>
        </p:spPr>
      </p:sp>
      <p:sp>
        <p:nvSpPr>
          <p:cNvPr id="7" name="badge text"/>
          <p:cNvSpPr txBox="1"/>
          <p:nvPr/>
        </p:nvSpPr>
        <p:spPr>
          <a:xfrm>
            <a:off x="777240" y="20574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demo step"/>
          <p:cNvSpPr txBox="1"/>
          <p:nvPr/>
        </p:nvSpPr>
        <p:spPr>
          <a:xfrm>
            <a:off x="1325880" y="2057400"/>
            <a:ext cx="4846320" cy="365760"/>
          </a:xfrm>
          <a:prstGeom prst="rect">
            <a:avLst/>
          </a:prstGeom>
          <a:noFill/>
          <a:ln/>
        </p:spPr>
        <p:txBody>
          <a:bodyPr wrap="square" lIns="0" tIns="0" rIns="0" bIns="0" rtlCol="0" anchor="ctr"/>
          <a:lstStyle/>
          <a:p>
            <a:pPr indent="0" marL="0">
              <a:buNone/>
            </a:pPr>
            <a:r>
              <a:rPr lang="en-US" sz="1450" dirty="0">
                <a:solidFill>
                  <a:srgbClr val="17292B"/>
                </a:solidFill>
              </a:rPr>
              <a:t>A claim with a wrong amount arrives</a:t>
            </a:r>
            <a:endParaRPr lang="en-US" sz="1450" dirty="0"/>
          </a:p>
        </p:txBody>
      </p:sp>
      <p:sp>
        <p:nvSpPr>
          <p:cNvPr id="9" name="badge"/>
          <p:cNvSpPr/>
          <p:nvPr/>
        </p:nvSpPr>
        <p:spPr>
          <a:xfrm>
            <a:off x="777240" y="2697480"/>
            <a:ext cx="365760" cy="365760"/>
          </a:xfrm>
          <a:prstGeom prst="ellipse">
            <a:avLst/>
          </a:prstGeom>
          <a:solidFill>
            <a:srgbClr val="14746F"/>
          </a:solidFill>
          <a:ln w="12700">
            <a:solidFill>
              <a:srgbClr val="14746F"/>
            </a:solidFill>
            <a:prstDash val="solid"/>
          </a:ln>
        </p:spPr>
      </p:sp>
      <p:sp>
        <p:nvSpPr>
          <p:cNvPr id="10" name="badge text"/>
          <p:cNvSpPr txBox="1"/>
          <p:nvPr/>
        </p:nvSpPr>
        <p:spPr>
          <a:xfrm>
            <a:off x="777240" y="26974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demo step"/>
          <p:cNvSpPr txBox="1"/>
          <p:nvPr/>
        </p:nvSpPr>
        <p:spPr>
          <a:xfrm>
            <a:off x="1325880" y="2697480"/>
            <a:ext cx="4846320" cy="365760"/>
          </a:xfrm>
          <a:prstGeom prst="rect">
            <a:avLst/>
          </a:prstGeom>
          <a:noFill/>
          <a:ln/>
        </p:spPr>
        <p:txBody>
          <a:bodyPr wrap="square" lIns="0" tIns="0" rIns="0" bIns="0" rtlCol="0" anchor="ctr"/>
          <a:lstStyle/>
          <a:p>
            <a:pPr indent="0" marL="0">
              <a:buNone/>
            </a:pPr>
            <a:r>
              <a:rPr lang="en-US" sz="1450" dirty="0">
                <a:solidFill>
                  <a:srgbClr val="17292B"/>
                </a:solidFill>
              </a:rPr>
              <a:t>The senior opens it: summary and evidence</a:t>
            </a:r>
            <a:endParaRPr lang="en-US" sz="1450" dirty="0"/>
          </a:p>
        </p:txBody>
      </p:sp>
      <p:sp>
        <p:nvSpPr>
          <p:cNvPr id="12" name="badge"/>
          <p:cNvSpPr/>
          <p:nvPr/>
        </p:nvSpPr>
        <p:spPr>
          <a:xfrm>
            <a:off x="777240" y="3337560"/>
            <a:ext cx="365760" cy="365760"/>
          </a:xfrm>
          <a:prstGeom prst="ellipse">
            <a:avLst/>
          </a:prstGeom>
          <a:solidFill>
            <a:srgbClr val="14746F"/>
          </a:solidFill>
          <a:ln w="12700">
            <a:solidFill>
              <a:srgbClr val="14746F"/>
            </a:solidFill>
            <a:prstDash val="solid"/>
          </a:ln>
        </p:spPr>
      </p:sp>
      <p:sp>
        <p:nvSpPr>
          <p:cNvPr id="13" name="badge text"/>
          <p:cNvSpPr txBox="1"/>
          <p:nvPr/>
        </p:nvSpPr>
        <p:spPr>
          <a:xfrm>
            <a:off x="777240" y="33375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demo step"/>
          <p:cNvSpPr txBox="1"/>
          <p:nvPr/>
        </p:nvSpPr>
        <p:spPr>
          <a:xfrm>
            <a:off x="1325880" y="3337560"/>
            <a:ext cx="4846320" cy="365760"/>
          </a:xfrm>
          <a:prstGeom prst="rect">
            <a:avLst/>
          </a:prstGeom>
          <a:noFill/>
          <a:ln/>
        </p:spPr>
        <p:txBody>
          <a:bodyPr wrap="square" lIns="0" tIns="0" rIns="0" bIns="0" rtlCol="0" anchor="ctr"/>
          <a:lstStyle/>
          <a:p>
            <a:pPr indent="0" marL="0">
              <a:buNone/>
            </a:pPr>
            <a:r>
              <a:rPr lang="en-US" sz="1450" dirty="0">
                <a:solidFill>
                  <a:srgbClr val="17292B"/>
                </a:solidFill>
              </a:rPr>
              <a:t>What-if: every check would pass</a:t>
            </a:r>
            <a:endParaRPr lang="en-US" sz="1450" dirty="0"/>
          </a:p>
        </p:txBody>
      </p:sp>
      <p:sp>
        <p:nvSpPr>
          <p:cNvPr id="15" name="badge"/>
          <p:cNvSpPr/>
          <p:nvPr/>
        </p:nvSpPr>
        <p:spPr>
          <a:xfrm>
            <a:off x="777240" y="3977640"/>
            <a:ext cx="365760" cy="365760"/>
          </a:xfrm>
          <a:prstGeom prst="ellipse">
            <a:avLst/>
          </a:prstGeom>
          <a:solidFill>
            <a:srgbClr val="14746F"/>
          </a:solidFill>
          <a:ln w="12700">
            <a:solidFill>
              <a:srgbClr val="14746F"/>
            </a:solidFill>
            <a:prstDash val="solid"/>
          </a:ln>
        </p:spPr>
      </p:sp>
      <p:sp>
        <p:nvSpPr>
          <p:cNvPr id="16" name="badge text"/>
          <p:cNvSpPr txBox="1"/>
          <p:nvPr/>
        </p:nvSpPr>
        <p:spPr>
          <a:xfrm>
            <a:off x="777240" y="39776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demo step"/>
          <p:cNvSpPr txBox="1"/>
          <p:nvPr/>
        </p:nvSpPr>
        <p:spPr>
          <a:xfrm>
            <a:off x="1325880" y="3977640"/>
            <a:ext cx="4846320" cy="365760"/>
          </a:xfrm>
          <a:prstGeom prst="rect">
            <a:avLst/>
          </a:prstGeom>
          <a:noFill/>
          <a:ln/>
        </p:spPr>
        <p:txBody>
          <a:bodyPr wrap="square" lIns="0" tIns="0" rIns="0" bIns="0" rtlCol="0" anchor="ctr"/>
          <a:lstStyle/>
          <a:p>
            <a:pPr indent="0" marL="0">
              <a:buNone/>
            </a:pPr>
            <a:r>
              <a:rPr lang="en-US" sz="1450" dirty="0">
                <a:solidFill>
                  <a:srgbClr val="17292B"/>
                </a:solidFill>
              </a:rPr>
              <a:t>Apply with a reason: version 2</a:t>
            </a:r>
            <a:endParaRPr lang="en-US" sz="1450" dirty="0"/>
          </a:p>
        </p:txBody>
      </p:sp>
      <p:sp>
        <p:nvSpPr>
          <p:cNvPr id="18" name="badge"/>
          <p:cNvSpPr/>
          <p:nvPr/>
        </p:nvSpPr>
        <p:spPr>
          <a:xfrm>
            <a:off x="777240" y="4617720"/>
            <a:ext cx="365760" cy="365760"/>
          </a:xfrm>
          <a:prstGeom prst="ellipse">
            <a:avLst/>
          </a:prstGeom>
          <a:solidFill>
            <a:srgbClr val="14746F"/>
          </a:solidFill>
          <a:ln w="12700">
            <a:solidFill>
              <a:srgbClr val="14746F"/>
            </a:solidFill>
            <a:prstDash val="solid"/>
          </a:ln>
        </p:spPr>
      </p:sp>
      <p:sp>
        <p:nvSpPr>
          <p:cNvPr id="19" name="badge text"/>
          <p:cNvSpPr txBox="1"/>
          <p:nvPr/>
        </p:nvSpPr>
        <p:spPr>
          <a:xfrm>
            <a:off x="777240" y="46177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0" name="demo step"/>
          <p:cNvSpPr txBox="1"/>
          <p:nvPr/>
        </p:nvSpPr>
        <p:spPr>
          <a:xfrm>
            <a:off x="1325880" y="4617720"/>
            <a:ext cx="4846320" cy="365760"/>
          </a:xfrm>
          <a:prstGeom prst="rect">
            <a:avLst/>
          </a:prstGeom>
          <a:noFill/>
          <a:ln/>
        </p:spPr>
        <p:txBody>
          <a:bodyPr wrap="square" lIns="0" tIns="0" rIns="0" bIns="0" rtlCol="0" anchor="ctr"/>
          <a:lstStyle/>
          <a:p>
            <a:pPr indent="0" marL="0">
              <a:buNone/>
            </a:pPr>
            <a:r>
              <a:rPr lang="en-US" sz="1450" dirty="0">
                <a:solidFill>
                  <a:srgbClr val="17292B"/>
                </a:solidFill>
              </a:rPr>
              <a:t>Trace: both versions, who, what, why</a:t>
            </a:r>
            <a:endParaRPr lang="en-US" sz="1450" dirty="0"/>
          </a:p>
        </p:txBody>
      </p:sp>
      <p:sp>
        <p:nvSpPr>
          <p:cNvPr id="21" name="badge"/>
          <p:cNvSpPr/>
          <p:nvPr/>
        </p:nvSpPr>
        <p:spPr>
          <a:xfrm>
            <a:off x="777240" y="5257800"/>
            <a:ext cx="365760" cy="365760"/>
          </a:xfrm>
          <a:prstGeom prst="ellipse">
            <a:avLst/>
          </a:prstGeom>
          <a:solidFill>
            <a:srgbClr val="14746F"/>
          </a:solidFill>
          <a:ln w="12700">
            <a:solidFill>
              <a:srgbClr val="14746F"/>
            </a:solidFill>
            <a:prstDash val="solid"/>
          </a:ln>
        </p:spPr>
      </p:sp>
      <p:sp>
        <p:nvSpPr>
          <p:cNvPr id="22" name="badge text"/>
          <p:cNvSpPr txBox="1"/>
          <p:nvPr/>
        </p:nvSpPr>
        <p:spPr>
          <a:xfrm>
            <a:off x="777240" y="52578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3" name="demo step"/>
          <p:cNvSpPr txBox="1"/>
          <p:nvPr/>
        </p:nvSpPr>
        <p:spPr>
          <a:xfrm>
            <a:off x="1325880" y="5257800"/>
            <a:ext cx="4846320" cy="365760"/>
          </a:xfrm>
          <a:prstGeom prst="rect">
            <a:avLst/>
          </a:prstGeom>
          <a:noFill/>
          <a:ln/>
        </p:spPr>
        <p:txBody>
          <a:bodyPr wrap="square" lIns="0" tIns="0" rIns="0" bIns="0" rtlCol="0" anchor="ctr"/>
          <a:lstStyle/>
          <a:p>
            <a:pPr indent="0" marL="0">
              <a:buNone/>
            </a:pPr>
            <a:r>
              <a:rPr lang="en-US" sz="1450" dirty="0">
                <a:solidFill>
                  <a:srgbClr val="17292B"/>
                </a:solidFill>
              </a:rPr>
              <a:t>Rewrite an audit row: the alarm goes red</a:t>
            </a:r>
            <a:endParaRPr lang="en-US" sz="1450" dirty="0"/>
          </a:p>
        </p:txBody>
      </p:sp>
      <p:sp>
        <p:nvSpPr>
          <p:cNvPr id="24" name="questions card"/>
          <p:cNvSpPr/>
          <p:nvPr/>
        </p:nvSpPr>
        <p:spPr>
          <a:xfrm>
            <a:off x="6492240" y="1417320"/>
            <a:ext cx="5120640" cy="4663440"/>
          </a:xfrm>
          <a:prstGeom prst="roundRect">
            <a:avLst>
              <a:gd name="adj" fmla="val 2353"/>
            </a:avLst>
          </a:prstGeom>
          <a:solidFill>
            <a:srgbClr val="0E3B3F"/>
          </a:solidFill>
          <a:ln w="12700">
            <a:solidFill>
              <a:srgbClr val="0E3B3F"/>
            </a:solidFill>
            <a:prstDash val="solid"/>
          </a:ln>
        </p:spPr>
      </p:sp>
      <p:sp>
        <p:nvSpPr>
          <p:cNvPr id="25" name="h"/>
          <p:cNvSpPr txBox="1"/>
          <p:nvPr/>
        </p:nvSpPr>
        <p:spPr>
          <a:xfrm>
            <a:off x="6720840" y="1508760"/>
            <a:ext cx="466344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For the mentor</a:t>
            </a:r>
            <a:endParaRPr lang="en-US" sz="1800" dirty="0"/>
          </a:p>
        </p:txBody>
      </p:sp>
      <p:sp>
        <p:nvSpPr>
          <p:cNvPr id="26" name="questions"/>
          <p:cNvSpPr txBox="1"/>
          <p:nvPr/>
        </p:nvSpPr>
        <p:spPr>
          <a:xfrm>
            <a:off x="6720840" y="2057400"/>
            <a:ext cx="4663440" cy="384048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400" dirty="0">
                <a:solidFill>
                  <a:srgbClr val="DDEEEB"/>
                </a:solidFill>
              </a:rPr>
              <a:t>R006 and R013: three public claims split one service into a plain line and an EDU-SEPARATE line (CG-B10B19D8A56A, CG-00348A9B1AAD, CG-EC233ACB399D). The rules pass them as documented, but the total quantity exceeds the per-line limit. Intended?</a:t>
            </a:r>
            <a:endParaRPr lang="en-US" sz="1400" dirty="0"/>
          </a:p>
          <a:p>
            <a:pPr marL="342900" indent="-342900">
              <a:spcAft>
                <a:spcPts val="900"/>
              </a:spcAft>
              <a:buSzPct val="100000"/>
              <a:buFont typeface="+mj-lt"/>
              <a:buAutoNum type="arabicPeriod" startAt="1"/>
            </a:pPr>
            <a:r>
              <a:rPr lang="en-US" sz="1400" dirty="0">
                <a:solidFill>
                  <a:srgbClr val="DDEEEB"/>
                </a:solidFill>
              </a:rPr>
              <a:t>Is 'pre-validation clear' the right label for a claim a person confirmed or the system cleared?</a:t>
            </a:r>
            <a:endParaRPr lang="en-US" sz="1400" dirty="0"/>
          </a:p>
          <a:p>
            <a:pPr marL="342900" indent="-342900">
              <a:spcAft>
                <a:spcPts val="900"/>
              </a:spcAft>
              <a:buSzPct val="100000"/>
              <a:buFont typeface="+mj-lt"/>
              <a:buAutoNum type="arabicPeriod" startAt="1"/>
            </a:pPr>
            <a:r>
              <a:rPr lang="en-US" sz="1400" dirty="0">
                <a:solidFill>
                  <a:srgbClr val="DDEEEB"/>
                </a:solidFill>
              </a:rPr>
              <a:t>A Redis Streams queue in Rust: acceptable in place of Celery or ARQ?</a:t>
            </a:r>
            <a:endParaRPr lang="en-US" sz="1400" dirty="0"/>
          </a:p>
          <a:p>
            <a:pPr marL="342900" indent="-342900">
              <a:spcAft>
                <a:spcPts val="900"/>
              </a:spcAft>
              <a:buSzPct val="100000"/>
              <a:buFont typeface="+mj-lt"/>
              <a:buAutoNum type="arabicPeriod" startAt="1"/>
            </a:pPr>
            <a:r>
              <a:rPr lang="en-US" sz="1400" dirty="0">
                <a:solidFill>
                  <a:srgbClr val="DDEEEB"/>
                </a:solidFill>
              </a:rPr>
              <a:t>Would a timed session with a few officers be possible, to measure real time saved?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ClaimGuard">
  <a:themeElements>
    <a:clrScheme name="ClaimGuard">
      <a:dk1>
        <a:srgbClr val="17292B"/>
      </a:dk1>
      <a:lt1>
        <a:srgbClr val="FFFFFF"/>
      </a:lt1>
      <a:dk2>
        <a:srgbClr val="0E3B3F"/>
      </a:dk2>
      <a:lt2>
        <a:srgbClr val="F2F6F5"/>
      </a:lt2>
      <a:accent1>
        <a:srgbClr val="14746F"/>
      </a:accent1>
      <a:accent2>
        <a:srgbClr val="F2A541"/>
      </a:accent2>
      <a:accent3>
        <a:srgbClr val="C8553D"/>
      </a:accent3>
      <a:accent4>
        <a:srgbClr val="5C7173"/>
      </a:accent4>
      <a:accent5>
        <a:srgbClr val="2E9E8F"/>
      </a:accent5>
      <a:accent6>
        <a:srgbClr val="8FB8B3"/>
      </a:accent6>
      <a:hlink>
        <a:srgbClr val="14746F"/>
      </a:hlink>
      <a:folHlink>
        <a:srgbClr val="5C7173"/>
      </a:folHlink>
    </a:clrScheme>
    <a:fontScheme name="ClaimGuar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ClaimGuard: mentor session</dc:title>
  <dc:subject>PptxGenJS Presentation</dc:subject>
  <dc:creator>ClaimGuard team</dc:creator>
  <cp:lastModifiedBy>ClaimGuard team</cp:lastModifiedBy>
  <cp:revision>1</cp:revision>
  <dcterms:created xsi:type="dcterms:W3CDTF">2026-10-16T22:47:27Z</dcterms:created>
  <dcterms:modified xsi:type="dcterms:W3CDTF">2026-10-16T22:47:27Z</dcterms:modified>
</cp:coreProperties>
</file>