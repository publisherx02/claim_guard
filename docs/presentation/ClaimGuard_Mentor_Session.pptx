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508a7e-7c3b-bc0d-d765-7ded606fbc0a}">
          <p14:sldIdLst>
            <p14:sldId id="256"/>
            <p14:sldId id="257"/>
            <p14:sldId id="258"/>
          </p14:sldIdLst>
        </p14:section>
        <p14:section name="Core" id="{b6ca45f2-fc9d-e78b-0d45-e599be936ae4}">
          <p14:sldIdLst>
            <p14:sldId id="259"/>
            <p14:sldId id="260"/>
            <p14:sldId id="261"/>
          </p14:sldIdLst>
        </p14:section>
        <p14:section name="Queue and AI" id="{0d883270-65d2-2859-2d82-ab814d89f7f1}">
          <p14:sldIdLst>
            <p14:sldId id="262"/>
            <p14:sldId id="263"/>
            <p14:sldId id="264"/>
            <p14:sldId id="265"/>
          </p14:sldIdLst>
        </p14:section>
        <p14:section name="Built this week" id="{e5b6fecc-6dd8-54f3-54f8-d0587b5dcbfc}">
          <p14:sldIdLst>
            <p14:sldId id="266"/>
            <p14:sldId id="267"/>
            <p14:sldId id="268"/>
          </p14:sldIdLst>
        </p14:section>
        <p14:section name="Less work for the operator" id="{aeb841a9-ced8-85b7-049d-db18da55e8c5}">
          <p14:sldIdLst>
            <p14:sldId id="269"/>
            <p14:sldId id="270"/>
            <p14:sldId id="271"/>
          </p14:sldIdLst>
        </p14:section>
        <p14:section name="Trust" id="{aa79cb90-8088-36b3-f504-7ca9d0c254b0}">
          <p14:sldIdLst>
            <p14:sldId id="272"/>
            <p14:sldId id="273"/>
            <p14:sldId id="274"/>
            <p14:sldId id="275"/>
          </p14:sldIdLst>
        </p14:section>
        <p14:section name="Close" id="{927ee377-f915-5085-d43c-40fb63199711}">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Simulated: hours to drain 500 claims with 20 agents</a:t>
            </a:r>
          </a:p>
        </c:rich>
      </c:tx>
      <c:layout/>
      <c:overlay val="0"/>
    </c:title>
    <c:autoTitleDeleted val="0"/>
    <c:plotArea>
      <c:layout/>
      <c:barChart>
        <c:barDir val="col"/>
        <c:grouping val="clustered"/>
        <c:varyColors val="0"/>
        <c:ser>
          <c:idx val="0"/>
          <c:order val="0"/>
          <c:tx>
            <c:strRef>
              <c:f>Sheet1!$B$1</c:f>
              <c:strCache>
                <c:ptCount val="1"/>
                <c:pt idx="0">
                  <c:v>Hours to drain 500 claims</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4 seniors</c:v>
                  </c:pt>
                  <c:pt idx="1">
                    <c:v>8 seniors</c:v>
                  </c:pt>
                  <c:pt idx="2">
                    <c:v>4 seniors, four-eyes</c:v>
                  </c:pt>
                  <c:pt idx="3">
                    <c:v>8 seniors, four-eyes</c:v>
                  </c:pt>
                </c:lvl>
              </c:multiLvlStrCache>
            </c:multiLvlStrRef>
          </c:cat>
          <c:val>
            <c:numRef>
              <c:f>Sheet1!$B$2:$B$5</c:f>
              <c:numCache>
                <c:formatCode>General</c:formatCode>
                <c:ptCount val="4"/>
                <c:pt idx="0">
                  <c:v>2.97</c:v>
                </c:pt>
                <c:pt idx="1">
                  <c:v>1.82</c:v>
                </c:pt>
                <c:pt idx="2">
                  <c:v>5.66</c:v>
                </c:pt>
                <c:pt idx="3">
                  <c:v>3.07</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Proposed corrections that clear their finding</a:t>
            </a:r>
          </a:p>
        </c:rich>
      </c:tx>
      <c:layout/>
      <c:overlay val="0"/>
    </c:title>
    <c:autoTitleDeleted val="0"/>
    <c:plotArea>
      <c:layout/>
      <c:barChart>
        <c:barDir val="col"/>
        <c:grouping val="clustered"/>
        <c:varyColors val="0"/>
        <c:ser>
          <c:idx val="0"/>
          <c:order val="0"/>
          <c:tx>
            <c:strRef>
              <c:f>Sheet1!$B$1</c:f>
              <c:strCache>
                <c:ptCount val="1"/>
                <c:pt idx="0">
                  <c:v>Proposed</c:v>
                </c:pt>
              </c:strCache>
            </c:strRef>
          </c:tx>
          <c:spPr>
            <a:solidFill>
              <a:srgbClr val="8FB8B3"/>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Sheet1!$B$2:$B$4</c:f>
              <c:numCache>
                <c:formatCode>General</c:formatCode>
                <c:ptCount val="3"/>
                <c:pt idx="0">
                  <c:v>30</c:v>
                </c:pt>
                <c:pt idx="1">
                  <c:v>34</c:v>
                </c:pt>
                <c:pt idx="2">
                  <c:v>29</c:v>
                </c:pt>
              </c:numCache>
            </c:numRef>
          </c:val>
        </c:ser>
        <c:ser>
          <c:idx val="1"/>
          <c:order val="1"/>
          <c:tx>
            <c:strRef>
              <c:f>Sheet1!$C$1</c:f>
              <c:strCache>
                <c:ptCount val="1"/>
                <c:pt idx="0">
                  <c:v>Cleared the finding</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Sheet1!$C$2:$C$4</c:f>
              <c:numCache>
                <c:formatCode>General</c:formatCode>
                <c:ptCount val="3"/>
                <c:pt idx="0">
                  <c:v>30</c:v>
                </c:pt>
                <c:pt idx="1">
                  <c:v>34</c:v>
                </c:pt>
                <c:pt idx="2">
                  <c:v>29</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9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and thank you for the email of 16 October. It changed how we spent the week, so I will start from it. The goal you set is a trustworthy, explainable copilot for claim pre-validation, not a production revenue-cycle platform. That is what this deck shows. It covers everything we built after the Phase 1 submission: the rule engine and its checks, the task queue, the cache, the AI explanation step, the new correction workflow, security, audit and deployment. Two promises before we start. Every number you will see comes from a command you can re-run, and anything simulated says so on its own slide. Second, the last two slides list what we have not done, and I will read them out, because you should hear that from us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email, point by point, with where we stand on each. One: human in the loop. Built, with lanes, a transparent score, four-eyes for high severity and a full audit trail. Two: all fifteen rules are right, with an F1 of 1.00 on the six hundred public claims, and the eight extra rules live in a separate pack so they never touch the benchmark. Three: the AI is grounded and has a plan for wrong output. Four: R006 stays exactly as documented, and I have three claims for you on the last slide. Five: authorization is aggregated per claim, and cross-claim is only an extension. Six: the wording is now pre-validation clearance, never approval. Seven: the JSONL schema is unchanged, with confidence null. Eight: one workflow, which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workflow you asked for, in six steps. A claim arrives in any format and the fifteen rules run in under a fifth of a millisecond. Each finding is either a fail or unable-to-assess when data is missing, and it cites the claim paths it rests on. Third, the copilot explains it and says what to ask or correct, and it never invents a value. Fourth, the officer decides: confirm, dismiss with a reason, or request information, with a senior for high severity. Fifth, the officer corrects the claim and revalidates: a what-if first, then a new version, while the original stays untouched. Sixth, everything is traceable, with both versions side by side and the measured accuracy shown. Steps three and five are what we added this week, and they are marked in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pieces fit, and I will trace one claim from left to right. Inputs are validated at intake, and anything unreadable is quarantined with a reason. The rule engine writes the result to MongoDB, which is the source of truth: claims and results are encrypted at rest. A marker saying "publish this" is written in the same operation, and Redis Streams carries the work to a pool of consumers. The AI explanation step has a circuit breaker, a budget, a cache and a grounding guard. The dispatcher puts the claim in a personal inbox, the officer decides in the console, and a correction becomes a new version that goes through the same path again. Along the bottom are the records: signed logs, a ledger, and access control with pseudonymised identifiers. Redis only carries work. If we lose it, we lose nothing, because the marker stays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correctness, I want to be upfront. The F1 is 1.00 on all six hundred public claims: four hundred development, a hundred and fifty validation and fifty stress. Zero of three thousand and fifteen clean results were wrongly flagged, and the ninety-five percent bound on the false-alarm rate is 1.9 percent. The Rust engine runs in 0.19 milliseconds per claim and agrees exactly with the Python reference on ten thousand six hundred claims. Missing data gives unable-to-assess, never a pass. R006 is exactly as documented, and R009 aggregates per authorization within one claim. The advisory rules are kept apart. The caveat is the one on the slide: the public set is synthetic, so a perfect score is not proof about real claims, and nine of fifteen rules have no failing example in the fifty-claim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do not arrive tidy, so intake treats every file as untrusted until proven. FHIR bundles, CSV tables and JSONL give identical claims and identical reports on all six hundred public claims. Twelve thousand randomly damaged FHIR bundles reached the same accept-or-quarantine verdict as the reference. For PDFs and photos, the reader runs in its own isolated container. On two hundred and forty synthetic documents it read ninety-seven point four percent of fields correctly, with one silent error. A reading is only ever a draft, and the clerk compares every field with the page. I should say plainly that real paper, handwriting and Arabic are not tested yet. A damaged record is quarantined with a reason and never stops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task queue. You mentioned Celery or ARQ. Those are Python libraries, and what we built is the same pattern in Rust on Redis Streams, which is question three for you at the end. The flow: intake writes the claim and a publish marker in one atomic write. The relay publishes and clears the marker only after Redis accepted. A consumer group and a pool process the claims. Each of the six boxes below is a failure we designed for and tested. If Redis is down, the markers wait in MongoDB. If a consumer dies, another takes over its message. A poison claim becomes a dead letter after three deliveries. Duplicates change nothing. A burst waits in the stream, never in front of the model. A lost message is republished after fifteen minutes. Throughput on the target server is not measured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work reaches people. Every flagged finding earns points: a fail on a high-severity rule counts four, down to one for a medium-severity unable-to-assess. Green means nothing flagged. Lane A is one to three flagged findings with a score under ten, and lane B is the rest. The score is deliberately simple and transparent, as you asked. High severity needs a senior, a different senior countersigns blind, and a third settles a disagreement. Leases return abandoned claims to the pool, and no route lets anyone assign or move a claim. The chart is a simulation with simulated people and a simulated clock: draining five hundred claims takes about three hours with four seniors, and nearly six with four-eyes. Two hundred and fifty-three of the five hundred need a senior, so seniors are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the reason the model is not a bottleneck. What is cached is an explanation template: text with the placeholders value and line, keyed by the rule, the failure shape, the prompt version and the model. The model never sees a claim value, so the cached text can contain none. What is never cached: the filled text, the claim values, and anything about permissions. A demotion must apply at once. The grounding guard runs again on the filled text every time, cached or not. We measured this under load this week: three hundred ninety-nine claims with findings, seven hundred seventy-seven findings, the real engine and the real model. With an empty cache, ninety point five percent of findings needed no model call. Once warm, it is ninety-seven point seven. Five failures in a row open the breaker, and the hard deadline is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keep the AI from saying something it should not. First, the model sees only the rule text and never a claim value. Second, its text is checked mechanically: invented values, clinical or fraud talk, approval or payment words, even disguised ones, garbled script and repetition. Third, any failure leaves the engine's own explanation in place: if the model is slow, down, over budget or rejected, the finding and its text stay. Fourth, we red-teamed prompt injection with a real model; it found one hole, we closed it and added a test. In the load test the guard refused templates containing phrases like "have a valid" and "are correct", because the finding did not cover them. That is the guard working. The cost is that a refused template is not cached, so those claims ask the model again. I am honest about the sample: in one twenty-five-case run, seventeen answers fell back to the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two things built this week, and it answers your request for correction assistance and a reviewer summary. On the left is the reviewer copilot panel on a real claim. It gives one summary: how many findings, which severity, and the order that clears the claim fastest. It gives one suggestion per finding, of three kinds: a value to correct, a value to check against the source, or information to ask the provider for. We built it with code, on purpose, with no model. Every sentence is built from the finding and the claim, so it cites a rule and claim paths, and that makes grounding something we can test rather than hope for. A value is proposed only if it follows from other values on the same claim, and no identifier can be edited. A claim with no finding reads pre-validation clearance, not payer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built this week is what-if and recheck. The officer edits a field, or presses "try this" on a proposal. The engine runs on a copy and shows each rule before and after: cleared, still flagged, or a new problem. Nothing is saved. Then, with a reason and a tick confirming the value was checked against the source, the correction is saved as version two, which goes through triage like any claim. Version one stays exactly as received and is closed, and the findings that were cleared are recorded with the reviewer's reason. The controls matter. Only the holder of the claim can try or apply a correction. Clearing a high-severity finding needs the same senior authority as deciding it, so correcting data cannot be a way around sign-off. Identifiers cannot be edited, and the reason may not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the copilot against the real engine on the six hundred public claims. There are seven hundred seventy-seven flagged findings, each with exactly one suggestion. Of the proposed corrections, every one cleared the finding it was proposed for: thirty of thirty on line amounts, thirty-four of thirty-four on claim totals, twenty-nine of twenty-nine on currency. Applying all proposals on a claim created zero new findings, no cited path was missing from the claim, and no text had approval or payment words. Four thousand two hundred attempts to edit an identifier were all refused. The measurement also caught a real bug: the first version fixed the line amount alone and created a new total failure in twenty-five of thirty cases. The copilot now proposes the line and the total together. The limit is on the slide: only three rules have computable fixes, and the reviewer still checks the figure against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making the operator's day easier, which is what you encouraged us to do beyond the minimum. There are four levers. Confirming needs no typed reason, because confirming agrees with the engine, while dismissing still needs one. Bulk confirm, auto-clear of green claims and auto-request of information are all off by default, each with a random audit sample and an exact bound on the miss rate. In simulation, the number of findings a person decides per five hundred claims dropped from six hundred fifty to three hundred ninety-nine, minus thirty-nine percent, with none wrong against the answer key. Everything here is simulated reviewers on the real pipeline. Time per finding has not been measured. The first real step is a timed session with a few officers, which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warned us that a model trained on artificial decisions might only reproduce the rules, so we tested that honestly. On the left is the workload report, which is live and read-only. It reads reviewer confirmations and dismissals per rule, and it lists rules reviewers keep overriding, which are candidates to retune, and rules almost always upheld, which are candidates for lighter review. In simulation it found both bad rules in twenty of twenty histories, with no false alarms. On the right is the fine-tuned model, Laya. It learned the rulebook: accuracy 0.97 against 0.63 zero-shot. But its labels are the engine's own, it finds only sixty-four percent of real failures, and it cannot save an operator time after the engine has run. So we archived it. It is not in the decision path, and a confidence is never shown as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advisory rules, kept apart from the fifteen. They have their own ids, file and schema, and they never change an official result. E101 to E103 look across claims: a duplicate line, an authorization exhausted across claims, a daily quantity across claims. E102 is the cross-claim authorization usage you described, working on explicitly synthetic history, and it fires only when earlier claims contributed units, so it never double-reports what R009 already fails. E001 to E005 follow published practice on bundling, modifiers and diagnosis, but their attributes are invented and labelled so, which means they cannot fire on public data by design. Four thousand eight hundred of four thousand eight hundred results agree with an independent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security, four numbers. A hundred and sixteen black-box attack checks, all passing. Ninety-three deliberate breakages of the security and queue rules, each caught by a test. Four hundred thousand fuzzed requests through the API. And fifty checks on the deployment showing nothing but the proxy is reachable. Underneath: identity is badge, password and authenticator code, with four clearance levels enforced on the server, and a hidden action is not offered at all, not just disabled. Reviewers see pseudonyms, and unmasking needs its own permission, a reason, and an hourly limit. The most dangerous administrator actions need a second administrator. Claims, results and corrections are encrypted at rest. What is not done: nobody outside our team has attacked it, and one person holding two accounts is logged but not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important moment is written down. When a claim is received we record the input hash, the rule pack hash and the result hash. When a finding is decided, we record who, what, why, and the original status. A what-if is recorded with who and how many changes, and nothing else is kept. A saved correction links both versions by input hash and records each change from and to. Unmasking an identifier is recorded and counted against an hourly limit. On the right, the tamper evidence: logs are hash-chained and signed, an append-only mirror refuses to follow an edited log, and a ledger has checkpoints and Merkle proofs. In the demo I will rewrite an audit row, and the health panel goes red within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premises, because hospital data stays inside the hospital. I want to be precise about what has been tested and what has not. The Docker Compose stack with API, worker, MongoDB, Redis and proxy is tested: fifty of fifty attack checks and twenty-three of twenty-three backup and restore checks. Encrypted backup and restore have a runbook and were tested end to end. The model server is designed and scripted. Kubernetes manifests, network policies and restricted pods are written and tested structurally, but we had no cluster to apply them to. The firewall and outside port scan ran in throwaway containers, not on the real server, and the target server, an RTX 3080 with 10 gigabytes, has not been run on yet. For data protection, each obligation is mapped to what the system does. Subject access and erasure and a retention period are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model measured here. The laptop has an RTX 4060 with 8 gigabytes, not the 3080 target. With Ollama's default settings, it serves one request at a time: about fifty-three explanations a minute, at any concurrency. With eight parallel slots and flash attention, it reaches one hundred thirty-seven a minute, with no errors, and it stops improving past eight parallel requests. The better test is the one in the card below: three hundred ninety-nine claims through the real explanation step, with an empty cache. Seventy-four model calls answered seven hundred seventy-seven findings, and the run took forty-nine seconds, about four hundred ninety claims a minute. With a warm cache, about two thousand. So the model is not the limit. vLLM is the planned production server and has not been run here. We stay on Ollama unless the target measurement says otherwise, and the benchmark script works on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credibility, so I will read it. The public data is synthetic, so perfect scores do not show how real claims behave. The savings are simulated, and there has been no timed session with real reviewers. We have not run on the target server, so throughput on the RTX 3080 and vLLM are unmeasured. There is no Kubernetes cluster, so the manifests are only structurally tested. Real paper, handwriting and Arabic documents are untested. Subject access, erasure and retention are designed but not built. The copilot has computable fixes for three rules, and for the rest it asks or checks. And nobody outside the team has attacked the system. Each of these is a next step, not a hidden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 will follow your six steps. A claim with a wrong amount arrives. The senior opens it and sees the summary and evidence. We try a what-if and every check would pass. We apply it with a reason, which creates version two. The trace shows both versions, who changed what and why. Then I rewrite an audit row and the alarm goes red. After that, four questions for you. First, R006 and R013: three public claims, CG-B10B19D8A56A, CG-00348A9B1AAD and CG-EC233ACB399D, split one service into a plain line and an EDU-SEPARATE line, and the rules pass them as documented, but the total quantity exceeds the per-line limit. Is that intended? Second, is pre-validation clear the right label? Third, is a Redis Streams queue in Rust acceptable in place of Celery or ARQ? Fourth, could we run a timed session with a few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3B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ECTION">
    <p:bg>
      <p:bgPr>
        <a:solidFill>
          <a:srgbClr val="0E3B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424160" cy="1280160"/>
          </a:xfrm>
          <a:prstGeom prst="rect">
            <a:avLst/>
          </a:prstGeom>
          <a:noFill/>
          <a:ln/>
        </p:spPr>
        <p:txBody>
          <a:bodyPr wrap="square" rtlCol="0"/>
          <a:lstStyle>
            <a:lvl1pPr indent="0" marL="0">
              <a:buNone/>
              <a:defRPr lang="en-US" sz="4400" b="1" dirty="0">
                <a:solidFill>
                  <a:srgbClr val="FFFFFF"/>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822960" y="3474720"/>
            <a:ext cx="9601200" cy="1097280"/>
          </a:xfrm>
          <a:prstGeom prst="rect">
            <a:avLst/>
          </a:prstGeom>
          <a:noFill/>
          <a:ln/>
        </p:spPr>
        <p:txBody>
          <a:bodyPr wrap="square" rtlCol="0"/>
          <a:lstStyle>
            <a:lvl1pPr indent="0" marL="0">
              <a:buNone/>
              <a:defRPr lang="en-US" sz="2000" dirty="0">
                <a:solidFill>
                  <a:srgbClr val="CADCD9"/>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822960" y="1554480"/>
            <a:ext cx="100584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ClaimGuard</a:t>
            </a:r>
            <a:endParaRPr lang="en-US" sz="6600" dirty="0"/>
          </a:p>
        </p:txBody>
      </p:sp>
      <p:sp>
        <p:nvSpPr>
          <p:cNvPr id="3" name="subtitle"/>
          <p:cNvSpPr txBox="1"/>
          <p:nvPr/>
        </p:nvSpPr>
        <p:spPr>
          <a:xfrm>
            <a:off x="822960" y="2834640"/>
            <a:ext cx="9326880" cy="1188720"/>
          </a:xfrm>
          <a:prstGeom prst="rect">
            <a:avLst/>
          </a:prstGeom>
          <a:noFill/>
          <a:ln/>
        </p:spPr>
        <p:txBody>
          <a:bodyPr wrap="square" lIns="0" tIns="0" rIns="0" bIns="0" rtlCol="0" anchor="t"/>
          <a:lstStyle/>
          <a:p>
            <a:pPr indent="0" marL="0">
              <a:buNone/>
            </a:pPr>
            <a:r>
              <a:rPr lang="en-US" sz="2400" dirty="0">
                <a:solidFill>
                  <a:srgbClr val="CADCD9"/>
                </a:solidFill>
              </a:rPr>
              <a:t>A copilot that helps a claims officer understand a claim, decide, correct it and revalidate it, with every step on record</a:t>
            </a:r>
            <a:endParaRPr lang="en-US" sz="2400" dirty="0"/>
          </a:p>
        </p:txBody>
      </p:sp>
      <p:sp>
        <p:nvSpPr>
          <p:cNvPr id="4" name="tag"/>
          <p:cNvSpPr/>
          <p:nvPr/>
        </p:nvSpPr>
        <p:spPr>
          <a:xfrm>
            <a:off x="822960" y="4480560"/>
            <a:ext cx="16459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822960" y="4480560"/>
            <a:ext cx="1645920" cy="274320"/>
          </a:xfrm>
          <a:prstGeom prst="rect">
            <a:avLst/>
          </a:prstGeom>
          <a:noFill/>
          <a:ln/>
        </p:spPr>
        <p:txBody>
          <a:bodyPr wrap="square" lIns="0" tIns="0" rIns="0" bIns="0" rtlCol="0" anchor="ctr"/>
          <a:lstStyle/>
          <a:p>
            <a:pPr algn="ctr" indent="0" marL="0">
              <a:buNone/>
            </a:pPr>
            <a:r>
              <a:rPr lang="en-US" sz="1100" b="1" dirty="0">
                <a:solidFill>
                  <a:srgbClr val="17292B"/>
                </a:solidFill>
              </a:rPr>
              <a:t>Mentor session</a:t>
            </a:r>
            <a:endParaRPr lang="en-US" sz="1100" dirty="0"/>
          </a:p>
        </p:txBody>
      </p:sp>
      <p:sp>
        <p:nvSpPr>
          <p:cNvPr id="6" name="tagline"/>
          <p:cNvSpPr txBox="1"/>
          <p:nvPr/>
        </p:nvSpPr>
        <p:spPr>
          <a:xfrm>
            <a:off x="822960" y="4937760"/>
            <a:ext cx="9144000" cy="731520"/>
          </a:xfrm>
          <a:prstGeom prst="rect">
            <a:avLst/>
          </a:prstGeom>
          <a:noFill/>
          <a:ln/>
        </p:spPr>
        <p:txBody>
          <a:bodyPr wrap="square" lIns="0" tIns="0" rIns="0" bIns="0" rtlCol="0" anchor="t"/>
          <a:lstStyle/>
          <a:p>
            <a:pPr indent="0" marL="0">
              <a:buNone/>
            </a:pPr>
            <a:r>
              <a:rPr lang="en-US" sz="1600" dirty="0">
                <a:solidFill>
                  <a:srgbClr val="8FB8B3"/>
                </a:solidFill>
              </a:rPr>
              <a:t>Sunday 18 October 2026. Everything built since the Phase 1 submission, measured, with what is not done said plainly.</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Your email of 16 October, point by point</a:t>
            </a:r>
            <a:endParaRPr lang="en-US" sz="32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852160"/>
                <a:gridCol w="4754880"/>
              </a:tblGrid>
              <a:tr h="530352">
                <a:tc>
                  <a:txBody>
                    <a:bodyPr/>
                    <a:lstStyle/>
                    <a:p>
                      <a:pPr indent="0" marL="0">
                        <a:buNone/>
                      </a:pPr>
                      <a:r>
                        <a:rPr lang="en-US" sz="1400" b="1" dirty="0">
                          <a:solidFill>
                            <a:srgbClr val="FFFFFF"/>
                          </a:solidFill>
                        </a:rPr>
                        <a: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What you asked for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Where we stand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400" dirty="0">
                          <a:solidFill>
                            <a:srgbClr val="17292B"/>
                          </a:solidFill>
                        </a:rPr>
                        <a:t>1</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Human in the loop: confirm, dismiss with reason, request information, correct and revalidate, prioritised and traceable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Built. Lanes and a transparent score, four-eyes on high severity, full audit trail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All 15 rules right; extra rules kept apart from the benchmark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F1 1.00 on 600 public claims. 8 advisory rules in a separate pack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3</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AI that helps a claims officer, grounded, with a plan for wrong output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Explainer, correction assistant, what-if, reviewer summary, feedback analysis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4</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R006 as documented; three public claims to review together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Kept as documented. Three claims to discuss (slide 22)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5</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Authorization aggregated per claim; cross-claim only as an extension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R009 per claim. Cross-claim is advisory rule E102, separate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6</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Pre-validation clearance, not payer approval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Wording fixed in the console. Auto-clear exists, off by default, audited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7</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Keep the JSONL schema; confidence null, not_probabilistic</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Unchanged and enforced in the audit log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8</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One convincing end-to-end workflow</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Six steps run in the console (next slide)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workflow you described, running end to end</a:t>
            </a:r>
            <a:endParaRPr lang="en-US" sz="3200" dirty="0"/>
          </a:p>
        </p:txBody>
      </p:sp>
      <p:sp>
        <p:nvSpPr>
          <p:cNvPr id="4" name="step card 1"/>
          <p:cNvSpPr/>
          <p:nvPr/>
        </p:nvSpPr>
        <p:spPr>
          <a:xfrm>
            <a:off x="548640" y="1508760"/>
            <a:ext cx="3520440" cy="2148840"/>
          </a:xfrm>
          <a:prstGeom prst="roundRect">
            <a:avLst>
              <a:gd name="adj" fmla="val 5106"/>
            </a:avLst>
          </a:prstGeom>
          <a:solidFill>
            <a:srgbClr val="F2F6F5"/>
          </a:solidFill>
          <a:ln w="12700">
            <a:solidFill>
              <a:srgbClr val="F2F6F5"/>
            </a:solidFill>
            <a:prstDash val="solid"/>
          </a:ln>
        </p:spPr>
      </p:sp>
      <p:sp>
        <p:nvSpPr>
          <p:cNvPr id="5" name="badge"/>
          <p:cNvSpPr/>
          <p:nvPr/>
        </p:nvSpPr>
        <p:spPr>
          <a:xfrm>
            <a:off x="777240" y="1737360"/>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tep title"/>
          <p:cNvSpPr txBox="1"/>
          <p:nvPr/>
        </p:nvSpPr>
        <p:spPr>
          <a:xfrm>
            <a:off x="777240"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Claim received and validated</a:t>
            </a:r>
            <a:endParaRPr lang="en-US" sz="1800" dirty="0"/>
          </a:p>
        </p:txBody>
      </p:sp>
      <p:sp>
        <p:nvSpPr>
          <p:cNvPr id="8" name="step text"/>
          <p:cNvSpPr txBox="1"/>
          <p:nvPr/>
        </p:nvSpPr>
        <p:spPr>
          <a:xfrm>
            <a:off x="777240"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FHIR, CSV, JSONL, PDF or photo. 15 rules, 0.19 ms per claim</a:t>
            </a:r>
            <a:endParaRPr lang="en-US" sz="1400" dirty="0"/>
          </a:p>
        </p:txBody>
      </p:sp>
      <p:sp>
        <p:nvSpPr>
          <p:cNvPr id="9" name="step card 2"/>
          <p:cNvSpPr/>
          <p:nvPr/>
        </p:nvSpPr>
        <p:spPr>
          <a:xfrm>
            <a:off x="4325112" y="1508760"/>
            <a:ext cx="3520440" cy="2148840"/>
          </a:xfrm>
          <a:prstGeom prst="roundRect">
            <a:avLst>
              <a:gd name="adj" fmla="val 5106"/>
            </a:avLst>
          </a:prstGeom>
          <a:solidFill>
            <a:srgbClr val="F2F6F5"/>
          </a:solidFill>
          <a:ln w="12700">
            <a:solidFill>
              <a:srgbClr val="F2F6F5"/>
            </a:solidFill>
            <a:prstDash val="solid"/>
          </a:ln>
        </p:spPr>
      </p:sp>
      <p:sp>
        <p:nvSpPr>
          <p:cNvPr id="10" name="badge"/>
          <p:cNvSpPr/>
          <p:nvPr/>
        </p:nvSpPr>
        <p:spPr>
          <a:xfrm>
            <a:off x="4553712" y="1737360"/>
            <a:ext cx="384048" cy="384048"/>
          </a:xfrm>
          <a:prstGeom prst="ellipse">
            <a:avLst/>
          </a:prstGeom>
          <a:solidFill>
            <a:srgbClr val="14746F"/>
          </a:solidFill>
          <a:ln w="12700">
            <a:solidFill>
              <a:srgbClr val="14746F"/>
            </a:solidFill>
            <a:prstDash val="solid"/>
          </a:ln>
        </p:spPr>
      </p:sp>
      <p:sp>
        <p:nvSpPr>
          <p:cNvPr id="11" name="badge text"/>
          <p:cNvSpPr txBox="1"/>
          <p:nvPr/>
        </p:nvSpPr>
        <p:spPr>
          <a:xfrm>
            <a:off x="4553712"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tep title"/>
          <p:cNvSpPr txBox="1"/>
          <p:nvPr/>
        </p:nvSpPr>
        <p:spPr>
          <a:xfrm>
            <a:off x="4553712"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Errors, doubts and evidence</a:t>
            </a:r>
            <a:endParaRPr lang="en-US" sz="1800" dirty="0"/>
          </a:p>
        </p:txBody>
      </p:sp>
      <p:sp>
        <p:nvSpPr>
          <p:cNvPr id="13" name="step text"/>
          <p:cNvSpPr txBox="1"/>
          <p:nvPr/>
        </p:nvSpPr>
        <p:spPr>
          <a:xfrm>
            <a:off x="4553712"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FAIL, or UNABLE_TO_ASSESS when data is missing. Each finding cites claim paths</a:t>
            </a:r>
            <a:endParaRPr lang="en-US" sz="1400" dirty="0"/>
          </a:p>
        </p:txBody>
      </p:sp>
      <p:sp>
        <p:nvSpPr>
          <p:cNvPr id="14" name="step card 3"/>
          <p:cNvSpPr/>
          <p:nvPr/>
        </p:nvSpPr>
        <p:spPr>
          <a:xfrm>
            <a:off x="8101584" y="1508760"/>
            <a:ext cx="3520440" cy="2148840"/>
          </a:xfrm>
          <a:prstGeom prst="roundRect">
            <a:avLst>
              <a:gd name="adj" fmla="val 5106"/>
            </a:avLst>
          </a:prstGeom>
          <a:solidFill>
            <a:srgbClr val="FFF1DB"/>
          </a:solidFill>
          <a:ln w="12700">
            <a:solidFill>
              <a:srgbClr val="FFF1DB"/>
            </a:solidFill>
            <a:prstDash val="solid"/>
          </a:ln>
        </p:spPr>
      </p:sp>
      <p:sp>
        <p:nvSpPr>
          <p:cNvPr id="15" name="badge"/>
          <p:cNvSpPr/>
          <p:nvPr/>
        </p:nvSpPr>
        <p:spPr>
          <a:xfrm>
            <a:off x="8330184" y="1737360"/>
            <a:ext cx="384048" cy="384048"/>
          </a:xfrm>
          <a:prstGeom prst="ellipse">
            <a:avLst/>
          </a:prstGeom>
          <a:solidFill>
            <a:srgbClr val="C47A12"/>
          </a:solidFill>
          <a:ln w="12700">
            <a:solidFill>
              <a:srgbClr val="C47A12"/>
            </a:solidFill>
            <a:prstDash val="solid"/>
          </a:ln>
        </p:spPr>
      </p:sp>
      <p:sp>
        <p:nvSpPr>
          <p:cNvPr id="16" name="badge text"/>
          <p:cNvSpPr txBox="1"/>
          <p:nvPr/>
        </p:nvSpPr>
        <p:spPr>
          <a:xfrm>
            <a:off x="8330184"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ag"/>
          <p:cNvSpPr/>
          <p:nvPr/>
        </p:nvSpPr>
        <p:spPr>
          <a:xfrm>
            <a:off x="10204704" y="1783080"/>
            <a:ext cx="1188720" cy="274320"/>
          </a:xfrm>
          <a:prstGeom prst="roundRect">
            <a:avLst>
              <a:gd name="adj" fmla="val 50000"/>
            </a:avLst>
          </a:prstGeom>
          <a:solidFill>
            <a:srgbClr val="F2A541"/>
          </a:solidFill>
          <a:ln w="12700">
            <a:solidFill>
              <a:srgbClr val="F2A541"/>
            </a:solidFill>
            <a:prstDash val="solid"/>
          </a:ln>
        </p:spPr>
      </p:sp>
      <p:sp>
        <p:nvSpPr>
          <p:cNvPr id="18" name="tag text"/>
          <p:cNvSpPr txBox="1"/>
          <p:nvPr/>
        </p:nvSpPr>
        <p:spPr>
          <a:xfrm>
            <a:off x="10204704" y="178308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19" name="step title"/>
          <p:cNvSpPr txBox="1"/>
          <p:nvPr/>
        </p:nvSpPr>
        <p:spPr>
          <a:xfrm>
            <a:off x="8330184"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Copilot explains and advises</a:t>
            </a:r>
            <a:endParaRPr lang="en-US" sz="1800" dirty="0"/>
          </a:p>
        </p:txBody>
      </p:sp>
      <p:sp>
        <p:nvSpPr>
          <p:cNvPr id="20" name="step text"/>
          <p:cNvSpPr txBox="1"/>
          <p:nvPr/>
        </p:nvSpPr>
        <p:spPr>
          <a:xfrm>
            <a:off x="8330184"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Summary, what to ask or correct, never an invented value</a:t>
            </a:r>
            <a:endParaRPr lang="en-US" sz="1400" dirty="0"/>
          </a:p>
        </p:txBody>
      </p:sp>
      <p:sp>
        <p:nvSpPr>
          <p:cNvPr id="21" name="step card 4"/>
          <p:cNvSpPr/>
          <p:nvPr/>
        </p:nvSpPr>
        <p:spPr>
          <a:xfrm>
            <a:off x="548640" y="3931920"/>
            <a:ext cx="3520440" cy="2148840"/>
          </a:xfrm>
          <a:prstGeom prst="roundRect">
            <a:avLst>
              <a:gd name="adj" fmla="val 5106"/>
            </a:avLst>
          </a:prstGeom>
          <a:solidFill>
            <a:srgbClr val="F2F6F5"/>
          </a:solidFill>
          <a:ln w="12700">
            <a:solidFill>
              <a:srgbClr val="F2F6F5"/>
            </a:solidFill>
            <a:prstDash val="solid"/>
          </a:ln>
        </p:spPr>
      </p:sp>
      <p:sp>
        <p:nvSpPr>
          <p:cNvPr id="22" name="badge"/>
          <p:cNvSpPr/>
          <p:nvPr/>
        </p:nvSpPr>
        <p:spPr>
          <a:xfrm>
            <a:off x="777240" y="4160520"/>
            <a:ext cx="384048" cy="384048"/>
          </a:xfrm>
          <a:prstGeom prst="ellipse">
            <a:avLst/>
          </a:prstGeom>
          <a:solidFill>
            <a:srgbClr val="14746F"/>
          </a:solidFill>
          <a:ln w="12700">
            <a:solidFill>
              <a:srgbClr val="14746F"/>
            </a:solidFill>
            <a:prstDash val="solid"/>
          </a:ln>
        </p:spPr>
      </p:sp>
      <p:sp>
        <p:nvSpPr>
          <p:cNvPr id="23" name="badge text"/>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4" name="step title"/>
          <p:cNvSpPr txBox="1"/>
          <p:nvPr/>
        </p:nvSpPr>
        <p:spPr>
          <a:xfrm>
            <a:off x="777240"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Officer decides</a:t>
            </a:r>
            <a:endParaRPr lang="en-US" sz="1800" dirty="0"/>
          </a:p>
        </p:txBody>
      </p:sp>
      <p:sp>
        <p:nvSpPr>
          <p:cNvPr id="25" name="step text"/>
          <p:cNvSpPr txBox="1"/>
          <p:nvPr/>
        </p:nvSpPr>
        <p:spPr>
          <a:xfrm>
            <a:off x="777240"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Confirm, dismiss with a reason, request information. Seniors for high severity</a:t>
            </a:r>
            <a:endParaRPr lang="en-US" sz="1400" dirty="0"/>
          </a:p>
        </p:txBody>
      </p:sp>
      <p:sp>
        <p:nvSpPr>
          <p:cNvPr id="26" name="step card 5"/>
          <p:cNvSpPr/>
          <p:nvPr/>
        </p:nvSpPr>
        <p:spPr>
          <a:xfrm>
            <a:off x="4325112" y="3931920"/>
            <a:ext cx="3520440" cy="2148840"/>
          </a:xfrm>
          <a:prstGeom prst="roundRect">
            <a:avLst>
              <a:gd name="adj" fmla="val 5106"/>
            </a:avLst>
          </a:prstGeom>
          <a:solidFill>
            <a:srgbClr val="FFF1DB"/>
          </a:solidFill>
          <a:ln w="12700">
            <a:solidFill>
              <a:srgbClr val="FFF1DB"/>
            </a:solidFill>
            <a:prstDash val="solid"/>
          </a:ln>
        </p:spPr>
      </p:sp>
      <p:sp>
        <p:nvSpPr>
          <p:cNvPr id="27" name="badge"/>
          <p:cNvSpPr/>
          <p:nvPr/>
        </p:nvSpPr>
        <p:spPr>
          <a:xfrm>
            <a:off x="4553712" y="4160520"/>
            <a:ext cx="384048" cy="384048"/>
          </a:xfrm>
          <a:prstGeom prst="ellipse">
            <a:avLst/>
          </a:prstGeom>
          <a:solidFill>
            <a:srgbClr val="C47A12"/>
          </a:solidFill>
          <a:ln w="12700">
            <a:solidFill>
              <a:srgbClr val="C47A12"/>
            </a:solidFill>
            <a:prstDash val="solid"/>
          </a:ln>
        </p:spPr>
      </p:sp>
      <p:sp>
        <p:nvSpPr>
          <p:cNvPr id="28" name="badge text"/>
          <p:cNvSpPr txBox="1"/>
          <p:nvPr/>
        </p:nvSpPr>
        <p:spPr>
          <a:xfrm>
            <a:off x="455371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9" name="tag"/>
          <p:cNvSpPr/>
          <p:nvPr/>
        </p:nvSpPr>
        <p:spPr>
          <a:xfrm>
            <a:off x="6428232" y="4206240"/>
            <a:ext cx="1188720" cy="274320"/>
          </a:xfrm>
          <a:prstGeom prst="roundRect">
            <a:avLst>
              <a:gd name="adj" fmla="val 50000"/>
            </a:avLst>
          </a:prstGeom>
          <a:solidFill>
            <a:srgbClr val="F2A541"/>
          </a:solidFill>
          <a:ln w="12700">
            <a:solidFill>
              <a:srgbClr val="F2A541"/>
            </a:solidFill>
            <a:prstDash val="solid"/>
          </a:ln>
        </p:spPr>
      </p:sp>
      <p:sp>
        <p:nvSpPr>
          <p:cNvPr id="30" name="tag text"/>
          <p:cNvSpPr txBox="1"/>
          <p:nvPr/>
        </p:nvSpPr>
        <p:spPr>
          <a:xfrm>
            <a:off x="6428232" y="420624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31" name="step title"/>
          <p:cNvSpPr txBox="1"/>
          <p:nvPr/>
        </p:nvSpPr>
        <p:spPr>
          <a:xfrm>
            <a:off x="4553712"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Correct and revalidate</a:t>
            </a:r>
            <a:endParaRPr lang="en-US" sz="1800" dirty="0"/>
          </a:p>
        </p:txBody>
      </p:sp>
      <p:sp>
        <p:nvSpPr>
          <p:cNvPr id="32" name="step text"/>
          <p:cNvSpPr txBox="1"/>
          <p:nvPr/>
        </p:nvSpPr>
        <p:spPr>
          <a:xfrm>
            <a:off x="4553712"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What-if first, then a new version. The original stays untouched</a:t>
            </a:r>
            <a:endParaRPr lang="en-US" sz="1400" dirty="0"/>
          </a:p>
        </p:txBody>
      </p:sp>
      <p:sp>
        <p:nvSpPr>
          <p:cNvPr id="33" name="step card 6"/>
          <p:cNvSpPr/>
          <p:nvPr/>
        </p:nvSpPr>
        <p:spPr>
          <a:xfrm>
            <a:off x="8101584" y="3931920"/>
            <a:ext cx="3520440" cy="2148840"/>
          </a:xfrm>
          <a:prstGeom prst="roundRect">
            <a:avLst>
              <a:gd name="adj" fmla="val 5106"/>
            </a:avLst>
          </a:prstGeom>
          <a:solidFill>
            <a:srgbClr val="F2F6F5"/>
          </a:solidFill>
          <a:ln w="12700">
            <a:solidFill>
              <a:srgbClr val="F2F6F5"/>
            </a:solidFill>
            <a:prstDash val="solid"/>
          </a:ln>
        </p:spPr>
      </p:sp>
      <p:sp>
        <p:nvSpPr>
          <p:cNvPr id="34" name="badge"/>
          <p:cNvSpPr/>
          <p:nvPr/>
        </p:nvSpPr>
        <p:spPr>
          <a:xfrm>
            <a:off x="8330184" y="4160520"/>
            <a:ext cx="384048" cy="384048"/>
          </a:xfrm>
          <a:prstGeom prst="ellipse">
            <a:avLst/>
          </a:prstGeom>
          <a:solidFill>
            <a:srgbClr val="14746F"/>
          </a:solidFill>
          <a:ln w="12700">
            <a:solidFill>
              <a:srgbClr val="14746F"/>
            </a:solidFill>
            <a:prstDash val="solid"/>
          </a:ln>
        </p:spPr>
      </p:sp>
      <p:sp>
        <p:nvSpPr>
          <p:cNvPr id="35" name="badge text"/>
          <p:cNvSpPr txBox="1"/>
          <p:nvPr/>
        </p:nvSpPr>
        <p:spPr>
          <a:xfrm>
            <a:off x="8330184"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6" name="step title"/>
          <p:cNvSpPr txBox="1"/>
          <p:nvPr/>
        </p:nvSpPr>
        <p:spPr>
          <a:xfrm>
            <a:off x="8330184"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Traceable, with limits shown</a:t>
            </a:r>
            <a:endParaRPr lang="en-US" sz="1800" dirty="0"/>
          </a:p>
        </p:txBody>
      </p:sp>
      <p:sp>
        <p:nvSpPr>
          <p:cNvPr id="37" name="step text"/>
          <p:cNvSpPr txBox="1"/>
          <p:nvPr/>
        </p:nvSpPr>
        <p:spPr>
          <a:xfrm>
            <a:off x="8330184"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Signed audit trail, both versions side by side, measured accuracy</a:t>
            </a:r>
            <a:endParaRPr lang="en-US" sz="1400" dirty="0"/>
          </a:p>
        </p:txBody>
      </p:sp>
      <p:sp>
        <p:nvSpPr>
          <p:cNvPr id="3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All numbers in this deck come from commands you can re-run. Anything simulated says so on its slide.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system fits together</a:t>
            </a:r>
            <a:endParaRPr lang="en-US" sz="3200" dirty="0"/>
          </a:p>
        </p:txBody>
      </p:sp>
      <p:sp>
        <p:nvSpPr>
          <p:cNvPr id="4" name="box Inputs"/>
          <p:cNvSpPr/>
          <p:nvPr/>
        </p:nvSpPr>
        <p:spPr>
          <a:xfrm>
            <a:off x="548640" y="1600200"/>
            <a:ext cx="1874520" cy="960120"/>
          </a:xfrm>
          <a:prstGeom prst="roundRect">
            <a:avLst>
              <a:gd name="adj" fmla="val 9524"/>
            </a:avLst>
          </a:prstGeom>
          <a:solidFill>
            <a:srgbClr val="5C7173"/>
          </a:solidFill>
          <a:ln w="12700">
            <a:solidFill>
              <a:srgbClr val="5C7173"/>
            </a:solidFill>
            <a:prstDash val="solid"/>
          </a:ln>
        </p:spPr>
      </p:sp>
      <p:sp>
        <p:nvSpPr>
          <p:cNvPr id="5" name="box text Inputs"/>
          <p:cNvSpPr txBox="1"/>
          <p:nvPr/>
        </p:nvSpPr>
        <p:spPr>
          <a:xfrm>
            <a:off x="621792"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Inputs</a:t>
            </a:r>
            <a:endParaRPr lang="en-US" sz="1400" dirty="0"/>
          </a:p>
          <a:p>
            <a:pPr algn="ctr" indent="0" marL="0">
              <a:buNone/>
            </a:pPr>
            <a:r>
              <a:rPr lang="en-US" sz="1100" dirty="0">
                <a:solidFill>
                  <a:srgbClr val="DDEEEB"/>
                </a:solidFill>
              </a:rPr>
              <a:t>FHIR, CSV, JSONL, PDF, photo</a:t>
            </a:r>
            <a:endParaRPr lang="en-US" sz="1400" dirty="0"/>
          </a:p>
        </p:txBody>
      </p:sp>
      <p:sp>
        <p:nvSpPr>
          <p:cNvPr id="6" name="arrow"/>
          <p:cNvSpPr/>
          <p:nvPr/>
        </p:nvSpPr>
        <p:spPr>
          <a:xfrm>
            <a:off x="2459736" y="2080260"/>
            <a:ext cx="310896" cy="0"/>
          </a:xfrm>
          <a:prstGeom prst="line">
            <a:avLst/>
          </a:prstGeom>
          <a:noFill/>
          <a:ln w="22225">
            <a:solidFill>
              <a:srgbClr val="5C7173"/>
            </a:solidFill>
            <a:prstDash val="solid"/>
            <a:tailEnd type="triangle"/>
          </a:ln>
        </p:spPr>
      </p:sp>
      <p:sp>
        <p:nvSpPr>
          <p:cNvPr id="7" name="box Intake"/>
          <p:cNvSpPr/>
          <p:nvPr/>
        </p:nvSpPr>
        <p:spPr>
          <a:xfrm>
            <a:off x="2807208" y="1600200"/>
            <a:ext cx="1874520" cy="960120"/>
          </a:xfrm>
          <a:prstGeom prst="roundRect">
            <a:avLst>
              <a:gd name="adj" fmla="val 9524"/>
            </a:avLst>
          </a:prstGeom>
          <a:solidFill>
            <a:srgbClr val="14746F"/>
          </a:solidFill>
          <a:ln w="12700">
            <a:solidFill>
              <a:srgbClr val="14746F"/>
            </a:solidFill>
            <a:prstDash val="solid"/>
          </a:ln>
        </p:spPr>
      </p:sp>
      <p:sp>
        <p:nvSpPr>
          <p:cNvPr id="8" name="box text Intake"/>
          <p:cNvSpPr txBox="1"/>
          <p:nvPr/>
        </p:nvSpPr>
        <p:spPr>
          <a:xfrm>
            <a:off x="2880360"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validate, quarantine, reader sandbox</a:t>
            </a:r>
            <a:endParaRPr lang="en-US" sz="1400" dirty="0"/>
          </a:p>
        </p:txBody>
      </p:sp>
      <p:sp>
        <p:nvSpPr>
          <p:cNvPr id="9" name="arrow"/>
          <p:cNvSpPr/>
          <p:nvPr/>
        </p:nvSpPr>
        <p:spPr>
          <a:xfrm>
            <a:off x="4718304" y="2080260"/>
            <a:ext cx="310896" cy="0"/>
          </a:xfrm>
          <a:prstGeom prst="line">
            <a:avLst/>
          </a:prstGeom>
          <a:noFill/>
          <a:ln w="22225">
            <a:solidFill>
              <a:srgbClr val="5C7173"/>
            </a:solidFill>
            <a:prstDash val="solid"/>
            <a:tailEnd type="triangle"/>
          </a:ln>
        </p:spPr>
      </p:sp>
      <p:sp>
        <p:nvSpPr>
          <p:cNvPr id="10" name="box Rule engine"/>
          <p:cNvSpPr/>
          <p:nvPr/>
        </p:nvSpPr>
        <p:spPr>
          <a:xfrm>
            <a:off x="5065776" y="1600200"/>
            <a:ext cx="1874520" cy="960120"/>
          </a:xfrm>
          <a:prstGeom prst="roundRect">
            <a:avLst>
              <a:gd name="adj" fmla="val 9524"/>
            </a:avLst>
          </a:prstGeom>
          <a:solidFill>
            <a:srgbClr val="0E3B3F"/>
          </a:solidFill>
          <a:ln w="12700">
            <a:solidFill>
              <a:srgbClr val="0E3B3F"/>
            </a:solidFill>
            <a:prstDash val="solid"/>
          </a:ln>
        </p:spPr>
      </p:sp>
      <p:sp>
        <p:nvSpPr>
          <p:cNvPr id="11" name="box text Rule engine"/>
          <p:cNvSpPr txBox="1"/>
          <p:nvPr/>
        </p:nvSpPr>
        <p:spPr>
          <a:xfrm>
            <a:off x="5138928"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Rule engine</a:t>
            </a:r>
            <a:endParaRPr lang="en-US" sz="1400" dirty="0"/>
          </a:p>
          <a:p>
            <a:pPr algn="ctr" indent="0" marL="0">
              <a:buNone/>
            </a:pPr>
            <a:r>
              <a:rPr lang="en-US" sz="1100" dirty="0">
                <a:solidFill>
                  <a:srgbClr val="DDEEEB"/>
                </a:solidFill>
              </a:rPr>
              <a:t>15 rules, YARA-X, 0.19 ms</a:t>
            </a:r>
            <a:endParaRPr lang="en-US" sz="1400" dirty="0"/>
          </a:p>
        </p:txBody>
      </p:sp>
      <p:sp>
        <p:nvSpPr>
          <p:cNvPr id="12" name="arrow"/>
          <p:cNvSpPr/>
          <p:nvPr/>
        </p:nvSpPr>
        <p:spPr>
          <a:xfrm>
            <a:off x="6976872" y="2080260"/>
            <a:ext cx="310896" cy="0"/>
          </a:xfrm>
          <a:prstGeom prst="line">
            <a:avLst/>
          </a:prstGeom>
          <a:noFill/>
          <a:ln w="22225">
            <a:solidFill>
              <a:srgbClr val="5C7173"/>
            </a:solidFill>
            <a:prstDash val="solid"/>
            <a:tailEnd type="triangle"/>
          </a:ln>
        </p:spPr>
      </p:sp>
      <p:sp>
        <p:nvSpPr>
          <p:cNvPr id="13" name="box MongoDB"/>
          <p:cNvSpPr/>
          <p:nvPr/>
        </p:nvSpPr>
        <p:spPr>
          <a:xfrm>
            <a:off x="7324344" y="1600200"/>
            <a:ext cx="1874520" cy="960120"/>
          </a:xfrm>
          <a:prstGeom prst="roundRect">
            <a:avLst>
              <a:gd name="adj" fmla="val 9524"/>
            </a:avLst>
          </a:prstGeom>
          <a:solidFill>
            <a:srgbClr val="14746F"/>
          </a:solidFill>
          <a:ln w="12700">
            <a:solidFill>
              <a:srgbClr val="14746F"/>
            </a:solidFill>
            <a:prstDash val="solid"/>
          </a:ln>
        </p:spPr>
      </p:sp>
      <p:sp>
        <p:nvSpPr>
          <p:cNvPr id="14" name="box text MongoDB"/>
          <p:cNvSpPr txBox="1"/>
          <p:nvPr/>
        </p:nvSpPr>
        <p:spPr>
          <a:xfrm>
            <a:off x="7397496"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MongoDB</a:t>
            </a:r>
            <a:endParaRPr lang="en-US" sz="1400" dirty="0"/>
          </a:p>
          <a:p>
            <a:pPr algn="ctr" indent="0" marL="0">
              <a:buNone/>
            </a:pPr>
            <a:r>
              <a:rPr lang="en-US" sz="1100" dirty="0">
                <a:solidFill>
                  <a:srgbClr val="DDEEEB"/>
                </a:solidFill>
              </a:rPr>
              <a:t>claims and results sealed at rest</a:t>
            </a:r>
            <a:endParaRPr lang="en-US" sz="1400" dirty="0"/>
          </a:p>
        </p:txBody>
      </p:sp>
      <p:sp>
        <p:nvSpPr>
          <p:cNvPr id="15" name="arrow"/>
          <p:cNvSpPr/>
          <p:nvPr/>
        </p:nvSpPr>
        <p:spPr>
          <a:xfrm>
            <a:off x="9235440" y="2080260"/>
            <a:ext cx="310896" cy="0"/>
          </a:xfrm>
          <a:prstGeom prst="line">
            <a:avLst/>
          </a:prstGeom>
          <a:noFill/>
          <a:ln w="22225">
            <a:solidFill>
              <a:srgbClr val="5C7173"/>
            </a:solidFill>
            <a:prstDash val="solid"/>
            <a:tailEnd type="triangle"/>
          </a:ln>
        </p:spPr>
      </p:sp>
      <p:sp>
        <p:nvSpPr>
          <p:cNvPr id="16" name="box Redis Streams"/>
          <p:cNvSpPr/>
          <p:nvPr/>
        </p:nvSpPr>
        <p:spPr>
          <a:xfrm>
            <a:off x="9582912" y="1600200"/>
            <a:ext cx="1874520" cy="960120"/>
          </a:xfrm>
          <a:prstGeom prst="roundRect">
            <a:avLst>
              <a:gd name="adj" fmla="val 9524"/>
            </a:avLst>
          </a:prstGeom>
          <a:solidFill>
            <a:srgbClr val="8C4A3A"/>
          </a:solidFill>
          <a:ln w="12700">
            <a:solidFill>
              <a:srgbClr val="8C4A3A"/>
            </a:solidFill>
            <a:prstDash val="solid"/>
          </a:ln>
        </p:spPr>
      </p:sp>
      <p:sp>
        <p:nvSpPr>
          <p:cNvPr id="17" name="box text Redis Streams"/>
          <p:cNvSpPr txBox="1"/>
          <p:nvPr/>
        </p:nvSpPr>
        <p:spPr>
          <a:xfrm>
            <a:off x="9656064"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Redis Streams</a:t>
            </a:r>
            <a:endParaRPr lang="en-US" sz="1400" dirty="0"/>
          </a:p>
          <a:p>
            <a:pPr algn="ctr" indent="0" marL="0">
              <a:buNone/>
            </a:pPr>
            <a:r>
              <a:rPr lang="en-US" sz="1100" dirty="0">
                <a:solidFill>
                  <a:srgbClr val="DDEEEB"/>
                </a:solidFill>
              </a:rPr>
              <a:t>consumer group, concurrency cap</a:t>
            </a:r>
            <a:endParaRPr lang="en-US" sz="1400" dirty="0"/>
          </a:p>
        </p:txBody>
      </p:sp>
      <p:sp>
        <p:nvSpPr>
          <p:cNvPr id="18" name="box AI explanation"/>
          <p:cNvSpPr/>
          <p:nvPr/>
        </p:nvSpPr>
        <p:spPr>
          <a:xfrm>
            <a:off x="9582912" y="3246120"/>
            <a:ext cx="1874520" cy="960120"/>
          </a:xfrm>
          <a:prstGeom prst="roundRect">
            <a:avLst>
              <a:gd name="adj" fmla="val 9524"/>
            </a:avLst>
          </a:prstGeom>
          <a:solidFill>
            <a:srgbClr val="6E4B8B"/>
          </a:solidFill>
          <a:ln w="12700">
            <a:solidFill>
              <a:srgbClr val="6E4B8B"/>
            </a:solidFill>
            <a:prstDash val="solid"/>
          </a:ln>
        </p:spPr>
      </p:sp>
      <p:sp>
        <p:nvSpPr>
          <p:cNvPr id="19" name="box text AI explanation"/>
          <p:cNvSpPr txBox="1"/>
          <p:nvPr/>
        </p:nvSpPr>
        <p:spPr>
          <a:xfrm>
            <a:off x="9656064"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AI explanation</a:t>
            </a:r>
            <a:endParaRPr lang="en-US" sz="1400" dirty="0"/>
          </a:p>
          <a:p>
            <a:pPr algn="ctr" indent="0" marL="0">
              <a:buNone/>
            </a:pPr>
            <a:r>
              <a:rPr lang="en-US" sz="1100" dirty="0">
                <a:solidFill>
                  <a:srgbClr val="DDEEEB"/>
                </a:solidFill>
              </a:rPr>
              <a:t>breaker, budget, cache, grounding guard</a:t>
            </a:r>
            <a:endParaRPr lang="en-US" sz="1400" dirty="0"/>
          </a:p>
        </p:txBody>
      </p:sp>
      <p:sp>
        <p:nvSpPr>
          <p:cNvPr id="20" name="arrow"/>
          <p:cNvSpPr/>
          <p:nvPr/>
        </p:nvSpPr>
        <p:spPr>
          <a:xfrm flipH="1">
            <a:off x="9235440" y="3726180"/>
            <a:ext cx="310896" cy="0"/>
          </a:xfrm>
          <a:prstGeom prst="line">
            <a:avLst/>
          </a:prstGeom>
          <a:noFill/>
          <a:ln w="22225">
            <a:solidFill>
              <a:srgbClr val="5C7173"/>
            </a:solidFill>
            <a:prstDash val="solid"/>
            <a:tailEnd type="triangle"/>
          </a:ln>
        </p:spPr>
      </p:sp>
      <p:sp>
        <p:nvSpPr>
          <p:cNvPr id="21" name="box Dispatcher"/>
          <p:cNvSpPr/>
          <p:nvPr/>
        </p:nvSpPr>
        <p:spPr>
          <a:xfrm>
            <a:off x="7324344" y="3246120"/>
            <a:ext cx="1874520" cy="960120"/>
          </a:xfrm>
          <a:prstGeom prst="roundRect">
            <a:avLst>
              <a:gd name="adj" fmla="val 9524"/>
            </a:avLst>
          </a:prstGeom>
          <a:solidFill>
            <a:srgbClr val="14746F"/>
          </a:solidFill>
          <a:ln w="12700">
            <a:solidFill>
              <a:srgbClr val="14746F"/>
            </a:solidFill>
            <a:prstDash val="solid"/>
          </a:ln>
        </p:spPr>
      </p:sp>
      <p:sp>
        <p:nvSpPr>
          <p:cNvPr id="22" name="box text Dispatcher"/>
          <p:cNvSpPr txBox="1"/>
          <p:nvPr/>
        </p:nvSpPr>
        <p:spPr>
          <a:xfrm>
            <a:off x="7397496"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Dispatcher</a:t>
            </a:r>
            <a:endParaRPr lang="en-US" sz="1400" dirty="0"/>
          </a:p>
          <a:p>
            <a:pPr algn="ctr" indent="0" marL="0">
              <a:buNone/>
            </a:pPr>
            <a:r>
              <a:rPr lang="en-US" sz="1100" dirty="0">
                <a:solidFill>
                  <a:srgbClr val="DDEEEB"/>
                </a:solidFill>
              </a:rPr>
              <a:t>lanes, leases, personal inboxes</a:t>
            </a:r>
            <a:endParaRPr lang="en-US" sz="1400" dirty="0"/>
          </a:p>
        </p:txBody>
      </p:sp>
      <p:sp>
        <p:nvSpPr>
          <p:cNvPr id="23" name="arrow"/>
          <p:cNvSpPr/>
          <p:nvPr/>
        </p:nvSpPr>
        <p:spPr>
          <a:xfrm flipH="1">
            <a:off x="6976872" y="3726180"/>
            <a:ext cx="310896" cy="0"/>
          </a:xfrm>
          <a:prstGeom prst="line">
            <a:avLst/>
          </a:prstGeom>
          <a:noFill/>
          <a:ln w="22225">
            <a:solidFill>
              <a:srgbClr val="5C7173"/>
            </a:solidFill>
            <a:prstDash val="solid"/>
            <a:tailEnd type="triangle"/>
          </a:ln>
        </p:spPr>
      </p:sp>
      <p:sp>
        <p:nvSpPr>
          <p:cNvPr id="24" name="box Console"/>
          <p:cNvSpPr/>
          <p:nvPr/>
        </p:nvSpPr>
        <p:spPr>
          <a:xfrm>
            <a:off x="5065776" y="3246120"/>
            <a:ext cx="1874520" cy="960120"/>
          </a:xfrm>
          <a:prstGeom prst="roundRect">
            <a:avLst>
              <a:gd name="adj" fmla="val 9524"/>
            </a:avLst>
          </a:prstGeom>
          <a:solidFill>
            <a:srgbClr val="0E3B3F"/>
          </a:solidFill>
          <a:ln w="12700">
            <a:solidFill>
              <a:srgbClr val="0E3B3F"/>
            </a:solidFill>
            <a:prstDash val="solid"/>
          </a:ln>
        </p:spPr>
      </p:sp>
      <p:sp>
        <p:nvSpPr>
          <p:cNvPr id="25" name="box text Console"/>
          <p:cNvSpPr txBox="1"/>
          <p:nvPr/>
        </p:nvSpPr>
        <p:spPr>
          <a:xfrm>
            <a:off x="5138928"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Console</a:t>
            </a:r>
            <a:endParaRPr lang="en-US" sz="1400" dirty="0"/>
          </a:p>
          <a:p>
            <a:pPr algn="ctr" indent="0" marL="0">
              <a:buNone/>
            </a:pPr>
            <a:r>
              <a:rPr lang="en-US" sz="1100" dirty="0">
                <a:solidFill>
                  <a:srgbClr val="DDEEEB"/>
                </a:solidFill>
              </a:rPr>
              <a:t>inbox, copilot, what-if, recheck</a:t>
            </a:r>
            <a:endParaRPr lang="en-US" sz="1400" dirty="0"/>
          </a:p>
        </p:txBody>
      </p:sp>
      <p:sp>
        <p:nvSpPr>
          <p:cNvPr id="26" name="arrow"/>
          <p:cNvSpPr/>
          <p:nvPr/>
        </p:nvSpPr>
        <p:spPr>
          <a:xfrm flipH="1">
            <a:off x="4718304" y="3726180"/>
            <a:ext cx="310896" cy="0"/>
          </a:xfrm>
          <a:prstGeom prst="line">
            <a:avLst/>
          </a:prstGeom>
          <a:noFill/>
          <a:ln w="22225">
            <a:solidFill>
              <a:srgbClr val="5C7173"/>
            </a:solidFill>
            <a:prstDash val="solid"/>
            <a:tailEnd type="triangle"/>
          </a:ln>
        </p:spPr>
      </p:sp>
      <p:sp>
        <p:nvSpPr>
          <p:cNvPr id="27" name="box Decision"/>
          <p:cNvSpPr/>
          <p:nvPr/>
        </p:nvSpPr>
        <p:spPr>
          <a:xfrm>
            <a:off x="2807208" y="3246120"/>
            <a:ext cx="1874520" cy="960120"/>
          </a:xfrm>
          <a:prstGeom prst="roundRect">
            <a:avLst>
              <a:gd name="adj" fmla="val 9524"/>
            </a:avLst>
          </a:prstGeom>
          <a:solidFill>
            <a:srgbClr val="14746F"/>
          </a:solidFill>
          <a:ln w="12700">
            <a:solidFill>
              <a:srgbClr val="14746F"/>
            </a:solidFill>
            <a:prstDash val="solid"/>
          </a:ln>
        </p:spPr>
      </p:sp>
      <p:sp>
        <p:nvSpPr>
          <p:cNvPr id="28" name="box text Decision"/>
          <p:cNvSpPr txBox="1"/>
          <p:nvPr/>
        </p:nvSpPr>
        <p:spPr>
          <a:xfrm>
            <a:off x="2880360"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Decision</a:t>
            </a:r>
            <a:endParaRPr lang="en-US" sz="1400" dirty="0"/>
          </a:p>
          <a:p>
            <a:pPr algn="ctr" indent="0" marL="0">
              <a:buNone/>
            </a:pPr>
            <a:r>
              <a:rPr lang="en-US" sz="1100" dirty="0">
                <a:solidFill>
                  <a:srgbClr val="DDEEEB"/>
                </a:solidFill>
              </a:rPr>
              <a:t>badge, reason, four-eyes</a:t>
            </a:r>
            <a:endParaRPr lang="en-US" sz="1400" dirty="0"/>
          </a:p>
        </p:txBody>
      </p:sp>
      <p:sp>
        <p:nvSpPr>
          <p:cNvPr id="29" name="arrow"/>
          <p:cNvSpPr/>
          <p:nvPr/>
        </p:nvSpPr>
        <p:spPr>
          <a:xfrm flipH="1">
            <a:off x="2459736" y="3726180"/>
            <a:ext cx="310896" cy="0"/>
          </a:xfrm>
          <a:prstGeom prst="line">
            <a:avLst/>
          </a:prstGeom>
          <a:noFill/>
          <a:ln w="22225">
            <a:solidFill>
              <a:srgbClr val="5C7173"/>
            </a:solidFill>
            <a:prstDash val="solid"/>
            <a:tailEnd type="triangle"/>
          </a:ln>
        </p:spPr>
      </p:sp>
      <p:sp>
        <p:nvSpPr>
          <p:cNvPr id="30" name="box New version"/>
          <p:cNvSpPr/>
          <p:nvPr/>
        </p:nvSpPr>
        <p:spPr>
          <a:xfrm>
            <a:off x="548640" y="3246120"/>
            <a:ext cx="1874520" cy="960120"/>
          </a:xfrm>
          <a:prstGeom prst="roundRect">
            <a:avLst>
              <a:gd name="adj" fmla="val 9524"/>
            </a:avLst>
          </a:prstGeom>
          <a:solidFill>
            <a:srgbClr val="C47A12"/>
          </a:solidFill>
          <a:ln w="12700">
            <a:solidFill>
              <a:srgbClr val="C47A12"/>
            </a:solidFill>
            <a:prstDash val="solid"/>
          </a:ln>
        </p:spPr>
      </p:sp>
      <p:sp>
        <p:nvSpPr>
          <p:cNvPr id="31" name="box text New version"/>
          <p:cNvSpPr txBox="1"/>
          <p:nvPr/>
        </p:nvSpPr>
        <p:spPr>
          <a:xfrm>
            <a:off x="621792"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New version</a:t>
            </a:r>
            <a:endParaRPr lang="en-US" sz="1400" dirty="0"/>
          </a:p>
          <a:p>
            <a:pPr algn="ctr" indent="0" marL="0">
              <a:buNone/>
            </a:pPr>
            <a:r>
              <a:rPr lang="en-US" sz="1100" dirty="0">
                <a:solidFill>
                  <a:srgbClr val="DDEEEB"/>
                </a:solidFill>
              </a:rPr>
              <a:t>corrected claim, validated again</a:t>
            </a:r>
            <a:endParaRPr lang="en-US" sz="1400" dirty="0"/>
          </a:p>
        </p:txBody>
      </p:sp>
      <p:sp>
        <p:nvSpPr>
          <p:cNvPr id="32" name="arrow"/>
          <p:cNvSpPr/>
          <p:nvPr/>
        </p:nvSpPr>
        <p:spPr>
          <a:xfrm>
            <a:off x="10520172" y="2578608"/>
            <a:ext cx="0" cy="649224"/>
          </a:xfrm>
          <a:prstGeom prst="line">
            <a:avLst/>
          </a:prstGeom>
          <a:noFill/>
          <a:ln w="22225">
            <a:solidFill>
              <a:srgbClr val="5C7173"/>
            </a:solidFill>
            <a:prstDash val="solid"/>
            <a:tailEnd type="triangle"/>
          </a:ln>
        </p:spPr>
      </p:sp>
      <p:sp>
        <p:nvSpPr>
          <p:cNvPr id="33" name="records band"/>
          <p:cNvSpPr/>
          <p:nvPr/>
        </p:nvSpPr>
        <p:spPr>
          <a:xfrm>
            <a:off x="548640" y="4572000"/>
            <a:ext cx="11064240" cy="1371600"/>
          </a:xfrm>
          <a:prstGeom prst="roundRect">
            <a:avLst>
              <a:gd name="adj" fmla="val 8000"/>
            </a:avLst>
          </a:prstGeom>
          <a:solidFill>
            <a:srgbClr val="F2F6F5"/>
          </a:solidFill>
          <a:ln w="12700">
            <a:solidFill>
              <a:srgbClr val="F2F6F5"/>
            </a:solidFill>
            <a:prstDash val="solid"/>
          </a:ln>
        </p:spPr>
      </p:sp>
      <p:sp>
        <p:nvSpPr>
          <p:cNvPr id="34" name="band title"/>
          <p:cNvSpPr txBox="1"/>
          <p:nvPr/>
        </p:nvSpPr>
        <p:spPr>
          <a:xfrm>
            <a:off x="777240" y="4645152"/>
            <a:ext cx="3657600" cy="320040"/>
          </a:xfrm>
          <a:prstGeom prst="rect">
            <a:avLst/>
          </a:prstGeom>
          <a:noFill/>
          <a:ln/>
        </p:spPr>
        <p:txBody>
          <a:bodyPr wrap="square" lIns="0" tIns="0" rIns="0" bIns="0" rtlCol="0" anchor="ctr"/>
          <a:lstStyle/>
          <a:p>
            <a:pPr indent="0" marL="0">
              <a:buNone/>
            </a:pPr>
            <a:r>
              <a:rPr lang="en-US" sz="1400" b="1" dirty="0">
                <a:solidFill>
                  <a:srgbClr val="0E3B3F"/>
                </a:solidFill>
              </a:rPr>
              <a:t>Records and people</a:t>
            </a:r>
            <a:endParaRPr lang="en-US" sz="1400" dirty="0"/>
          </a:p>
        </p:txBody>
      </p:sp>
      <p:sp>
        <p:nvSpPr>
          <p:cNvPr id="35" name="record Review log"/>
          <p:cNvSpPr txBox="1"/>
          <p:nvPr/>
        </p:nvSpPr>
        <p:spPr>
          <a:xfrm>
            <a:off x="77724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Review log</a:t>
            </a:r>
            <a:endParaRPr lang="en-US" sz="1400" dirty="0"/>
          </a:p>
          <a:p>
            <a:pPr indent="0" marL="0">
              <a:buNone/>
            </a:pPr>
            <a:r>
              <a:rPr lang="en-US" sz="1200" dirty="0">
                <a:solidFill>
                  <a:srgbClr val="5C7173"/>
                </a:solidFill>
              </a:rPr>
              <a:t>hash-chained, signed</a:t>
            </a:r>
            <a:endParaRPr lang="en-US" sz="1400" dirty="0"/>
          </a:p>
        </p:txBody>
      </p:sp>
      <p:sp>
        <p:nvSpPr>
          <p:cNvPr id="36" name="record Security log"/>
          <p:cNvSpPr txBox="1"/>
          <p:nvPr/>
        </p:nvSpPr>
        <p:spPr>
          <a:xfrm>
            <a:off x="347472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Security log</a:t>
            </a:r>
            <a:endParaRPr lang="en-US" sz="1400" dirty="0"/>
          </a:p>
          <a:p>
            <a:pPr indent="0" marL="0">
              <a:buNone/>
            </a:pPr>
            <a:r>
              <a:rPr lang="en-US" sz="1200" dirty="0">
                <a:solidFill>
                  <a:srgbClr val="5C7173"/>
                </a:solidFill>
              </a:rPr>
              <a:t>every access and decision</a:t>
            </a:r>
            <a:endParaRPr lang="en-US" sz="1400" dirty="0"/>
          </a:p>
        </p:txBody>
      </p:sp>
      <p:sp>
        <p:nvSpPr>
          <p:cNvPr id="37" name="record Ledger"/>
          <p:cNvSpPr txBox="1"/>
          <p:nvPr/>
        </p:nvSpPr>
        <p:spPr>
          <a:xfrm>
            <a:off x="617220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Ledger</a:t>
            </a:r>
            <a:endParaRPr lang="en-US" sz="1400" dirty="0"/>
          </a:p>
          <a:p>
            <a:pPr indent="0" marL="0">
              <a:buNone/>
            </a:pPr>
            <a:r>
              <a:rPr lang="en-US" sz="1200" dirty="0">
                <a:solidFill>
                  <a:srgbClr val="5C7173"/>
                </a:solidFill>
              </a:rPr>
              <a:t>Ed25519 checkpoints, Merkle proofs</a:t>
            </a:r>
            <a:endParaRPr lang="en-US" sz="1400" dirty="0"/>
          </a:p>
        </p:txBody>
      </p:sp>
      <p:sp>
        <p:nvSpPr>
          <p:cNvPr id="38" name="record Access control"/>
          <p:cNvSpPr txBox="1"/>
          <p:nvPr/>
        </p:nvSpPr>
        <p:spPr>
          <a:xfrm>
            <a:off x="886968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Access control</a:t>
            </a:r>
            <a:endParaRPr lang="en-US" sz="1400" dirty="0"/>
          </a:p>
          <a:p>
            <a:pPr indent="0" marL="0">
              <a:buNone/>
            </a:pPr>
            <a:r>
              <a:rPr lang="en-US" sz="1200" dirty="0">
                <a:solidFill>
                  <a:srgbClr val="5C7173"/>
                </a:solidFill>
              </a:rPr>
              <a:t>4 clearance levels, pseudonymised identifiers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Rule correctness: the 15 reference rules, measured</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1.00</a:t>
            </a:r>
            <a:endParaRPr lang="en-US" sz="44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F1 on all 600 public claims (400 development, 150 validation, 50 stress)</a:t>
            </a:r>
            <a:endParaRPr lang="en-US" sz="1400" dirty="0"/>
          </a:p>
        </p:txBody>
      </p:sp>
      <p:sp>
        <p:nvSpPr>
          <p:cNvPr id="6" name="stat"/>
          <p:cNvSpPr txBox="1"/>
          <p:nvPr/>
        </p:nvSpPr>
        <p:spPr>
          <a:xfrm>
            <a:off x="3291840" y="141732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0 of 3,015</a:t>
            </a:r>
            <a:endParaRPr lang="en-US" sz="3200" dirty="0"/>
          </a:p>
        </p:txBody>
      </p:sp>
      <p:sp>
        <p:nvSpPr>
          <p:cNvPr id="7" name="stat label"/>
          <p:cNvSpPr txBox="1"/>
          <p:nvPr/>
        </p:nvSpPr>
        <p:spPr>
          <a:xfrm>
            <a:off x="32918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clean results wrongly flagged. 95% bound on false-alarm claims: 1.9%</a:t>
            </a:r>
            <a:endParaRPr lang="en-US" sz="1400" dirty="0"/>
          </a:p>
        </p:txBody>
      </p:sp>
      <p:sp>
        <p:nvSpPr>
          <p:cNvPr id="8" name="stat"/>
          <p:cNvSpPr txBox="1"/>
          <p:nvPr/>
        </p:nvSpPr>
        <p:spPr>
          <a:xfrm>
            <a:off x="60350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0.19 ms</a:t>
            </a:r>
            <a:endParaRPr lang="en-US" sz="4400" dirty="0"/>
          </a:p>
        </p:txBody>
      </p:sp>
      <p:sp>
        <p:nvSpPr>
          <p:cNvPr id="9" name="stat label"/>
          <p:cNvSpPr txBox="1"/>
          <p:nvPr/>
        </p:nvSpPr>
        <p:spPr>
          <a:xfrm>
            <a:off x="60350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per claim in the rule engine. The model, not the engine, is the slow step</a:t>
            </a:r>
            <a:endParaRPr lang="en-US" sz="1400" dirty="0"/>
          </a:p>
        </p:txBody>
      </p:sp>
      <p:sp>
        <p:nvSpPr>
          <p:cNvPr id="10" name="stat"/>
          <p:cNvSpPr txBox="1"/>
          <p:nvPr/>
        </p:nvSpPr>
        <p:spPr>
          <a:xfrm>
            <a:off x="8778240" y="1417320"/>
            <a:ext cx="28346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10,600</a:t>
            </a:r>
            <a:endParaRPr lang="en-US" sz="4400" dirty="0"/>
          </a:p>
        </p:txBody>
      </p:sp>
      <p:sp>
        <p:nvSpPr>
          <p:cNvPr id="11" name="stat label"/>
          <p:cNvSpPr txBox="1"/>
          <p:nvPr/>
        </p:nvSpPr>
        <p:spPr>
          <a:xfrm>
            <a:off x="8778240" y="2286000"/>
            <a:ext cx="2834640" cy="822960"/>
          </a:xfrm>
          <a:prstGeom prst="rect">
            <a:avLst/>
          </a:prstGeom>
          <a:noFill/>
          <a:ln/>
        </p:spPr>
        <p:txBody>
          <a:bodyPr wrap="square" lIns="0" tIns="0" rIns="0" bIns="0" rtlCol="0" anchor="t"/>
          <a:lstStyle/>
          <a:p>
            <a:pPr indent="0" marL="0">
              <a:buNone/>
            </a:pPr>
            <a:r>
              <a:rPr lang="en-US" sz="1400" dirty="0">
                <a:solidFill>
                  <a:srgbClr val="5C7173"/>
                </a:solidFill>
              </a:rPr>
              <a:t>claims on which the Rust engine agrees exactly with the Python reference</a:t>
            </a:r>
            <a:endParaRPr lang="en-US" sz="1400" dirty="0"/>
          </a:p>
        </p:txBody>
      </p:sp>
      <p:sp>
        <p:nvSpPr>
          <p:cNvPr id="12" name="left card"/>
          <p:cNvSpPr/>
          <p:nvPr/>
        </p:nvSpPr>
        <p:spPr>
          <a:xfrm>
            <a:off x="548640" y="3429000"/>
            <a:ext cx="5394960" cy="2606040"/>
          </a:xfrm>
          <a:prstGeom prst="roundRect">
            <a:avLst>
              <a:gd name="adj" fmla="val 4211"/>
            </a:avLst>
          </a:prstGeom>
          <a:solidFill>
            <a:srgbClr val="F2F6F5"/>
          </a:solidFill>
          <a:ln w="12700">
            <a:solidFill>
              <a:srgbClr val="F2F6F5"/>
            </a:solidFill>
            <a:prstDash val="solid"/>
          </a:ln>
        </p:spPr>
      </p:sp>
      <p:sp>
        <p:nvSpPr>
          <p:cNvPr id="13" name="h"/>
          <p:cNvSpPr txBox="1"/>
          <p:nvPr/>
        </p:nvSpPr>
        <p:spPr>
          <a:xfrm>
            <a:off x="77724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Edge cases and uncertainty</a:t>
            </a:r>
            <a:endParaRPr lang="en-US" sz="1800" dirty="0"/>
          </a:p>
        </p:txBody>
      </p:sp>
      <p:sp>
        <p:nvSpPr>
          <p:cNvPr id="14" name="bullets"/>
          <p:cNvSpPr txBox="1"/>
          <p:nvPr/>
        </p:nvSpPr>
        <p:spPr>
          <a:xfrm>
            <a:off x="77724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Missing data gives UNABLE_TO_ASSESS, never PASS</a:t>
            </a:r>
            <a:endParaRPr lang="en-US" sz="1500" dirty="0"/>
          </a:p>
          <a:p>
            <a:pPr marL="203200" indent="-203200">
              <a:spcAft>
                <a:spcPts val="600"/>
              </a:spcAft>
              <a:buSzPct val="100000"/>
              <a:buChar char="•"/>
            </a:pPr>
            <a:r>
              <a:rPr lang="en-US" sz="1500" dirty="0">
                <a:solidFill>
                  <a:srgbClr val="17292B"/>
                </a:solidFill>
              </a:rPr>
              <a:t>Boundaries inclusive, ROUND_HALF_UP, 0.01 SAR tolerance</a:t>
            </a:r>
            <a:endParaRPr lang="en-US" sz="1500" dirty="0"/>
          </a:p>
          <a:p>
            <a:pPr marL="203200" indent="-203200">
              <a:spcAft>
                <a:spcPts val="600"/>
              </a:spcAft>
              <a:buSzPct val="100000"/>
              <a:buChar char="•"/>
            </a:pPr>
            <a:r>
              <a:rPr lang="en-US" sz="1500" dirty="0">
                <a:solidFill>
                  <a:srgbClr val="17292B"/>
                </a:solidFill>
              </a:rPr>
              <a:t>R006 exactly as documented: code, date, modifier</a:t>
            </a:r>
            <a:endParaRPr lang="en-US" sz="1500" dirty="0"/>
          </a:p>
          <a:p>
            <a:pPr marL="203200" indent="-203200">
              <a:spcAft>
                <a:spcPts val="600"/>
              </a:spcAft>
              <a:buSzPct val="100000"/>
              <a:buChar char="•"/>
            </a:pPr>
            <a:r>
              <a:rPr lang="en-US" sz="1500" dirty="0">
                <a:solidFill>
                  <a:srgbClr val="17292B"/>
                </a:solidFill>
              </a:rPr>
              <a:t>R009 aggregates per authorization within one claim</a:t>
            </a:r>
            <a:endParaRPr lang="en-US" sz="1500" dirty="0"/>
          </a:p>
        </p:txBody>
      </p:sp>
      <p:sp>
        <p:nvSpPr>
          <p:cNvPr id="15" name="right card"/>
          <p:cNvSpPr/>
          <p:nvPr/>
        </p:nvSpPr>
        <p:spPr>
          <a:xfrm>
            <a:off x="6217920" y="3429000"/>
            <a:ext cx="5394960" cy="2606040"/>
          </a:xfrm>
          <a:prstGeom prst="roundRect">
            <a:avLst>
              <a:gd name="adj" fmla="val 4211"/>
            </a:avLst>
          </a:prstGeom>
          <a:solidFill>
            <a:srgbClr val="F2F6F5"/>
          </a:solidFill>
          <a:ln w="12700">
            <a:solidFill>
              <a:srgbClr val="F2F6F5"/>
            </a:solidFill>
            <a:prstDash val="solid"/>
          </a:ln>
        </p:spPr>
      </p:sp>
      <p:sp>
        <p:nvSpPr>
          <p:cNvPr id="16" name="h"/>
          <p:cNvSpPr txBox="1"/>
          <p:nvPr/>
        </p:nvSpPr>
        <p:spPr>
          <a:xfrm>
            <a:off x="644652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Kept apart from the benchmark</a:t>
            </a:r>
            <a:endParaRPr lang="en-US" sz="1800" dirty="0"/>
          </a:p>
        </p:txBody>
      </p:sp>
      <p:sp>
        <p:nvSpPr>
          <p:cNvPr id="17" name="bullets"/>
          <p:cNvSpPr txBox="1"/>
          <p:nvPr/>
        </p:nvSpPr>
        <p:spPr>
          <a:xfrm>
            <a:off x="644652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8 advisory rules (E001 to E005, E101 to E103) in their own pack, file and schema</a:t>
            </a:r>
            <a:endParaRPr lang="en-US" sz="1500" dirty="0"/>
          </a:p>
          <a:p>
            <a:pPr marL="203200" indent="-203200">
              <a:spcAft>
                <a:spcPts val="600"/>
              </a:spcAft>
              <a:buSzPct val="100000"/>
              <a:buChar char="•"/>
            </a:pPr>
            <a:r>
              <a:rPr lang="en-US" sz="1500" dirty="0">
                <a:solidFill>
                  <a:srgbClr val="17292B"/>
                </a:solidFill>
              </a:rPr>
              <a:t>Reference JSONL unchanged: confidence null, not_probabilistic</a:t>
            </a:r>
            <a:endParaRPr lang="en-US" sz="1500" dirty="0"/>
          </a:p>
          <a:p>
            <a:pPr marL="203200" indent="-203200">
              <a:spcAft>
                <a:spcPts val="600"/>
              </a:spcAft>
              <a:buSzPct val="100000"/>
              <a:buChar char="•"/>
            </a:pPr>
            <a:r>
              <a:rPr lang="en-US" sz="1500" dirty="0">
                <a:solidFill>
                  <a:srgbClr val="17292B"/>
                </a:solidFill>
              </a:rPr>
              <a:t>A test pins the official results to their recorded values</a:t>
            </a:r>
            <a:endParaRPr lang="en-US" sz="1500" dirty="0"/>
          </a:p>
          <a:p>
            <a:pPr marL="203200" indent="-203200">
              <a:spcAft>
                <a:spcPts val="600"/>
              </a:spcAft>
              <a:buSzPct val="100000"/>
              <a:buChar char="•"/>
            </a:pPr>
            <a:r>
              <a:rPr lang="en-US" sz="1500" dirty="0">
                <a:solidFill>
                  <a:srgbClr val="17292B"/>
                </a:solidFill>
              </a:rPr>
              <a:t>Public set is synthetic: a perfect score is not proof for real claims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Claims arrive in any format, untrusted until proven</a:t>
            </a:r>
            <a:endParaRPr lang="en-US" sz="3200" dirty="0"/>
          </a:p>
        </p:txBody>
      </p:sp>
      <p:sp>
        <p:nvSpPr>
          <p:cNvPr id="4" name="format FHIR bundle"/>
          <p:cNvSpPr/>
          <p:nvPr/>
        </p:nvSpPr>
        <p:spPr>
          <a:xfrm>
            <a:off x="548640" y="1463040"/>
            <a:ext cx="4206240" cy="749808"/>
          </a:xfrm>
          <a:prstGeom prst="roundRect">
            <a:avLst>
              <a:gd name="adj" fmla="val 14634"/>
            </a:avLst>
          </a:prstGeom>
          <a:solidFill>
            <a:srgbClr val="F2F6F5"/>
          </a:solidFill>
          <a:ln w="12700">
            <a:solidFill>
              <a:srgbClr val="F2F6F5"/>
            </a:solidFill>
            <a:prstDash val="solid"/>
          </a:ln>
        </p:spPr>
      </p:sp>
      <p:sp>
        <p:nvSpPr>
          <p:cNvPr id="5" name="format text"/>
          <p:cNvSpPr txBox="1"/>
          <p:nvPr/>
        </p:nvSpPr>
        <p:spPr>
          <a:xfrm>
            <a:off x="731520" y="146304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FHIR bundle</a:t>
            </a:r>
            <a:endParaRPr lang="en-US" sz="1600" dirty="0"/>
          </a:p>
          <a:p>
            <a:pPr indent="0" marL="0">
              <a:buNone/>
            </a:pPr>
            <a:r>
              <a:rPr lang="en-US" sz="1200" dirty="0">
                <a:solidFill>
                  <a:srgbClr val="5C7173"/>
                </a:solidFill>
              </a:rPr>
              <a:t>authorization record not carried, so those rules abstain</a:t>
            </a:r>
            <a:endParaRPr lang="en-US" sz="1600" dirty="0"/>
          </a:p>
        </p:txBody>
      </p:sp>
      <p:sp>
        <p:nvSpPr>
          <p:cNvPr id="6" name="format CSV tables"/>
          <p:cNvSpPr/>
          <p:nvPr/>
        </p:nvSpPr>
        <p:spPr>
          <a:xfrm>
            <a:off x="548640" y="2331720"/>
            <a:ext cx="4206240" cy="749808"/>
          </a:xfrm>
          <a:prstGeom prst="roundRect">
            <a:avLst>
              <a:gd name="adj" fmla="val 14634"/>
            </a:avLst>
          </a:prstGeom>
          <a:solidFill>
            <a:srgbClr val="F2F6F5"/>
          </a:solidFill>
          <a:ln w="12700">
            <a:solidFill>
              <a:srgbClr val="F2F6F5"/>
            </a:solidFill>
            <a:prstDash val="solid"/>
          </a:ln>
        </p:spPr>
      </p:sp>
      <p:sp>
        <p:nvSpPr>
          <p:cNvPr id="7" name="format text"/>
          <p:cNvSpPr txBox="1"/>
          <p:nvPr/>
        </p:nvSpPr>
        <p:spPr>
          <a:xfrm>
            <a:off x="731520" y="233172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CSV tables</a:t>
            </a:r>
            <a:endParaRPr lang="en-US" sz="1600" dirty="0"/>
          </a:p>
          <a:p>
            <a:pPr indent="0" marL="0">
              <a:buNone/>
            </a:pPr>
            <a:r>
              <a:rPr lang="en-US" sz="1200" dirty="0">
                <a:solidFill>
                  <a:srgbClr val="5C7173"/>
                </a:solidFill>
              </a:rPr>
              <a:t>same claims as the JSONL</a:t>
            </a:r>
            <a:endParaRPr lang="en-US" sz="1600" dirty="0"/>
          </a:p>
        </p:txBody>
      </p:sp>
      <p:sp>
        <p:nvSpPr>
          <p:cNvPr id="8" name="format JSONL"/>
          <p:cNvSpPr/>
          <p:nvPr/>
        </p:nvSpPr>
        <p:spPr>
          <a:xfrm>
            <a:off x="548640" y="3200400"/>
            <a:ext cx="4206240" cy="749808"/>
          </a:xfrm>
          <a:prstGeom prst="roundRect">
            <a:avLst>
              <a:gd name="adj" fmla="val 14634"/>
            </a:avLst>
          </a:prstGeom>
          <a:solidFill>
            <a:srgbClr val="F2F6F5"/>
          </a:solidFill>
          <a:ln w="12700">
            <a:solidFill>
              <a:srgbClr val="F2F6F5"/>
            </a:solidFill>
            <a:prstDash val="solid"/>
          </a:ln>
        </p:spPr>
      </p:sp>
      <p:sp>
        <p:nvSpPr>
          <p:cNvPr id="9" name="format text"/>
          <p:cNvSpPr txBox="1"/>
          <p:nvPr/>
        </p:nvSpPr>
        <p:spPr>
          <a:xfrm>
            <a:off x="731520" y="320040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JSONL</a:t>
            </a:r>
            <a:endParaRPr lang="en-US" sz="1600" dirty="0"/>
          </a:p>
          <a:p>
            <a:pPr indent="0" marL="0">
              <a:buNone/>
            </a:pPr>
            <a:r>
              <a:rPr lang="en-US" sz="1200" dirty="0">
                <a:solidFill>
                  <a:srgbClr val="5C7173"/>
                </a:solidFill>
              </a:rPr>
              <a:t>reference format</a:t>
            </a:r>
            <a:endParaRPr lang="en-US" sz="1600" dirty="0"/>
          </a:p>
        </p:txBody>
      </p:sp>
      <p:sp>
        <p:nvSpPr>
          <p:cNvPr id="10" name="format PDF or photo"/>
          <p:cNvSpPr/>
          <p:nvPr/>
        </p:nvSpPr>
        <p:spPr>
          <a:xfrm>
            <a:off x="548640" y="4069080"/>
            <a:ext cx="4206240" cy="749808"/>
          </a:xfrm>
          <a:prstGeom prst="roundRect">
            <a:avLst>
              <a:gd name="adj" fmla="val 14634"/>
            </a:avLst>
          </a:prstGeom>
          <a:solidFill>
            <a:srgbClr val="F2F6F5"/>
          </a:solidFill>
          <a:ln w="12700">
            <a:solidFill>
              <a:srgbClr val="F2F6F5"/>
            </a:solidFill>
            <a:prstDash val="solid"/>
          </a:ln>
        </p:spPr>
      </p:sp>
      <p:sp>
        <p:nvSpPr>
          <p:cNvPr id="11" name="format text"/>
          <p:cNvSpPr txBox="1"/>
          <p:nvPr/>
        </p:nvSpPr>
        <p:spPr>
          <a:xfrm>
            <a:off x="731520" y="406908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PDF or photo</a:t>
            </a:r>
            <a:endParaRPr lang="en-US" sz="1600" dirty="0"/>
          </a:p>
          <a:p>
            <a:pPr indent="0" marL="0">
              <a:buNone/>
            </a:pPr>
            <a:r>
              <a:rPr lang="en-US" sz="1200" dirty="0">
                <a:solidFill>
                  <a:srgbClr val="5C7173"/>
                </a:solidFill>
              </a:rPr>
              <a:t>two readers, results shown as a draft</a:t>
            </a:r>
            <a:endParaRPr lang="en-US" sz="1600" dirty="0"/>
          </a:p>
        </p:txBody>
      </p:sp>
      <p:sp>
        <p:nvSpPr>
          <p:cNvPr id="12" name="stat"/>
          <p:cNvSpPr txBox="1"/>
          <p:nvPr/>
        </p:nvSpPr>
        <p:spPr>
          <a:xfrm>
            <a:off x="5212080" y="1417320"/>
            <a:ext cx="292608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600</a:t>
            </a:r>
            <a:endParaRPr lang="en-US" sz="4000" dirty="0"/>
          </a:p>
        </p:txBody>
      </p:sp>
      <p:sp>
        <p:nvSpPr>
          <p:cNvPr id="13" name="stat label"/>
          <p:cNvSpPr txBox="1"/>
          <p:nvPr/>
        </p:nvSpPr>
        <p:spPr>
          <a:xfrm>
            <a:off x="5212080" y="2286000"/>
            <a:ext cx="2926080" cy="822960"/>
          </a:xfrm>
          <a:prstGeom prst="rect">
            <a:avLst/>
          </a:prstGeom>
          <a:noFill/>
          <a:ln/>
        </p:spPr>
        <p:txBody>
          <a:bodyPr wrap="square" lIns="0" tIns="0" rIns="0" bIns="0" rtlCol="0" anchor="t"/>
          <a:lstStyle/>
          <a:p>
            <a:pPr indent="0" marL="0">
              <a:buNone/>
            </a:pPr>
            <a:r>
              <a:rPr lang="en-US" sz="1400" dirty="0">
                <a:solidFill>
                  <a:srgbClr val="5C7173"/>
                </a:solidFill>
              </a:rPr>
              <a:t>public claims give identical claims and reports in all three formats</a:t>
            </a:r>
            <a:endParaRPr lang="en-US" sz="1400" dirty="0"/>
          </a:p>
        </p:txBody>
      </p:sp>
      <p:sp>
        <p:nvSpPr>
          <p:cNvPr id="14" name="stat"/>
          <p:cNvSpPr txBox="1"/>
          <p:nvPr/>
        </p:nvSpPr>
        <p:spPr>
          <a:xfrm>
            <a:off x="8412480" y="1417320"/>
            <a:ext cx="310896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12,000</a:t>
            </a:r>
            <a:endParaRPr lang="en-US" sz="4000" dirty="0"/>
          </a:p>
        </p:txBody>
      </p:sp>
      <p:sp>
        <p:nvSpPr>
          <p:cNvPr id="15" name="stat label"/>
          <p:cNvSpPr txBox="1"/>
          <p:nvPr/>
        </p:nvSpPr>
        <p:spPr>
          <a:xfrm>
            <a:off x="8412480" y="2286000"/>
            <a:ext cx="3108960" cy="822960"/>
          </a:xfrm>
          <a:prstGeom prst="rect">
            <a:avLst/>
          </a:prstGeom>
          <a:noFill/>
          <a:ln/>
        </p:spPr>
        <p:txBody>
          <a:bodyPr wrap="square" lIns="0" tIns="0" rIns="0" bIns="0" rtlCol="0" anchor="t"/>
          <a:lstStyle/>
          <a:p>
            <a:pPr indent="0" marL="0">
              <a:buNone/>
            </a:pPr>
            <a:r>
              <a:rPr lang="en-US" sz="1400" dirty="0">
                <a:solidFill>
                  <a:srgbClr val="5C7173"/>
                </a:solidFill>
              </a:rPr>
              <a:t>randomly damaged FHIR bundles reach the same accept or quarantine verdict as the reference</a:t>
            </a:r>
            <a:endParaRPr lang="en-US" sz="1400" dirty="0"/>
          </a:p>
        </p:txBody>
      </p:sp>
      <p:sp>
        <p:nvSpPr>
          <p:cNvPr id="16" name="docs card"/>
          <p:cNvSpPr/>
          <p:nvPr/>
        </p:nvSpPr>
        <p:spPr>
          <a:xfrm>
            <a:off x="5212080" y="3429000"/>
            <a:ext cx="6309360" cy="2651760"/>
          </a:xfrm>
          <a:prstGeom prst="roundRect">
            <a:avLst>
              <a:gd name="adj" fmla="val 4138"/>
            </a:avLst>
          </a:prstGeom>
          <a:solidFill>
            <a:srgbClr val="F2F6F5"/>
          </a:solidFill>
          <a:ln w="12700">
            <a:solidFill>
              <a:srgbClr val="F2F6F5"/>
            </a:solidFill>
            <a:prstDash val="solid"/>
          </a:ln>
        </p:spPr>
      </p:sp>
      <p:sp>
        <p:nvSpPr>
          <p:cNvPr id="17" name="h"/>
          <p:cNvSpPr txBox="1"/>
          <p:nvPr/>
        </p:nvSpPr>
        <p:spPr>
          <a:xfrm>
            <a:off x="5440680" y="3520440"/>
            <a:ext cx="58521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Documents: PDF and photos</a:t>
            </a:r>
            <a:endParaRPr lang="en-US" sz="1800" dirty="0"/>
          </a:p>
        </p:txBody>
      </p:sp>
      <p:sp>
        <p:nvSpPr>
          <p:cNvPr id="18" name="bullets"/>
          <p:cNvSpPr txBox="1"/>
          <p:nvPr/>
        </p:nvSpPr>
        <p:spPr>
          <a:xfrm>
            <a:off x="5440680" y="3977640"/>
            <a:ext cx="58521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Reader in an isolated container, polyglot file gate, hidden-Unicode flag</a:t>
            </a:r>
            <a:endParaRPr lang="en-US" sz="1500" dirty="0"/>
          </a:p>
          <a:p>
            <a:pPr marL="203200" indent="-203200">
              <a:spcAft>
                <a:spcPts val="600"/>
              </a:spcAft>
              <a:buSzPct val="100000"/>
              <a:buChar char="•"/>
            </a:pPr>
            <a:r>
              <a:rPr lang="en-US" sz="1500" dirty="0">
                <a:solidFill>
                  <a:srgbClr val="17292B"/>
                </a:solidFill>
              </a:rPr>
              <a:t>240 synthetic documents: 97.4% of fields right, 1 silent error</a:t>
            </a:r>
            <a:endParaRPr lang="en-US" sz="1500" dirty="0"/>
          </a:p>
          <a:p>
            <a:pPr marL="203200" indent="-203200">
              <a:spcAft>
                <a:spcPts val="600"/>
              </a:spcAft>
              <a:buSzPct val="100000"/>
              <a:buChar char="•"/>
            </a:pPr>
            <a:r>
              <a:rPr lang="en-US" sz="1500" dirty="0">
                <a:solidFill>
                  <a:srgbClr val="17292B"/>
                </a:solidFill>
              </a:rPr>
              <a:t>A reading is only a draft: the clerk compares every field with the page</a:t>
            </a:r>
            <a:endParaRPr lang="en-US" sz="1500" dirty="0"/>
          </a:p>
          <a:p>
            <a:pPr marL="203200" indent="-203200">
              <a:spcAft>
                <a:spcPts val="600"/>
              </a:spcAft>
              <a:buSzPct val="100000"/>
              <a:buChar char="•"/>
            </a:pPr>
            <a:r>
              <a:rPr lang="en-US" sz="1500" dirty="0">
                <a:solidFill>
                  <a:srgbClr val="17292B"/>
                </a:solidFill>
              </a:rPr>
              <a:t>Real paper, handwriting and Arabic are not tested yet</a:t>
            </a:r>
            <a:endParaRPr lang="en-US" sz="1500" dirty="0"/>
          </a:p>
        </p:txBody>
      </p:sp>
      <p:sp>
        <p:nvSpPr>
          <p:cNvPr id="19"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damaged record is quarantined with a reason and never stops the run.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nothing lost, nothing waits on the model</a:t>
            </a:r>
            <a:endParaRPr lang="en-US" sz="3200" dirty="0"/>
          </a:p>
        </p:txBody>
      </p:sp>
      <p:sp>
        <p:nvSpPr>
          <p:cNvPr id="4" name="box Intake"/>
          <p:cNvSpPr/>
          <p:nvPr/>
        </p:nvSpPr>
        <p:spPr>
          <a:xfrm>
            <a:off x="548640" y="1508760"/>
            <a:ext cx="2377440" cy="1051560"/>
          </a:xfrm>
          <a:prstGeom prst="roundRect">
            <a:avLst>
              <a:gd name="adj" fmla="val 8696"/>
            </a:avLst>
          </a:prstGeom>
          <a:solidFill>
            <a:srgbClr val="14746F"/>
          </a:solidFill>
          <a:ln w="12700">
            <a:solidFill>
              <a:srgbClr val="14746F"/>
            </a:solidFill>
            <a:prstDash val="solid"/>
          </a:ln>
        </p:spPr>
      </p:sp>
      <p:sp>
        <p:nvSpPr>
          <p:cNvPr id="5" name="box text Intake"/>
          <p:cNvSpPr txBox="1"/>
          <p:nvPr/>
        </p:nvSpPr>
        <p:spPr>
          <a:xfrm>
            <a:off x="62179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claim and a publish marker, one atomic write</a:t>
            </a:r>
            <a:endParaRPr lang="en-US" sz="1400" dirty="0"/>
          </a:p>
        </p:txBody>
      </p:sp>
      <p:sp>
        <p:nvSpPr>
          <p:cNvPr id="6" name="arrow"/>
          <p:cNvSpPr/>
          <p:nvPr/>
        </p:nvSpPr>
        <p:spPr>
          <a:xfrm>
            <a:off x="2962656" y="2029968"/>
            <a:ext cx="384048" cy="0"/>
          </a:xfrm>
          <a:prstGeom prst="line">
            <a:avLst/>
          </a:prstGeom>
          <a:noFill/>
          <a:ln w="22225">
            <a:solidFill>
              <a:srgbClr val="5C7173"/>
            </a:solidFill>
            <a:prstDash val="solid"/>
            <a:tailEnd type="triangle"/>
          </a:ln>
        </p:spPr>
      </p:sp>
      <p:sp>
        <p:nvSpPr>
          <p:cNvPr id="7" name="box Outbox relay"/>
          <p:cNvSpPr/>
          <p:nvPr/>
        </p:nvSpPr>
        <p:spPr>
          <a:xfrm>
            <a:off x="3383280" y="1508760"/>
            <a:ext cx="2377440" cy="1051560"/>
          </a:xfrm>
          <a:prstGeom prst="roundRect">
            <a:avLst>
              <a:gd name="adj" fmla="val 8696"/>
            </a:avLst>
          </a:prstGeom>
          <a:solidFill>
            <a:srgbClr val="0E3B3F"/>
          </a:solidFill>
          <a:ln w="12700">
            <a:solidFill>
              <a:srgbClr val="0E3B3F"/>
            </a:solidFill>
            <a:prstDash val="solid"/>
          </a:ln>
        </p:spPr>
      </p:sp>
      <p:sp>
        <p:nvSpPr>
          <p:cNvPr id="8" name="box text Outbox relay"/>
          <p:cNvSpPr txBox="1"/>
          <p:nvPr/>
        </p:nvSpPr>
        <p:spPr>
          <a:xfrm>
            <a:off x="345643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Outbox relay</a:t>
            </a:r>
            <a:endParaRPr lang="en-US" sz="1400" dirty="0"/>
          </a:p>
          <a:p>
            <a:pPr algn="ctr" indent="0" marL="0">
              <a:buNone/>
            </a:pPr>
            <a:r>
              <a:rPr lang="en-US" sz="1100" dirty="0">
                <a:solidFill>
                  <a:srgbClr val="DDEEEB"/>
                </a:solidFill>
              </a:rPr>
              <a:t>publishes, clears the marker only after Redis accepted</a:t>
            </a:r>
            <a:endParaRPr lang="en-US" sz="1400" dirty="0"/>
          </a:p>
        </p:txBody>
      </p:sp>
      <p:sp>
        <p:nvSpPr>
          <p:cNvPr id="9" name="arrow"/>
          <p:cNvSpPr/>
          <p:nvPr/>
        </p:nvSpPr>
        <p:spPr>
          <a:xfrm>
            <a:off x="5797296" y="2029968"/>
            <a:ext cx="384048" cy="0"/>
          </a:xfrm>
          <a:prstGeom prst="line">
            <a:avLst/>
          </a:prstGeom>
          <a:noFill/>
          <a:ln w="22225">
            <a:solidFill>
              <a:srgbClr val="5C7173"/>
            </a:solidFill>
            <a:prstDash val="solid"/>
            <a:tailEnd type="triangle"/>
          </a:ln>
        </p:spPr>
      </p:sp>
      <p:sp>
        <p:nvSpPr>
          <p:cNvPr id="10" name="box Redis Stream"/>
          <p:cNvSpPr/>
          <p:nvPr/>
        </p:nvSpPr>
        <p:spPr>
          <a:xfrm>
            <a:off x="6217920" y="1508760"/>
            <a:ext cx="2377440" cy="1051560"/>
          </a:xfrm>
          <a:prstGeom prst="roundRect">
            <a:avLst>
              <a:gd name="adj" fmla="val 8696"/>
            </a:avLst>
          </a:prstGeom>
          <a:solidFill>
            <a:srgbClr val="8C4A3A"/>
          </a:solidFill>
          <a:ln w="12700">
            <a:solidFill>
              <a:srgbClr val="8C4A3A"/>
            </a:solidFill>
            <a:prstDash val="solid"/>
          </a:ln>
        </p:spPr>
      </p:sp>
      <p:sp>
        <p:nvSpPr>
          <p:cNvPr id="11" name="box text Redis Stream"/>
          <p:cNvSpPr txBox="1"/>
          <p:nvPr/>
        </p:nvSpPr>
        <p:spPr>
          <a:xfrm>
            <a:off x="629107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Redis Stream</a:t>
            </a:r>
            <a:endParaRPr lang="en-US" sz="1400" dirty="0"/>
          </a:p>
          <a:p>
            <a:pPr algn="ctr" indent="0" marL="0">
              <a:buNone/>
            </a:pPr>
            <a:r>
              <a:rPr lang="en-US" sz="1100" dirty="0">
                <a:solidFill>
                  <a:srgbClr val="DDEEEB"/>
                </a:solidFill>
              </a:rPr>
              <a:t>consumer group, pool of consumers</a:t>
            </a:r>
            <a:endParaRPr lang="en-US" sz="1400" dirty="0"/>
          </a:p>
        </p:txBody>
      </p:sp>
      <p:sp>
        <p:nvSpPr>
          <p:cNvPr id="12" name="arrow"/>
          <p:cNvSpPr/>
          <p:nvPr/>
        </p:nvSpPr>
        <p:spPr>
          <a:xfrm>
            <a:off x="8631936" y="2029968"/>
            <a:ext cx="384048" cy="0"/>
          </a:xfrm>
          <a:prstGeom prst="line">
            <a:avLst/>
          </a:prstGeom>
          <a:noFill/>
          <a:ln w="22225">
            <a:solidFill>
              <a:srgbClr val="5C7173"/>
            </a:solidFill>
            <a:prstDash val="solid"/>
            <a:tailEnd type="triangle"/>
          </a:ln>
        </p:spPr>
      </p:sp>
      <p:sp>
        <p:nvSpPr>
          <p:cNvPr id="13" name="box Process"/>
          <p:cNvSpPr/>
          <p:nvPr/>
        </p:nvSpPr>
        <p:spPr>
          <a:xfrm>
            <a:off x="9052560" y="1508760"/>
            <a:ext cx="2377440" cy="1051560"/>
          </a:xfrm>
          <a:prstGeom prst="roundRect">
            <a:avLst>
              <a:gd name="adj" fmla="val 8696"/>
            </a:avLst>
          </a:prstGeom>
          <a:solidFill>
            <a:srgbClr val="14746F"/>
          </a:solidFill>
          <a:ln w="12700">
            <a:solidFill>
              <a:srgbClr val="14746F"/>
            </a:solidFill>
            <a:prstDash val="solid"/>
          </a:ln>
        </p:spPr>
      </p:sp>
      <p:sp>
        <p:nvSpPr>
          <p:cNvPr id="14" name="box text Process"/>
          <p:cNvSpPr txBox="1"/>
          <p:nvPr/>
        </p:nvSpPr>
        <p:spPr>
          <a:xfrm>
            <a:off x="912571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Process</a:t>
            </a:r>
            <a:endParaRPr lang="en-US" sz="1400" dirty="0"/>
          </a:p>
          <a:p>
            <a:pPr algn="ctr" indent="0" marL="0">
              <a:buNone/>
            </a:pPr>
            <a:r>
              <a:rPr lang="en-US" sz="1100" dirty="0">
                <a:solidFill>
                  <a:srgbClr val="DDEEEB"/>
                </a:solidFill>
              </a:rPr>
              <a:t>explain and move to ready</a:t>
            </a:r>
            <a:endParaRPr lang="en-US" sz="1400" dirty="0"/>
          </a:p>
        </p:txBody>
      </p:sp>
      <p:sp>
        <p:nvSpPr>
          <p:cNvPr id="15" name="guarantee 1"/>
          <p:cNvSpPr/>
          <p:nvPr/>
        </p:nvSpPr>
        <p:spPr>
          <a:xfrm>
            <a:off x="548640" y="2926080"/>
            <a:ext cx="5440680" cy="914400"/>
          </a:xfrm>
          <a:prstGeom prst="roundRect">
            <a:avLst>
              <a:gd name="adj" fmla="val 12000"/>
            </a:avLst>
          </a:prstGeom>
          <a:solidFill>
            <a:srgbClr val="F2F6F5"/>
          </a:solidFill>
          <a:ln w="12700">
            <a:solidFill>
              <a:srgbClr val="F2F6F5"/>
            </a:solidFill>
            <a:prstDash val="solid"/>
          </a:ln>
        </p:spPr>
      </p:sp>
      <p:sp>
        <p:nvSpPr>
          <p:cNvPr id="16" name="guarantee text"/>
          <p:cNvSpPr txBox="1"/>
          <p:nvPr/>
        </p:nvSpPr>
        <p:spPr>
          <a:xfrm>
            <a:off x="73152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Redis down</a:t>
            </a:r>
            <a:endParaRPr lang="en-US" sz="1400" dirty="0"/>
          </a:p>
          <a:p>
            <a:pPr indent="0" marL="0">
              <a:buNone/>
            </a:pPr>
            <a:r>
              <a:rPr lang="en-US" sz="1250" dirty="0">
                <a:solidFill>
                  <a:srgbClr val="17292B"/>
                </a:solidFill>
              </a:rPr>
              <a:t>markers stay in MongoDB, the relay republishes. Consumers back off and keep trying</a:t>
            </a:r>
            <a:endParaRPr lang="en-US" sz="1400" dirty="0"/>
          </a:p>
        </p:txBody>
      </p:sp>
      <p:sp>
        <p:nvSpPr>
          <p:cNvPr id="17" name="guarantee 2"/>
          <p:cNvSpPr/>
          <p:nvPr/>
        </p:nvSpPr>
        <p:spPr>
          <a:xfrm>
            <a:off x="6126480" y="2926080"/>
            <a:ext cx="5440680" cy="914400"/>
          </a:xfrm>
          <a:prstGeom prst="roundRect">
            <a:avLst>
              <a:gd name="adj" fmla="val 12000"/>
            </a:avLst>
          </a:prstGeom>
          <a:solidFill>
            <a:srgbClr val="F2F6F5"/>
          </a:solidFill>
          <a:ln w="12700">
            <a:solidFill>
              <a:srgbClr val="F2F6F5"/>
            </a:solidFill>
            <a:prstDash val="solid"/>
          </a:ln>
        </p:spPr>
      </p:sp>
      <p:sp>
        <p:nvSpPr>
          <p:cNvPr id="18" name="guarantee text"/>
          <p:cNvSpPr txBox="1"/>
          <p:nvPr/>
        </p:nvSpPr>
        <p:spPr>
          <a:xfrm>
            <a:off x="630936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Consumer dies</a:t>
            </a:r>
            <a:endParaRPr lang="en-US" sz="1400" dirty="0"/>
          </a:p>
          <a:p>
            <a:pPr indent="0" marL="0">
              <a:buNone/>
            </a:pPr>
            <a:r>
              <a:rPr lang="en-US" sz="1250" dirty="0">
                <a:solidFill>
                  <a:srgbClr val="17292B"/>
                </a:solidFill>
              </a:rPr>
              <a:t>its message is taken over by another after an idle time longer than the model deadline</a:t>
            </a:r>
            <a:endParaRPr lang="en-US" sz="1400" dirty="0"/>
          </a:p>
        </p:txBody>
      </p:sp>
      <p:sp>
        <p:nvSpPr>
          <p:cNvPr id="19" name="guarantee 3"/>
          <p:cNvSpPr/>
          <p:nvPr/>
        </p:nvSpPr>
        <p:spPr>
          <a:xfrm>
            <a:off x="548640" y="3950208"/>
            <a:ext cx="5440680" cy="914400"/>
          </a:xfrm>
          <a:prstGeom prst="roundRect">
            <a:avLst>
              <a:gd name="adj" fmla="val 12000"/>
            </a:avLst>
          </a:prstGeom>
          <a:solidFill>
            <a:srgbClr val="F2F6F5"/>
          </a:solidFill>
          <a:ln w="12700">
            <a:solidFill>
              <a:srgbClr val="F2F6F5"/>
            </a:solidFill>
            <a:prstDash val="solid"/>
          </a:ln>
        </p:spPr>
      </p:sp>
      <p:sp>
        <p:nvSpPr>
          <p:cNvPr id="20" name="guarantee text"/>
          <p:cNvSpPr txBox="1"/>
          <p:nvPr/>
        </p:nvSpPr>
        <p:spPr>
          <a:xfrm>
            <a:off x="73152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Poison claim</a:t>
            </a:r>
            <a:endParaRPr lang="en-US" sz="1400" dirty="0"/>
          </a:p>
          <a:p>
            <a:pPr indent="0" marL="0">
              <a:buNone/>
            </a:pPr>
            <a:r>
              <a:rPr lang="en-US" sz="1250" dirty="0">
                <a:solidFill>
                  <a:srgbClr val="17292B"/>
                </a:solidFill>
              </a:rPr>
              <a:t>parked as a dead letter after three deliveries, once, never while a person holds it</a:t>
            </a:r>
            <a:endParaRPr lang="en-US" sz="1400" dirty="0"/>
          </a:p>
        </p:txBody>
      </p:sp>
      <p:sp>
        <p:nvSpPr>
          <p:cNvPr id="21" name="guarantee 4"/>
          <p:cNvSpPr/>
          <p:nvPr/>
        </p:nvSpPr>
        <p:spPr>
          <a:xfrm>
            <a:off x="6126480" y="3950208"/>
            <a:ext cx="5440680" cy="914400"/>
          </a:xfrm>
          <a:prstGeom prst="roundRect">
            <a:avLst>
              <a:gd name="adj" fmla="val 12000"/>
            </a:avLst>
          </a:prstGeom>
          <a:solidFill>
            <a:srgbClr val="F2F6F5"/>
          </a:solidFill>
          <a:ln w="12700">
            <a:solidFill>
              <a:srgbClr val="F2F6F5"/>
            </a:solidFill>
            <a:prstDash val="solid"/>
          </a:ln>
        </p:spPr>
      </p:sp>
      <p:sp>
        <p:nvSpPr>
          <p:cNvPr id="22" name="guarantee text"/>
          <p:cNvSpPr txBox="1"/>
          <p:nvPr/>
        </p:nvSpPr>
        <p:spPr>
          <a:xfrm>
            <a:off x="630936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Duplicates and forgeries</a:t>
            </a:r>
            <a:endParaRPr lang="en-US" sz="1400" dirty="0"/>
          </a:p>
          <a:p>
            <a:pPr indent="0" marL="0">
              <a:buNone/>
            </a:pPr>
            <a:r>
              <a:rPr lang="en-US" sz="1250" dirty="0">
                <a:solidFill>
                  <a:srgbClr val="17292B"/>
                </a:solidFill>
              </a:rPr>
              <a:t>processing is idempotent; a wrong hash or unknown claim changes nothing</a:t>
            </a:r>
            <a:endParaRPr lang="en-US" sz="1400" dirty="0"/>
          </a:p>
        </p:txBody>
      </p:sp>
      <p:sp>
        <p:nvSpPr>
          <p:cNvPr id="23" name="guarantee 5"/>
          <p:cNvSpPr/>
          <p:nvPr/>
        </p:nvSpPr>
        <p:spPr>
          <a:xfrm>
            <a:off x="548640" y="4974336"/>
            <a:ext cx="5440680" cy="914400"/>
          </a:xfrm>
          <a:prstGeom prst="roundRect">
            <a:avLst>
              <a:gd name="adj" fmla="val 12000"/>
            </a:avLst>
          </a:prstGeom>
          <a:solidFill>
            <a:srgbClr val="F2F6F5"/>
          </a:solidFill>
          <a:ln w="12700">
            <a:solidFill>
              <a:srgbClr val="F2F6F5"/>
            </a:solidFill>
            <a:prstDash val="solid"/>
          </a:ln>
        </p:spPr>
      </p:sp>
      <p:sp>
        <p:nvSpPr>
          <p:cNvPr id="24" name="guarantee text"/>
          <p:cNvSpPr txBox="1"/>
          <p:nvPr/>
        </p:nvSpPr>
        <p:spPr>
          <a:xfrm>
            <a:off x="73152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Burst of claims</a:t>
            </a:r>
            <a:endParaRPr lang="en-US" sz="1400" dirty="0"/>
          </a:p>
          <a:p>
            <a:pPr indent="0" marL="0">
              <a:buNone/>
            </a:pPr>
            <a:r>
              <a:rPr lang="en-US" sz="1250" dirty="0">
                <a:solidFill>
                  <a:srgbClr val="17292B"/>
                </a:solidFill>
              </a:rPr>
              <a:t>waits in the stream, never in front of the model. Concurrency is capped by a setting</a:t>
            </a:r>
            <a:endParaRPr lang="en-US" sz="1400" dirty="0"/>
          </a:p>
        </p:txBody>
      </p:sp>
      <p:sp>
        <p:nvSpPr>
          <p:cNvPr id="25" name="guarantee 6"/>
          <p:cNvSpPr/>
          <p:nvPr/>
        </p:nvSpPr>
        <p:spPr>
          <a:xfrm>
            <a:off x="6126480" y="4974336"/>
            <a:ext cx="5440680" cy="914400"/>
          </a:xfrm>
          <a:prstGeom prst="roundRect">
            <a:avLst>
              <a:gd name="adj" fmla="val 12000"/>
            </a:avLst>
          </a:prstGeom>
          <a:solidFill>
            <a:srgbClr val="F2F6F5"/>
          </a:solidFill>
          <a:ln w="12700">
            <a:solidFill>
              <a:srgbClr val="F2F6F5"/>
            </a:solidFill>
            <a:prstDash val="solid"/>
          </a:ln>
        </p:spPr>
      </p:sp>
      <p:sp>
        <p:nvSpPr>
          <p:cNvPr id="26" name="guarantee text"/>
          <p:cNvSpPr txBox="1"/>
          <p:nvPr/>
        </p:nvSpPr>
        <p:spPr>
          <a:xfrm>
            <a:off x="630936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Lost messages</a:t>
            </a:r>
            <a:endParaRPr lang="en-US" sz="1400" dirty="0"/>
          </a:p>
          <a:p>
            <a:pPr indent="0" marL="0">
              <a:buNone/>
            </a:pPr>
            <a:r>
              <a:rPr lang="en-US" sz="1250" dirty="0">
                <a:solidFill>
                  <a:srgbClr val="17292B"/>
                </a:solidFill>
              </a:rPr>
              <a:t>if the stream is empty yet a claim sat 15 minutes, it is published again</a:t>
            </a:r>
            <a:endParaRPr lang="en-US" sz="1400" dirty="0"/>
          </a:p>
        </p:txBody>
      </p:sp>
      <p:sp>
        <p:nvSpPr>
          <p:cNvPr id="27"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Each guarantee has a test, including against a real Redis 7.4. Throughput on the target server is not measured yet (slide 20).</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sees which claim: lanes, leases and four-eyes</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4480560" cy="914400"/>
        </p:xfrm>
        <a:graphic>
          <a:graphicData uri="http://schemas.openxmlformats.org/drawingml/2006/table">
            <a:tbl>
              <a:tblPr/>
              <a:tblGrid>
                <a:gridCol w="2103120"/>
                <a:gridCol w="1188720"/>
                <a:gridCol w="1188720"/>
              </a:tblGrid>
              <a:tr h="411480">
                <a:tc>
                  <a:txBody>
                    <a:bodyPr/>
                    <a:lstStyle/>
                    <a:p>
                      <a:pPr indent="0" marL="0">
                        <a:buNone/>
                      </a:pPr>
                      <a:r>
                        <a:rPr lang="en-US" sz="1400" b="1" dirty="0">
                          <a:solidFill>
                            <a:srgbClr val="FFFFFF"/>
                          </a:solidFill>
                        </a:rPr>
                        <a:t>Flagged finding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High</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Medium</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FAIL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UNABLE_TO_ASSESS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point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2788920"/>
          <a:ext cx="4480560" cy="914400"/>
        </p:xfrm>
        <a:graphic>
          <a:graphicData uri="http://schemas.openxmlformats.org/drawingml/2006/table">
            <a:tbl>
              <a:tblPr/>
              <a:tblGrid>
                <a:gridCol w="1188720"/>
                <a:gridCol w="3291840"/>
              </a:tblGrid>
              <a:tr h="411480">
                <a:tc>
                  <a:txBody>
                    <a:bodyPr/>
                    <a:lstStyle/>
                    <a:p>
                      <a:pPr indent="0" marL="0">
                        <a:buNone/>
                      </a:pPr>
                      <a:r>
                        <a:rPr lang="en-US" sz="1400" b="1" dirty="0">
                          <a:solidFill>
                            <a:srgbClr val="FFFFFF"/>
                          </a:solidFill>
                        </a:rPr>
                        <a:t>Lane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Green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nothing flagged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A</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to 3 flagged, score under 10</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11480">
                <a:tc>
                  <a:txBody>
                    <a:bodyPr/>
                    <a:lstStyle/>
                    <a:p>
                      <a:pPr indent="0" marL="0">
                        <a:buNone/>
                      </a:pPr>
                      <a:r>
                        <a:rPr lang="en-US" sz="1400" dirty="0">
                          <a:solidFill>
                            <a:srgbClr val="17292B"/>
                          </a:solidFill>
                        </a:rPr>
                        <a:t>B</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or more flagged, or score of 10 or more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48640" y="4572000"/>
            <a:ext cx="4480560" cy="15544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High severity: a senior decides, a different senior countersigns blind. A third settles a disagreement</a:t>
            </a:r>
            <a:endParaRPr lang="en-US" sz="1400" dirty="0"/>
          </a:p>
          <a:p>
            <a:pPr marL="203200" indent="-203200">
              <a:spcAft>
                <a:spcPts val="600"/>
              </a:spcAft>
              <a:buSzPct val="100000"/>
              <a:buChar char="•"/>
            </a:pPr>
            <a:r>
              <a:rPr lang="en-US" sz="1400" dirty="0">
                <a:solidFill>
                  <a:srgbClr val="17292B"/>
                </a:solidFill>
              </a:rPr>
              <a:t>Leases return abandoned claims to the pool</a:t>
            </a:r>
            <a:endParaRPr lang="en-US" sz="1400" dirty="0"/>
          </a:p>
          <a:p>
            <a:pPr marL="203200" indent="-203200">
              <a:spcAft>
                <a:spcPts val="600"/>
              </a:spcAft>
              <a:buSzPct val="100000"/>
              <a:buChar char="•"/>
            </a:pPr>
            <a:r>
              <a:rPr lang="en-US" sz="1400" dirty="0">
                <a:solidFill>
                  <a:srgbClr val="17292B"/>
                </a:solidFill>
              </a:rPr>
              <a:t>No route assigns or moves a claim</a:t>
            </a:r>
            <a:endParaRPr lang="en-US" sz="1400" dirty="0"/>
          </a:p>
        </p:txBody>
      </p:sp>
      <p:graphicFrame>
        <p:nvGraphicFramePr>
          <p:cNvPr id="7" name="Chart 0" descr=""/>
          <p:cNvGraphicFramePr/>
          <p:nvPr/>
        </p:nvGraphicFramePr>
        <p:xfrm>
          <a:off x="5486400" y="1417320"/>
          <a:ext cx="6126480" cy="4206240"/>
        </p:xfrm>
        <a:graphic xmlns:a="http://schemas.openxmlformats.org/drawingml/2006/main">
          <a:graphicData uri="http://schemas.openxmlformats.org/drawingml/2006/chart">
            <c:chart xmlns:c="http://schemas.openxmlformats.org/drawingml/2006/chart" r:id="rId1"/>
          </a:graphicData>
        </a:graphic>
      </p:graphicFrame>
      <p:sp>
        <p:nvSpPr>
          <p:cNvPr id="8" name="footnote"/>
          <p:cNvSpPr txBox="1"/>
          <p:nvPr/>
        </p:nvSpPr>
        <p:spPr>
          <a:xfrm>
            <a:off x="5486400" y="5715000"/>
            <a:ext cx="6126480" cy="365760"/>
          </a:xfrm>
          <a:prstGeom prst="rect">
            <a:avLst/>
          </a:prstGeom>
          <a:noFill/>
          <a:ln/>
        </p:spPr>
        <p:txBody>
          <a:bodyPr wrap="square" lIns="0" tIns="0" rIns="0" bIns="0" rtlCol="0" anchor="ctr"/>
          <a:lstStyle/>
          <a:p>
            <a:pPr indent="0" marL="0">
              <a:buNone/>
            </a:pPr>
            <a:r>
              <a:rPr lang="en-US" sz="1100" i="1" dirty="0">
                <a:solidFill>
                  <a:srgbClr val="5C7173"/>
                </a:solidFill>
              </a:rPr>
              <a:t>Simulated people and clock, seed 1, five seeds checked. 253 of 500 claims need a senior, so seniors are the bottleneck.</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cache, and what is never cached</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120640"/>
                <a:gridCol w="2743200"/>
                <a:gridCol w="3200400"/>
              </a:tblGrid>
              <a:tr h="548640">
                <a:tc>
                  <a:txBody>
                    <a:bodyPr/>
                    <a:lstStyle/>
                    <a:p>
                      <a:pPr indent="0" marL="0">
                        <a:buNone/>
                      </a:pPr>
                      <a:r>
                        <a:rPr lang="en-US" sz="1350" b="1" dirty="0">
                          <a:solidFill>
                            <a:srgbClr val="FFFFFF"/>
                          </a:solidFill>
                        </a:rPr>
                        <a:t>What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Cached?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Why</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48640">
                <a:tc>
                  <a:txBody>
                    <a:bodyPr/>
                    <a:lstStyle/>
                    <a:p>
                      <a:pPr indent="0" marL="0">
                        <a:buNone/>
                      </a:pPr>
                      <a:r>
                        <a:rPr lang="en-US" sz="1350" dirty="0">
                          <a:solidFill>
                            <a:srgbClr val="17292B"/>
                          </a:solidFill>
                        </a:rPr>
                        <a:t>Explanation template with {value} and {line}, keyed by rule, failure shape, prompt version, model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14746F"/>
                          </a:solidFill>
                        </a:rPr>
                        <a:t>Yes, after the guard approved a fill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No claim value in the key or the text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Filled text, claim values, evidence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Would hold identifiers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48640">
                <a:tc>
                  <a:txBody>
                    <a:bodyPr/>
                    <a:lstStyle/>
                    <a:p>
                      <a:pPr indent="0" marL="0">
                        <a:buNone/>
                      </a:pPr>
                      <a:r>
                        <a:rPr lang="en-US" sz="1350" dirty="0">
                          <a:solidFill>
                            <a:srgbClr val="17292B"/>
                          </a:solidFill>
                        </a:rPr>
                        <a:t>Permissions, sessions, clearance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A demotion must apply at once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Rule results of a claim</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17292B"/>
                          </a:solidFill>
                        </a:rPr>
                        <a:t>In the claim document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The receipt hashes them, so replay can compare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548640" y="4526280"/>
            <a:ext cx="3291840" cy="822960"/>
          </a:xfrm>
          <a:prstGeom prst="rect">
            <a:avLst/>
          </a:prstGeom>
          <a:noFill/>
          <a:ln/>
        </p:spPr>
        <p:txBody>
          <a:bodyPr wrap="square" lIns="0" tIns="0" rIns="0" bIns="0" rtlCol="0" anchor="b"/>
          <a:lstStyle/>
          <a:p>
            <a:pPr indent="0" marL="0">
              <a:buNone/>
            </a:pPr>
            <a:r>
              <a:rPr lang="en-US" sz="3000" b="1" dirty="0">
                <a:solidFill>
                  <a:srgbClr val="14746F"/>
                </a:solidFill>
                <a:latin typeface="Cambria" pitchFamily="34" charset="0"/>
                <a:ea typeface="Cambria" pitchFamily="34" charset="-122"/>
                <a:cs typeface="Cambria" pitchFamily="34" charset="-120"/>
              </a:rPr>
              <a:t>90.5% to 97.7%</a:t>
            </a:r>
            <a:endParaRPr lang="en-US" sz="3000" dirty="0"/>
          </a:p>
        </p:txBody>
      </p:sp>
      <p:sp>
        <p:nvSpPr>
          <p:cNvPr id="6" name="stat label"/>
          <p:cNvSpPr txBox="1"/>
          <p:nvPr/>
        </p:nvSpPr>
        <p:spPr>
          <a:xfrm>
            <a:off x="54864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of 777 findings need no model call: empty cache, then warm (real model, 399 claims)</a:t>
            </a:r>
            <a:endParaRPr lang="en-US" sz="1400" dirty="0"/>
          </a:p>
        </p:txBody>
      </p:sp>
      <p:sp>
        <p:nvSpPr>
          <p:cNvPr id="7" name="stat"/>
          <p:cNvSpPr txBox="1"/>
          <p:nvPr/>
        </p:nvSpPr>
        <p:spPr>
          <a:xfrm>
            <a:off x="4297680" y="4526280"/>
            <a:ext cx="329184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failures</a:t>
            </a:r>
            <a:endParaRPr lang="en-US" sz="3200" dirty="0"/>
          </a:p>
        </p:txBody>
      </p:sp>
      <p:sp>
        <p:nvSpPr>
          <p:cNvPr id="8" name="stat label"/>
          <p:cNvSpPr txBox="1"/>
          <p:nvPr/>
        </p:nvSpPr>
        <p:spPr>
          <a:xfrm>
            <a:off x="429768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in a row open the breaker. One probe after 20 s</a:t>
            </a:r>
            <a:endParaRPr lang="en-US" sz="1400" dirty="0"/>
          </a:p>
        </p:txBody>
      </p:sp>
      <p:sp>
        <p:nvSpPr>
          <p:cNvPr id="9" name="stat"/>
          <p:cNvSpPr txBox="1"/>
          <p:nvPr/>
        </p:nvSpPr>
        <p:spPr>
          <a:xfrm>
            <a:off x="8046720" y="4526280"/>
            <a:ext cx="34747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90 s</a:t>
            </a:r>
            <a:endParaRPr lang="en-US" sz="3200" dirty="0"/>
          </a:p>
        </p:txBody>
      </p:sp>
      <p:sp>
        <p:nvSpPr>
          <p:cNvPr id="10" name="stat label"/>
          <p:cNvSpPr txBox="1"/>
          <p:nvPr/>
        </p:nvSpPr>
        <p:spPr>
          <a:xfrm>
            <a:off x="8046720" y="5394960"/>
            <a:ext cx="3474720" cy="822960"/>
          </a:xfrm>
          <a:prstGeom prst="rect">
            <a:avLst/>
          </a:prstGeom>
          <a:noFill/>
          <a:ln/>
        </p:spPr>
        <p:txBody>
          <a:bodyPr wrap="square" lIns="0" tIns="0" rIns="0" bIns="0" rtlCol="0" anchor="t"/>
          <a:lstStyle/>
          <a:p>
            <a:pPr indent="0" marL="0">
              <a:buNone/>
            </a:pPr>
            <a:r>
              <a:rPr lang="en-US" sz="1400" dirty="0">
                <a:solidFill>
                  <a:srgbClr val="5C7173"/>
                </a:solidFill>
              </a:rPr>
              <a:t>hard deadline. A late or rejected answer leaves the engine's text</a:t>
            </a:r>
            <a:endParaRPr lang="en-US" sz="1400" dirty="0"/>
          </a:p>
        </p:txBody>
      </p:sp>
      <p:sp>
        <p:nvSpPr>
          <p:cNvPr id="11" name="footnote"/>
          <p:cNvSpPr txBox="1"/>
          <p:nvPr/>
        </p:nvSpPr>
        <p:spPr>
          <a:xfrm>
            <a:off x="548640" y="63093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Budgets are counted in the database, not Redis (defaults 30 a minute, 2,000 a day; the load test raised the minute budget to 600). A template the guard refuses is not cached.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AI explains. It cannot decide or hide a finding</a:t>
            </a:r>
            <a:endParaRPr lang="en-US" sz="3200" dirty="0"/>
          </a:p>
        </p:txBody>
      </p:sp>
      <p:sp>
        <p:nvSpPr>
          <p:cNvPr id="4" name="grounding 1"/>
          <p:cNvSpPr/>
          <p:nvPr/>
        </p:nvSpPr>
        <p:spPr>
          <a:xfrm>
            <a:off x="548640" y="1463040"/>
            <a:ext cx="6583680" cy="914400"/>
          </a:xfrm>
          <a:prstGeom prst="roundRect">
            <a:avLst>
              <a:gd name="adj" fmla="val 12000"/>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grounding text"/>
          <p:cNvSpPr txBox="1"/>
          <p:nvPr/>
        </p:nvSpPr>
        <p:spPr>
          <a:xfrm>
            <a:off x="1280160" y="1463040"/>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The model sees only the rule text</a:t>
            </a:r>
            <a:endParaRPr lang="en-US" sz="1500" dirty="0"/>
          </a:p>
          <a:p>
            <a:pPr indent="0" marL="0">
              <a:buNone/>
            </a:pPr>
            <a:r>
              <a:rPr lang="en-US" sz="1250" dirty="0">
                <a:solidFill>
                  <a:srgbClr val="17292B"/>
                </a:solidFill>
              </a:rPr>
              <a:t>never a claim value; placeholders are filled in afterwards</a:t>
            </a:r>
            <a:endParaRPr lang="en-US" sz="1500" dirty="0"/>
          </a:p>
        </p:txBody>
      </p:sp>
      <p:sp>
        <p:nvSpPr>
          <p:cNvPr id="8" name="grounding 2"/>
          <p:cNvSpPr/>
          <p:nvPr/>
        </p:nvSpPr>
        <p:spPr>
          <a:xfrm>
            <a:off x="548640" y="2487168"/>
            <a:ext cx="6583680" cy="914400"/>
          </a:xfrm>
          <a:prstGeom prst="roundRect">
            <a:avLst>
              <a:gd name="adj" fmla="val 12000"/>
            </a:avLst>
          </a:prstGeom>
          <a:solidFill>
            <a:srgbClr val="F2F6F5"/>
          </a:solidFill>
          <a:ln w="12700">
            <a:solidFill>
              <a:srgbClr val="F2F6F5"/>
            </a:solidFill>
            <a:prstDash val="solid"/>
          </a:ln>
        </p:spPr>
      </p:sp>
      <p:sp>
        <p:nvSpPr>
          <p:cNvPr id="9" name="badge"/>
          <p:cNvSpPr/>
          <p:nvPr/>
        </p:nvSpPr>
        <p:spPr>
          <a:xfrm>
            <a:off x="731520" y="2752344"/>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31520"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grounding text"/>
          <p:cNvSpPr txBox="1"/>
          <p:nvPr/>
        </p:nvSpPr>
        <p:spPr>
          <a:xfrm>
            <a:off x="1280160" y="2487168"/>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Its text is checked mechanically</a:t>
            </a:r>
            <a:endParaRPr lang="en-US" sz="1500" dirty="0"/>
          </a:p>
          <a:p>
            <a:pPr indent="0" marL="0">
              <a:buNone/>
            </a:pPr>
            <a:r>
              <a:rPr lang="en-US" sz="1250" dirty="0">
                <a:solidFill>
                  <a:srgbClr val="17292B"/>
                </a:solidFill>
              </a:rPr>
              <a:t>invented values, clinical or fraud talk, approval or payment words (also disguised), garbled script, repetition</a:t>
            </a:r>
            <a:endParaRPr lang="en-US" sz="1500" dirty="0"/>
          </a:p>
        </p:txBody>
      </p:sp>
      <p:sp>
        <p:nvSpPr>
          <p:cNvPr id="12" name="grounding 3"/>
          <p:cNvSpPr/>
          <p:nvPr/>
        </p:nvSpPr>
        <p:spPr>
          <a:xfrm>
            <a:off x="548640" y="3511296"/>
            <a:ext cx="6583680" cy="914400"/>
          </a:xfrm>
          <a:prstGeom prst="roundRect">
            <a:avLst>
              <a:gd name="adj" fmla="val 12000"/>
            </a:avLst>
          </a:prstGeom>
          <a:solidFill>
            <a:srgbClr val="F2F6F5"/>
          </a:solidFill>
          <a:ln w="12700">
            <a:solidFill>
              <a:srgbClr val="F2F6F5"/>
            </a:solidFill>
            <a:prstDash val="solid"/>
          </a:ln>
        </p:spPr>
      </p:sp>
      <p:sp>
        <p:nvSpPr>
          <p:cNvPr id="13" name="badge"/>
          <p:cNvSpPr/>
          <p:nvPr/>
        </p:nvSpPr>
        <p:spPr>
          <a:xfrm>
            <a:off x="731520" y="3776472"/>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3152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grounding text"/>
          <p:cNvSpPr txBox="1"/>
          <p:nvPr/>
        </p:nvSpPr>
        <p:spPr>
          <a:xfrm>
            <a:off x="1280160" y="3511296"/>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Failure leaves the engine's text</a:t>
            </a:r>
            <a:endParaRPr lang="en-US" sz="1500" dirty="0"/>
          </a:p>
          <a:p>
            <a:pPr indent="0" marL="0">
              <a:buNone/>
            </a:pPr>
            <a:r>
              <a:rPr lang="en-US" sz="1250" dirty="0">
                <a:solidFill>
                  <a:srgbClr val="17292B"/>
                </a:solidFill>
              </a:rPr>
              <a:t>slow, down, over budget or rejected: the finding and its explanation stay</a:t>
            </a:r>
            <a:endParaRPr lang="en-US" sz="1500" dirty="0"/>
          </a:p>
        </p:txBody>
      </p:sp>
      <p:sp>
        <p:nvSpPr>
          <p:cNvPr id="16" name="grounding 4"/>
          <p:cNvSpPr/>
          <p:nvPr/>
        </p:nvSpPr>
        <p:spPr>
          <a:xfrm>
            <a:off x="548640" y="4535424"/>
            <a:ext cx="6583680" cy="914400"/>
          </a:xfrm>
          <a:prstGeom prst="roundRect">
            <a:avLst>
              <a:gd name="adj" fmla="val 12000"/>
            </a:avLst>
          </a:prstGeom>
          <a:solidFill>
            <a:srgbClr val="F2F6F5"/>
          </a:solidFill>
          <a:ln w="12700">
            <a:solidFill>
              <a:srgbClr val="F2F6F5"/>
            </a:solidFill>
            <a:prstDash val="solid"/>
          </a:ln>
        </p:spPr>
      </p:sp>
      <p:sp>
        <p:nvSpPr>
          <p:cNvPr id="17" name="badge"/>
          <p:cNvSpPr/>
          <p:nvPr/>
        </p:nvSpPr>
        <p:spPr>
          <a:xfrm>
            <a:off x="731520" y="48006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31520" y="4800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grounding text"/>
          <p:cNvSpPr txBox="1"/>
          <p:nvPr/>
        </p:nvSpPr>
        <p:spPr>
          <a:xfrm>
            <a:off x="1280160" y="4535424"/>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Prompt injection was red-teamed</a:t>
            </a:r>
            <a:endParaRPr lang="en-US" sz="1500" dirty="0"/>
          </a:p>
          <a:p>
            <a:pPr indent="0" marL="0">
              <a:buNone/>
            </a:pPr>
            <a:r>
              <a:rPr lang="en-US" sz="1250" dirty="0">
                <a:solidFill>
                  <a:srgbClr val="17292B"/>
                </a:solidFill>
              </a:rPr>
              <a:t>a real model found one hole, it was closed and a test added</a:t>
            </a:r>
            <a:endParaRPr lang="en-US" sz="1500" dirty="0"/>
          </a:p>
        </p:txBody>
      </p:sp>
      <p:sp>
        <p:nvSpPr>
          <p:cNvPr id="20" name="what-if-wrong card"/>
          <p:cNvSpPr/>
          <p:nvPr/>
        </p:nvSpPr>
        <p:spPr>
          <a:xfrm>
            <a:off x="7406640" y="1463040"/>
            <a:ext cx="4206240" cy="3977640"/>
          </a:xfrm>
          <a:prstGeom prst="roundRect">
            <a:avLst>
              <a:gd name="adj" fmla="val 2759"/>
            </a:avLst>
          </a:prstGeom>
          <a:solidFill>
            <a:srgbClr val="0E3B3F"/>
          </a:solidFill>
          <a:ln w="12700">
            <a:solidFill>
              <a:srgbClr val="0E3B3F"/>
            </a:solidFill>
            <a:prstDash val="solid"/>
          </a:ln>
        </p:spPr>
      </p:sp>
      <p:sp>
        <p:nvSpPr>
          <p:cNvPr id="21" name="h"/>
          <p:cNvSpPr txBox="1"/>
          <p:nvPr/>
        </p:nvSpPr>
        <p:spPr>
          <a:xfrm>
            <a:off x="7635240" y="1600200"/>
            <a:ext cx="37490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When the model is wrong</a:t>
            </a:r>
            <a:endParaRPr lang="en-US" sz="1800" dirty="0"/>
          </a:p>
        </p:txBody>
      </p:sp>
      <p:sp>
        <p:nvSpPr>
          <p:cNvPr id="22" name="wrong text"/>
          <p:cNvSpPr txBox="1"/>
          <p:nvPr/>
        </p:nvSpPr>
        <p:spPr>
          <a:xfrm>
            <a:off x="7635240" y="2103120"/>
            <a:ext cx="3749040" cy="3200400"/>
          </a:xfrm>
          <a:prstGeom prst="rect">
            <a:avLst/>
          </a:prstGeom>
          <a:noFill/>
          <a:ln/>
        </p:spPr>
        <p:txBody>
          <a:bodyPr wrap="square" lIns="0" tIns="0" rIns="0" bIns="0" rtlCol="0" anchor="t"/>
          <a:lstStyle/>
          <a:p>
            <a:pPr indent="0" marL="0">
              <a:spcAft>
                <a:spcPts val="800"/>
              </a:spcAft>
              <a:buNone/>
            </a:pPr>
            <a:r>
              <a:rPr lang="en-US" sz="1400" dirty="0">
                <a:solidFill>
                  <a:srgbClr val="DDEEEB"/>
                </a:solidFill>
              </a:rPr>
              <a:t>A statement the finding cannot support is rejected before anyone reads it.</a:t>
            </a:r>
            <a:endParaRPr lang="en-US" sz="1400" dirty="0"/>
          </a:p>
          <a:p>
            <a:pPr indent="0" marL="0">
              <a:spcAft>
                <a:spcPts val="800"/>
              </a:spcAft>
              <a:buNone/>
            </a:pPr>
            <a:r>
              <a:rPr lang="en-US" sz="1400" dirty="0">
                <a:solidFill>
                  <a:srgbClr val="DDEEEB"/>
                </a:solidFill>
              </a:rPr>
              <a:t>The reviewer sees the engine's own explanation instead, marked by its source.</a:t>
            </a:r>
            <a:endParaRPr lang="en-US" sz="1400" dirty="0"/>
          </a:p>
          <a:p>
            <a:pPr indent="0" marL="0">
              <a:buNone/>
            </a:pPr>
            <a:r>
              <a:rPr lang="en-US" sz="1400" dirty="0">
                <a:solidFill>
                  <a:srgbClr val="DDEEEB"/>
                </a:solidFill>
              </a:rPr>
              <a:t>Honest note: in one 25-case run, 17 answers fell back to the template (timeouts and server errors). The fallback worked, and the live-answer sample is small.</a:t>
            </a:r>
            <a:endParaRPr lang="en-US" sz="1400" dirty="0"/>
          </a:p>
        </p:txBody>
      </p:sp>
      <p:sp>
        <p:nvSpPr>
          <p:cNvPr id="23" name="footnote"/>
          <p:cNvSpPr txBox="1"/>
          <p:nvPr/>
        </p:nvSpPr>
        <p:spPr>
          <a:xfrm>
            <a:off x="548640" y="566928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The same guard checks every cached template after it is filled. Nothing in this path can change a status.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reviewer copilot: what is wrong, what to do</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copilot.png" descr="C:\Users\moham\AppData\Local\Temp\claude\C--Users-moham-cstam\f25db9ed-2154-460d-a343-94d0c9b150c3\scratchpad\deck\assets\copilot.png">    </p:cNvPr>
          <p:cNvPicPr>
            <a:picLocks noChangeAspect="1"/>
          </p:cNvPicPr>
          <p:nvPr/>
        </p:nvPicPr>
        <p:blipFill>
          <a:blip r:embed="rId1"/>
          <a:stretch>
            <a:fillRect/>
          </a:stretch>
        </p:blipFill>
        <p:spPr>
          <a:xfrm>
            <a:off x="548640" y="1371600"/>
            <a:ext cx="5577840" cy="4498848"/>
          </a:xfrm>
          <a:prstGeom prst="rect">
            <a:avLst/>
          </a:prstGeom>
        </p:spPr>
      </p:pic>
      <p:sp>
        <p:nvSpPr>
          <p:cNvPr id="7" name="bullets"/>
          <p:cNvSpPr txBox="1"/>
          <p:nvPr/>
        </p:nvSpPr>
        <p:spPr>
          <a:xfrm>
            <a:off x="6492240" y="1463040"/>
            <a:ext cx="5120640" cy="438912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One summary: how many findings, which severity, in the order that clears the claim fastest</a:t>
            </a:r>
            <a:endParaRPr lang="en-US" sz="1500" dirty="0"/>
          </a:p>
          <a:p>
            <a:pPr marL="203200" indent="-203200">
              <a:spcAft>
                <a:spcPts val="600"/>
              </a:spcAft>
              <a:buSzPct val="100000"/>
              <a:buChar char="•"/>
            </a:pPr>
            <a:r>
              <a:rPr lang="en-US" sz="1500" dirty="0">
                <a:solidFill>
                  <a:srgbClr val="17292B"/>
                </a:solidFill>
              </a:rPr>
              <a:t>One suggestion per finding: a value to correct, a value to check, or information to ask for</a:t>
            </a:r>
            <a:endParaRPr lang="en-US" sz="1500" dirty="0"/>
          </a:p>
          <a:p>
            <a:pPr marL="203200" indent="-203200">
              <a:spcAft>
                <a:spcPts val="600"/>
              </a:spcAft>
              <a:buSzPct val="100000"/>
              <a:buChar char="•"/>
            </a:pPr>
            <a:r>
              <a:rPr lang="en-US" sz="1500" dirty="0">
                <a:solidFill>
                  <a:srgbClr val="17292B"/>
                </a:solidFill>
              </a:rPr>
              <a:t>Built by code from the findings. No model, so nothing to hallucinate</a:t>
            </a:r>
            <a:endParaRPr lang="en-US" sz="1500" dirty="0"/>
          </a:p>
          <a:p>
            <a:pPr marL="203200" indent="-203200">
              <a:spcAft>
                <a:spcPts val="600"/>
              </a:spcAft>
              <a:buSzPct val="100000"/>
              <a:buChar char="•"/>
            </a:pPr>
            <a:r>
              <a:rPr lang="en-US" sz="1500" dirty="0">
                <a:solidFill>
                  <a:srgbClr val="17292B"/>
                </a:solidFill>
              </a:rPr>
              <a:t>A value is proposed only if it follows from other values on the same claim. Nothing missing is invented, no identifier can be edited</a:t>
            </a:r>
            <a:endParaRPr lang="en-US" sz="1500" dirty="0"/>
          </a:p>
        </p:txBody>
      </p:sp>
      <p:sp>
        <p:nvSpPr>
          <p:cNvPr id="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claim with no finding reads: Pre-validation clearance, not payer approval or a promise of payment.</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Try a correction, then save it as a new version</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whatif.png" descr="C:\Users\moham\AppData\Local\Temp\claude\C--Users-moham-cstam\f25db9ed-2154-460d-a343-94d0c9b150c3\scratchpad\deck\assets\whatif.png">    </p:cNvPr>
          <p:cNvPicPr>
            <a:picLocks noChangeAspect="1"/>
          </p:cNvPicPr>
          <p:nvPr/>
        </p:nvPicPr>
        <p:blipFill>
          <a:blip r:embed="rId1"/>
          <a:stretch>
            <a:fillRect/>
          </a:stretch>
        </p:blipFill>
        <p:spPr>
          <a:xfrm>
            <a:off x="548640" y="1371600"/>
            <a:ext cx="5486400" cy="3529584"/>
          </a:xfrm>
          <a:prstGeom prst="rect">
            <a:avLst/>
          </a:prstGeom>
        </p:spPr>
      </p:pic>
      <p:sp>
        <p:nvSpPr>
          <p:cNvPr id="7" name="flow 1"/>
          <p:cNvSpPr/>
          <p:nvPr/>
        </p:nvSpPr>
        <p:spPr>
          <a:xfrm>
            <a:off x="6309360" y="1371600"/>
            <a:ext cx="5303520" cy="777240"/>
          </a:xfrm>
          <a:prstGeom prst="roundRect">
            <a:avLst>
              <a:gd name="adj" fmla="val 14118"/>
            </a:avLst>
          </a:prstGeom>
          <a:solidFill>
            <a:srgbClr val="F2F6F5"/>
          </a:solidFill>
          <a:ln w="12700">
            <a:solidFill>
              <a:srgbClr val="F2F6F5"/>
            </a:solidFill>
            <a:prstDash val="solid"/>
          </a:ln>
        </p:spPr>
      </p:sp>
      <p:sp>
        <p:nvSpPr>
          <p:cNvPr id="8" name="flow text"/>
          <p:cNvSpPr txBox="1"/>
          <p:nvPr/>
        </p:nvSpPr>
        <p:spPr>
          <a:xfrm>
            <a:off x="6492240" y="1371600"/>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What-if</a:t>
            </a:r>
            <a:endParaRPr lang="en-US" sz="1400" dirty="0"/>
          </a:p>
          <a:p>
            <a:pPr indent="0" marL="0">
              <a:buNone/>
            </a:pPr>
            <a:r>
              <a:rPr lang="en-US" sz="1250" dirty="0">
                <a:solidFill>
                  <a:srgbClr val="17292B"/>
                </a:solidFill>
              </a:rPr>
              <a:t>the engine runs on a copy. Nothing is saved</a:t>
            </a:r>
            <a:endParaRPr lang="en-US" sz="1400" dirty="0"/>
          </a:p>
        </p:txBody>
      </p:sp>
      <p:sp>
        <p:nvSpPr>
          <p:cNvPr id="9" name="flow 2"/>
          <p:cNvSpPr/>
          <p:nvPr/>
        </p:nvSpPr>
        <p:spPr>
          <a:xfrm>
            <a:off x="6309360" y="2258568"/>
            <a:ext cx="5303520" cy="777240"/>
          </a:xfrm>
          <a:prstGeom prst="roundRect">
            <a:avLst>
              <a:gd name="adj" fmla="val 14118"/>
            </a:avLst>
          </a:prstGeom>
          <a:solidFill>
            <a:srgbClr val="F2F6F5"/>
          </a:solidFill>
          <a:ln w="12700">
            <a:solidFill>
              <a:srgbClr val="F2F6F5"/>
            </a:solidFill>
            <a:prstDash val="solid"/>
          </a:ln>
        </p:spPr>
      </p:sp>
      <p:sp>
        <p:nvSpPr>
          <p:cNvPr id="10" name="flow text"/>
          <p:cNvSpPr txBox="1"/>
          <p:nvPr/>
        </p:nvSpPr>
        <p:spPr>
          <a:xfrm>
            <a:off x="6492240" y="2258568"/>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Recheck</a:t>
            </a:r>
            <a:endParaRPr lang="en-US" sz="1400" dirty="0"/>
          </a:p>
          <a:p>
            <a:pPr indent="0" marL="0">
              <a:buNone/>
            </a:pPr>
            <a:r>
              <a:rPr lang="en-US" sz="1250" dirty="0">
                <a:solidFill>
                  <a:srgbClr val="17292B"/>
                </a:solidFill>
              </a:rPr>
              <a:t>the correction becomes version 2 and goes through triage</a:t>
            </a:r>
            <a:endParaRPr lang="en-US" sz="1400" dirty="0"/>
          </a:p>
        </p:txBody>
      </p:sp>
      <p:sp>
        <p:nvSpPr>
          <p:cNvPr id="11" name="flow 3"/>
          <p:cNvSpPr/>
          <p:nvPr/>
        </p:nvSpPr>
        <p:spPr>
          <a:xfrm>
            <a:off x="6309360" y="3145536"/>
            <a:ext cx="5303520" cy="777240"/>
          </a:xfrm>
          <a:prstGeom prst="roundRect">
            <a:avLst>
              <a:gd name="adj" fmla="val 14118"/>
            </a:avLst>
          </a:prstGeom>
          <a:solidFill>
            <a:srgbClr val="F2F6F5"/>
          </a:solidFill>
          <a:ln w="12700">
            <a:solidFill>
              <a:srgbClr val="F2F6F5"/>
            </a:solidFill>
            <a:prstDash val="solid"/>
          </a:ln>
        </p:spPr>
      </p:sp>
      <p:sp>
        <p:nvSpPr>
          <p:cNvPr id="12" name="flow text"/>
          <p:cNvSpPr txBox="1"/>
          <p:nvPr/>
        </p:nvSpPr>
        <p:spPr>
          <a:xfrm>
            <a:off x="6492240" y="3145536"/>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Original</a:t>
            </a:r>
            <a:endParaRPr lang="en-US" sz="1400" dirty="0"/>
          </a:p>
          <a:p>
            <a:pPr indent="0" marL="0">
              <a:buNone/>
            </a:pPr>
            <a:r>
              <a:rPr lang="en-US" sz="1250" dirty="0">
                <a:solidFill>
                  <a:srgbClr val="17292B"/>
                </a:solidFill>
              </a:rPr>
              <a:t>version 1 is kept exactly as received and closed</a:t>
            </a:r>
            <a:endParaRPr lang="en-US" sz="1400" dirty="0"/>
          </a:p>
        </p:txBody>
      </p:sp>
      <p:sp>
        <p:nvSpPr>
          <p:cNvPr id="13" name="flow 4"/>
          <p:cNvSpPr/>
          <p:nvPr/>
        </p:nvSpPr>
        <p:spPr>
          <a:xfrm>
            <a:off x="6309360" y="4032504"/>
            <a:ext cx="5303520" cy="777240"/>
          </a:xfrm>
          <a:prstGeom prst="roundRect">
            <a:avLst>
              <a:gd name="adj" fmla="val 14118"/>
            </a:avLst>
          </a:prstGeom>
          <a:solidFill>
            <a:srgbClr val="F2F6F5"/>
          </a:solidFill>
          <a:ln w="12700">
            <a:solidFill>
              <a:srgbClr val="F2F6F5"/>
            </a:solidFill>
            <a:prstDash val="solid"/>
          </a:ln>
        </p:spPr>
      </p:sp>
      <p:sp>
        <p:nvSpPr>
          <p:cNvPr id="14" name="flow text"/>
          <p:cNvSpPr txBox="1"/>
          <p:nvPr/>
        </p:nvSpPr>
        <p:spPr>
          <a:xfrm>
            <a:off x="6492240" y="4032504"/>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Cleared findings</a:t>
            </a:r>
            <a:endParaRPr lang="en-US" sz="1400" dirty="0"/>
          </a:p>
          <a:p>
            <a:pPr indent="0" marL="0">
              <a:buNone/>
            </a:pPr>
            <a:r>
              <a:rPr lang="en-US" sz="1250" dirty="0">
                <a:solidFill>
                  <a:srgbClr val="17292B"/>
                </a:solidFill>
              </a:rPr>
              <a:t>recorded with the reviewer's reason</a:t>
            </a:r>
            <a:endParaRPr lang="en-US" sz="1400" dirty="0"/>
          </a:p>
        </p:txBody>
      </p:sp>
      <p:sp>
        <p:nvSpPr>
          <p:cNvPr id="15" name="controls card"/>
          <p:cNvSpPr/>
          <p:nvPr/>
        </p:nvSpPr>
        <p:spPr>
          <a:xfrm>
            <a:off x="548640" y="4937760"/>
            <a:ext cx="11064240" cy="1188720"/>
          </a:xfrm>
          <a:prstGeom prst="roundRect">
            <a:avLst>
              <a:gd name="adj" fmla="val 9231"/>
            </a:avLst>
          </a:prstGeom>
          <a:solidFill>
            <a:srgbClr val="FFF1DB"/>
          </a:solidFill>
          <a:ln w="12700">
            <a:solidFill>
              <a:srgbClr val="FFF1DB"/>
            </a:solidFill>
            <a:prstDash val="solid"/>
          </a:ln>
        </p:spPr>
      </p:sp>
      <p:sp>
        <p:nvSpPr>
          <p:cNvPr id="16" name="controls text"/>
          <p:cNvSpPr txBox="1"/>
          <p:nvPr/>
        </p:nvSpPr>
        <p:spPr>
          <a:xfrm>
            <a:off x="777240" y="4937760"/>
            <a:ext cx="10607040" cy="1188720"/>
          </a:xfrm>
          <a:prstGeom prst="rect">
            <a:avLst/>
          </a:prstGeom>
          <a:noFill/>
          <a:ln/>
        </p:spPr>
        <p:txBody>
          <a:bodyPr wrap="square" lIns="0" tIns="0" rIns="0" bIns="0" rtlCol="0" anchor="ctr"/>
          <a:lstStyle/>
          <a:p>
            <a:pPr indent="0" marL="0">
              <a:buNone/>
            </a:pPr>
            <a:r>
              <a:rPr lang="en-US" sz="1450" b="1" dirty="0">
                <a:solidFill>
                  <a:srgbClr val="0E3B3F"/>
                </a:solidFill>
              </a:rPr>
              <a:t>Controls: </a:t>
            </a:r>
            <a:pPr indent="0" marL="0">
              <a:buNone/>
            </a:pPr>
            <a:r>
              <a:rPr lang="en-US" sz="1450" dirty="0">
                <a:solidFill>
                  <a:srgbClr val="17292B"/>
                </a:solidFill>
              </a:rPr>
              <a:t>only the holder of the claim can try or apply a correction. Clearing a high-severity finding needs the same senior authority as deciding it. Patient, member and claim identifiers cannot be edited. A recheck needs a reason that does not contain the identifier.</a:t>
            </a:r>
            <a:endParaRPr lang="en-US" sz="14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Do the proposals work? Measured against the real engine</a:t>
            </a:r>
            <a:endParaRPr lang="en-US" sz="3200" dirty="0"/>
          </a:p>
        </p:txBody>
      </p:sp>
      <p:graphicFrame>
        <p:nvGraphicFramePr>
          <p:cNvPr id="4" name="Chart 0" descr=""/>
          <p:cNvGraphicFramePr/>
          <p:nvPr/>
        </p:nvGraphicFramePr>
        <p:xfrm>
          <a:off x="548640" y="1371600"/>
          <a:ext cx="5852160" cy="4297680"/>
        </p:xfrm>
        <a:graphic xmlns:a="http://schemas.openxmlformats.org/drawingml/2006/main">
          <a:graphicData uri="http://schemas.openxmlformats.org/drawingml/2006/chart">
            <c:chart xmlns:c="http://schemas.openxmlformats.org/drawingml/2006/chart" r:id="rId1"/>
          </a:graphicData>
        </a:graphic>
      </p:graphicFrame>
      <p:sp>
        <p:nvSpPr>
          <p:cNvPr id="5" name="stat"/>
          <p:cNvSpPr txBox="1"/>
          <p:nvPr/>
        </p:nvSpPr>
        <p:spPr>
          <a:xfrm>
            <a:off x="676656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777</a:t>
            </a:r>
            <a:endParaRPr lang="en-US" sz="4000" dirty="0"/>
          </a:p>
        </p:txBody>
      </p:sp>
      <p:sp>
        <p:nvSpPr>
          <p:cNvPr id="6" name="stat label"/>
          <p:cNvSpPr txBox="1"/>
          <p:nvPr/>
        </p:nvSpPr>
        <p:spPr>
          <a:xfrm>
            <a:off x="676656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flagged findings on 600 public claims, each with exactly one suggestion</a:t>
            </a:r>
            <a:endParaRPr lang="en-US" sz="1400" dirty="0"/>
          </a:p>
        </p:txBody>
      </p:sp>
      <p:sp>
        <p:nvSpPr>
          <p:cNvPr id="7" name="stat"/>
          <p:cNvSpPr txBox="1"/>
          <p:nvPr/>
        </p:nvSpPr>
        <p:spPr>
          <a:xfrm>
            <a:off x="932688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a:t>
            </a:r>
            <a:endParaRPr lang="en-US" sz="4000" dirty="0"/>
          </a:p>
        </p:txBody>
      </p:sp>
      <p:sp>
        <p:nvSpPr>
          <p:cNvPr id="8" name="stat label"/>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cited paths missing on the claim. 0 texts with approval or payment words</a:t>
            </a:r>
            <a:endParaRPr lang="en-US" sz="1400" dirty="0"/>
          </a:p>
        </p:txBody>
      </p:sp>
      <p:sp>
        <p:nvSpPr>
          <p:cNvPr id="9" name="stat"/>
          <p:cNvSpPr txBox="1"/>
          <p:nvPr/>
        </p:nvSpPr>
        <p:spPr>
          <a:xfrm>
            <a:off x="676656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 new</a:t>
            </a:r>
            <a:endParaRPr lang="en-US" sz="4000" dirty="0"/>
          </a:p>
        </p:txBody>
      </p:sp>
      <p:sp>
        <p:nvSpPr>
          <p:cNvPr id="10" name="stat label"/>
          <p:cNvSpPr txBox="1"/>
          <p:nvPr/>
        </p:nvSpPr>
        <p:spPr>
          <a:xfrm>
            <a:off x="676656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findings created when all proposals on a claim are applied together</a:t>
            </a:r>
            <a:endParaRPr lang="en-US" sz="1400" dirty="0"/>
          </a:p>
        </p:txBody>
      </p:sp>
      <p:sp>
        <p:nvSpPr>
          <p:cNvPr id="11" name="stat"/>
          <p:cNvSpPr txBox="1"/>
          <p:nvPr/>
        </p:nvSpPr>
        <p:spPr>
          <a:xfrm>
            <a:off x="932688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4,200</a:t>
            </a:r>
            <a:endParaRPr lang="en-US" sz="4000" dirty="0"/>
          </a:p>
        </p:txBody>
      </p:sp>
      <p:sp>
        <p:nvSpPr>
          <p:cNvPr id="12" name="stat label"/>
          <p:cNvSpPr txBox="1"/>
          <p:nvPr/>
        </p:nvSpPr>
        <p:spPr>
          <a:xfrm>
            <a:off x="932688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attempts to edit an identifier, all refused</a:t>
            </a:r>
            <a:endParaRPr lang="en-US" sz="1400" dirty="0"/>
          </a:p>
        </p:txBody>
      </p:sp>
      <p:sp>
        <p:nvSpPr>
          <p:cNvPr id="13" name="limit card"/>
          <p:cNvSpPr/>
          <p:nvPr/>
        </p:nvSpPr>
        <p:spPr>
          <a:xfrm>
            <a:off x="6766560" y="4983480"/>
            <a:ext cx="4846320" cy="1097280"/>
          </a:xfrm>
          <a:prstGeom prst="roundRect">
            <a:avLst>
              <a:gd name="adj" fmla="val 10000"/>
            </a:avLst>
          </a:prstGeom>
          <a:solidFill>
            <a:srgbClr val="FFF1DB"/>
          </a:solidFill>
          <a:ln w="12700">
            <a:solidFill>
              <a:srgbClr val="FFF1DB"/>
            </a:solidFill>
            <a:prstDash val="solid"/>
          </a:ln>
        </p:spPr>
      </p:sp>
      <p:sp>
        <p:nvSpPr>
          <p:cNvPr id="14" name="limit text"/>
          <p:cNvSpPr txBox="1"/>
          <p:nvPr/>
        </p:nvSpPr>
        <p:spPr>
          <a:xfrm>
            <a:off x="6949440" y="4983480"/>
            <a:ext cx="4526280" cy="1097280"/>
          </a:xfrm>
          <a:prstGeom prst="rect">
            <a:avLst/>
          </a:prstGeom>
          <a:noFill/>
          <a:ln/>
        </p:spPr>
        <p:txBody>
          <a:bodyPr wrap="square" lIns="0" tIns="0" rIns="0" bIns="0" rtlCol="0" anchor="ctr"/>
          <a:lstStyle/>
          <a:p>
            <a:pPr indent="0" marL="0">
              <a:buNone/>
            </a:pPr>
            <a:r>
              <a:rPr lang="en-US" sz="1300" dirty="0">
                <a:solidFill>
                  <a:srgbClr val="17292B"/>
                </a:solidFill>
              </a:rPr>
              <a:t>Limit: only three rules have computable proposals. For the other twelve the copilot asks or checks. The reviewer still compares the figure with the bill.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Fewer decisions for a person, with the risk bounded</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simulated</a:t>
            </a:r>
            <a:endParaRPr lang="en-US" sz="1100" dirty="0"/>
          </a:p>
        </p:txBody>
      </p:sp>
      <p:sp>
        <p:nvSpPr>
          <p:cNvPr id="6" name="lever 1"/>
          <p:cNvSpPr/>
          <p:nvPr/>
        </p:nvSpPr>
        <p:spPr>
          <a:xfrm>
            <a:off x="548640" y="1417320"/>
            <a:ext cx="6400800" cy="914400"/>
          </a:xfrm>
          <a:prstGeom prst="roundRect">
            <a:avLst>
              <a:gd name="adj" fmla="val 12000"/>
            </a:avLst>
          </a:prstGeom>
          <a:solidFill>
            <a:srgbClr val="F2F6F5"/>
          </a:solidFill>
          <a:ln w="12700">
            <a:solidFill>
              <a:srgbClr val="F2F6F5"/>
            </a:solidFill>
            <a:prstDash val="solid"/>
          </a:ln>
        </p:spPr>
      </p:sp>
      <p:sp>
        <p:nvSpPr>
          <p:cNvPr id="7" name="tag"/>
          <p:cNvSpPr/>
          <p:nvPr/>
        </p:nvSpPr>
        <p:spPr>
          <a:xfrm>
            <a:off x="5806440" y="1737360"/>
            <a:ext cx="1005840" cy="274320"/>
          </a:xfrm>
          <a:prstGeom prst="roundRect">
            <a:avLst>
              <a:gd name="adj" fmla="val 50000"/>
            </a:avLst>
          </a:prstGeom>
          <a:solidFill>
            <a:srgbClr val="14746F"/>
          </a:solidFill>
          <a:ln w="12700">
            <a:solidFill>
              <a:srgbClr val="14746F"/>
            </a:solidFill>
            <a:prstDash val="solid"/>
          </a:ln>
        </p:spPr>
      </p:sp>
      <p:sp>
        <p:nvSpPr>
          <p:cNvPr id="8" name="tag text"/>
          <p:cNvSpPr txBox="1"/>
          <p:nvPr/>
        </p:nvSpPr>
        <p:spPr>
          <a:xfrm>
            <a:off x="5806440" y="1737360"/>
            <a:ext cx="100584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9" name="lever text"/>
          <p:cNvSpPr txBox="1"/>
          <p:nvPr/>
        </p:nvSpPr>
        <p:spPr>
          <a:xfrm>
            <a:off x="731520" y="1417320"/>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One-click confirm</a:t>
            </a:r>
            <a:endParaRPr lang="en-US" sz="1500" dirty="0"/>
          </a:p>
          <a:p>
            <a:pPr indent="0" marL="0">
              <a:buNone/>
            </a:pPr>
            <a:r>
              <a:rPr lang="en-US" sz="1200" dirty="0">
                <a:solidFill>
                  <a:srgbClr val="17292B"/>
                </a:solidFill>
              </a:rPr>
              <a:t>Confirming needs no typed reason. Dismissing still does, because it overrides the engine.</a:t>
            </a:r>
            <a:endParaRPr lang="en-US" sz="1500" dirty="0"/>
          </a:p>
        </p:txBody>
      </p:sp>
      <p:sp>
        <p:nvSpPr>
          <p:cNvPr id="10" name="lever 2"/>
          <p:cNvSpPr/>
          <p:nvPr/>
        </p:nvSpPr>
        <p:spPr>
          <a:xfrm>
            <a:off x="548640" y="2441448"/>
            <a:ext cx="6400800" cy="914400"/>
          </a:xfrm>
          <a:prstGeom prst="roundRect">
            <a:avLst>
              <a:gd name="adj" fmla="val 12000"/>
            </a:avLst>
          </a:prstGeom>
          <a:solidFill>
            <a:srgbClr val="F2F6F5"/>
          </a:solidFill>
          <a:ln w="12700">
            <a:solidFill>
              <a:srgbClr val="F2F6F5"/>
            </a:solidFill>
            <a:prstDash val="solid"/>
          </a:ln>
        </p:spPr>
      </p:sp>
      <p:sp>
        <p:nvSpPr>
          <p:cNvPr id="11" name="tag"/>
          <p:cNvSpPr/>
          <p:nvPr/>
        </p:nvSpPr>
        <p:spPr>
          <a:xfrm>
            <a:off x="5806440" y="2761488"/>
            <a:ext cx="100584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5806440" y="2761488"/>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lever text"/>
          <p:cNvSpPr txBox="1"/>
          <p:nvPr/>
        </p:nvSpPr>
        <p:spPr>
          <a:xfrm>
            <a:off x="731520" y="2441448"/>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Bulk confirm</a:t>
            </a:r>
            <a:endParaRPr lang="en-US" sz="1500" dirty="0"/>
          </a:p>
          <a:p>
            <a:pPr indent="0" marL="0">
              <a:buNone/>
            </a:pPr>
            <a:r>
              <a:rPr lang="en-US" sz="1200" dirty="0">
                <a:solidFill>
                  <a:srgbClr val="17292B"/>
                </a:solidFill>
              </a:rPr>
              <a:t>For rules reviewers almost always uphold. A random share still gets a full review. Bulk decisions never count as evidence.</a:t>
            </a:r>
            <a:endParaRPr lang="en-US" sz="1500" dirty="0"/>
          </a:p>
        </p:txBody>
      </p:sp>
      <p:sp>
        <p:nvSpPr>
          <p:cNvPr id="14" name="lever 3"/>
          <p:cNvSpPr/>
          <p:nvPr/>
        </p:nvSpPr>
        <p:spPr>
          <a:xfrm>
            <a:off x="548640" y="3465576"/>
            <a:ext cx="6400800" cy="914400"/>
          </a:xfrm>
          <a:prstGeom prst="roundRect">
            <a:avLst>
              <a:gd name="adj" fmla="val 12000"/>
            </a:avLst>
          </a:prstGeom>
          <a:solidFill>
            <a:srgbClr val="F2F6F5"/>
          </a:solidFill>
          <a:ln w="12700">
            <a:solidFill>
              <a:srgbClr val="F2F6F5"/>
            </a:solidFill>
            <a:prstDash val="solid"/>
          </a:ln>
        </p:spPr>
      </p:sp>
      <p:sp>
        <p:nvSpPr>
          <p:cNvPr id="15" name="tag"/>
          <p:cNvSpPr/>
          <p:nvPr/>
        </p:nvSpPr>
        <p:spPr>
          <a:xfrm>
            <a:off x="5806440" y="3785616"/>
            <a:ext cx="1005840" cy="274320"/>
          </a:xfrm>
          <a:prstGeom prst="roundRect">
            <a:avLst>
              <a:gd name="adj" fmla="val 50000"/>
            </a:avLst>
          </a:prstGeom>
          <a:solidFill>
            <a:srgbClr val="D5E1DF"/>
          </a:solidFill>
          <a:ln w="12700">
            <a:solidFill>
              <a:srgbClr val="D5E1DF"/>
            </a:solidFill>
            <a:prstDash val="solid"/>
          </a:ln>
        </p:spPr>
      </p:sp>
      <p:sp>
        <p:nvSpPr>
          <p:cNvPr id="16" name="tag text"/>
          <p:cNvSpPr txBox="1"/>
          <p:nvPr/>
        </p:nvSpPr>
        <p:spPr>
          <a:xfrm>
            <a:off x="5806440" y="3785616"/>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7" name="lever text"/>
          <p:cNvSpPr txBox="1"/>
          <p:nvPr/>
        </p:nvSpPr>
        <p:spPr>
          <a:xfrm>
            <a:off x="731520" y="3465576"/>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Auto-clear green claims</a:t>
            </a:r>
            <a:endParaRPr lang="en-US" sz="1500" dirty="0"/>
          </a:p>
          <a:p>
            <a:pPr indent="0" marL="0">
              <a:buNone/>
            </a:pPr>
            <a:r>
              <a:rPr lang="en-US" sz="1200" dirty="0">
                <a:solidFill>
                  <a:srgbClr val="17292B"/>
                </a:solidFill>
              </a:rPr>
              <a:t>Pre-validation clearance only, with a random audit sample and an exact bound on the miss rate.</a:t>
            </a:r>
            <a:endParaRPr lang="en-US" sz="1500" dirty="0"/>
          </a:p>
        </p:txBody>
      </p:sp>
      <p:sp>
        <p:nvSpPr>
          <p:cNvPr id="18" name="lever 4"/>
          <p:cNvSpPr/>
          <p:nvPr/>
        </p:nvSpPr>
        <p:spPr>
          <a:xfrm>
            <a:off x="548640" y="4489704"/>
            <a:ext cx="6400800" cy="914400"/>
          </a:xfrm>
          <a:prstGeom prst="roundRect">
            <a:avLst>
              <a:gd name="adj" fmla="val 12000"/>
            </a:avLst>
          </a:prstGeom>
          <a:solidFill>
            <a:srgbClr val="F2F6F5"/>
          </a:solidFill>
          <a:ln w="12700">
            <a:solidFill>
              <a:srgbClr val="F2F6F5"/>
            </a:solidFill>
            <a:prstDash val="solid"/>
          </a:ln>
        </p:spPr>
      </p:sp>
      <p:sp>
        <p:nvSpPr>
          <p:cNvPr id="19" name="tag"/>
          <p:cNvSpPr/>
          <p:nvPr/>
        </p:nvSpPr>
        <p:spPr>
          <a:xfrm>
            <a:off x="5806440" y="4809744"/>
            <a:ext cx="1005840" cy="274320"/>
          </a:xfrm>
          <a:prstGeom prst="roundRect">
            <a:avLst>
              <a:gd name="adj" fmla="val 50000"/>
            </a:avLst>
          </a:prstGeom>
          <a:solidFill>
            <a:srgbClr val="D5E1DF"/>
          </a:solidFill>
          <a:ln w="12700">
            <a:solidFill>
              <a:srgbClr val="D5E1DF"/>
            </a:solidFill>
            <a:prstDash val="solid"/>
          </a:ln>
        </p:spPr>
      </p:sp>
      <p:sp>
        <p:nvSpPr>
          <p:cNvPr id="20" name="tag text"/>
          <p:cNvSpPr txBox="1"/>
          <p:nvPr/>
        </p:nvSpPr>
        <p:spPr>
          <a:xfrm>
            <a:off x="5806440" y="4809744"/>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21" name="lever text"/>
          <p:cNvSpPr txBox="1"/>
          <p:nvPr/>
        </p:nvSpPr>
        <p:spPr>
          <a:xfrm>
            <a:off x="731520" y="4489704"/>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Auto-request information</a:t>
            </a:r>
            <a:endParaRPr lang="en-US" sz="1500" dirty="0"/>
          </a:p>
          <a:p>
            <a:pPr indent="0" marL="0">
              <a:buNone/>
            </a:pPr>
            <a:r>
              <a:rPr lang="en-US" sz="1200" dirty="0">
                <a:solidFill>
                  <a:srgbClr val="17292B"/>
                </a:solidFill>
              </a:rPr>
              <a:t>For UNABLE_TO_ASSESS findings. The audit sample goes to a person.</a:t>
            </a:r>
            <a:endParaRPr lang="en-US" sz="1500" dirty="0"/>
          </a:p>
        </p:txBody>
      </p:sp>
      <p:sp>
        <p:nvSpPr>
          <p:cNvPr id="22" name="stat"/>
          <p:cNvSpPr txBox="1"/>
          <p:nvPr/>
        </p:nvSpPr>
        <p:spPr>
          <a:xfrm>
            <a:off x="7406640" y="1417320"/>
            <a:ext cx="21031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-39%</a:t>
            </a:r>
            <a:endParaRPr lang="en-US" sz="4400" dirty="0"/>
          </a:p>
        </p:txBody>
      </p:sp>
      <p:sp>
        <p:nvSpPr>
          <p:cNvPr id="23" name="stat label"/>
          <p:cNvSpPr txBox="1"/>
          <p:nvPr/>
        </p:nvSpPr>
        <p:spPr>
          <a:xfrm>
            <a:off x="7406640" y="2286000"/>
            <a:ext cx="2103120" cy="822960"/>
          </a:xfrm>
          <a:prstGeom prst="rect">
            <a:avLst/>
          </a:prstGeom>
          <a:noFill/>
          <a:ln/>
        </p:spPr>
        <p:txBody>
          <a:bodyPr wrap="square" lIns="0" tIns="0" rIns="0" bIns="0" rtlCol="0" anchor="t"/>
          <a:lstStyle/>
          <a:p>
            <a:pPr indent="0" marL="0">
              <a:buNone/>
            </a:pPr>
            <a:r>
              <a:rPr lang="en-US" sz="1400" dirty="0">
                <a:solidFill>
                  <a:srgbClr val="5C7173"/>
                </a:solidFill>
              </a:rPr>
              <a:t>findings a person decides per 500 claims: 650 to 399</a:t>
            </a:r>
            <a:endParaRPr lang="en-US" sz="1400" dirty="0"/>
          </a:p>
        </p:txBody>
      </p:sp>
      <p:sp>
        <p:nvSpPr>
          <p:cNvPr id="24" name="stat"/>
          <p:cNvSpPr txBox="1"/>
          <p:nvPr/>
        </p:nvSpPr>
        <p:spPr>
          <a:xfrm>
            <a:off x="9601200" y="1417320"/>
            <a:ext cx="201168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a:t>
            </a:r>
            <a:endParaRPr lang="en-US" sz="4400" dirty="0"/>
          </a:p>
        </p:txBody>
      </p:sp>
      <p:sp>
        <p:nvSpPr>
          <p:cNvPr id="25" name="stat label"/>
          <p:cNvSpPr txBox="1"/>
          <p:nvPr/>
        </p:nvSpPr>
        <p:spPr>
          <a:xfrm>
            <a:off x="9601200" y="2286000"/>
            <a:ext cx="2011680" cy="822960"/>
          </a:xfrm>
          <a:prstGeom prst="rect">
            <a:avLst/>
          </a:prstGeom>
          <a:noFill/>
          <a:ln/>
        </p:spPr>
        <p:txBody>
          <a:bodyPr wrap="square" lIns="0" tIns="0" rIns="0" bIns="0" rtlCol="0" anchor="t"/>
          <a:lstStyle/>
          <a:p>
            <a:pPr indent="0" marL="0">
              <a:buNone/>
            </a:pPr>
            <a:r>
              <a:rPr lang="en-US" sz="1400" dirty="0">
                <a:solidFill>
                  <a:srgbClr val="5C7173"/>
                </a:solidFill>
              </a:rPr>
              <a:t>wrong against the answer key</a:t>
            </a:r>
            <a:endParaRPr lang="en-US" sz="1400" dirty="0"/>
          </a:p>
        </p:txBody>
      </p:sp>
      <p:sp>
        <p:nvSpPr>
          <p:cNvPr id="26" name="honesty card"/>
          <p:cNvSpPr/>
          <p:nvPr/>
        </p:nvSpPr>
        <p:spPr>
          <a:xfrm>
            <a:off x="7406640" y="3429000"/>
            <a:ext cx="4206240" cy="2651760"/>
          </a:xfrm>
          <a:prstGeom prst="roundRect">
            <a:avLst>
              <a:gd name="adj" fmla="val 4138"/>
            </a:avLst>
          </a:prstGeom>
          <a:solidFill>
            <a:srgbClr val="0E3B3F"/>
          </a:solidFill>
          <a:ln w="12700">
            <a:solidFill>
              <a:srgbClr val="0E3B3F"/>
            </a:solidFill>
            <a:prstDash val="solid"/>
          </a:ln>
        </p:spPr>
      </p:sp>
      <p:sp>
        <p:nvSpPr>
          <p:cNvPr id="27" name="h"/>
          <p:cNvSpPr txBox="1"/>
          <p:nvPr/>
        </p:nvSpPr>
        <p:spPr>
          <a:xfrm>
            <a:off x="7635240" y="3520440"/>
            <a:ext cx="37490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is not known</a:t>
            </a:r>
            <a:endParaRPr lang="en-US" sz="1700" dirty="0"/>
          </a:p>
        </p:txBody>
      </p:sp>
      <p:sp>
        <p:nvSpPr>
          <p:cNvPr id="28" name="honesty text"/>
          <p:cNvSpPr txBox="1"/>
          <p:nvPr/>
        </p:nvSpPr>
        <p:spPr>
          <a:xfrm>
            <a:off x="7635240" y="3931920"/>
            <a:ext cx="3749040" cy="2011680"/>
          </a:xfrm>
          <a:prstGeom prst="rect">
            <a:avLst/>
          </a:prstGeom>
          <a:noFill/>
          <a:ln/>
        </p:spPr>
        <p:txBody>
          <a:bodyPr wrap="square" lIns="0" tIns="0" rIns="0" bIns="0" rtlCol="0" anchor="t"/>
          <a:lstStyle/>
          <a:p>
            <a:pPr indent="0" marL="0">
              <a:buNone/>
            </a:pPr>
            <a:r>
              <a:rPr lang="en-US" sz="1400" dirty="0">
                <a:solidFill>
                  <a:srgbClr val="DDEEEB"/>
                </a:solidFill>
              </a:rPr>
              <a:t>Time per finding has not been measured. The savings are counted in decisions, on the real pipeline with simulated reviewers. The first real step is a timed session with a few officers.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Learning from feedback, and a model we set aside</a:t>
            </a:r>
            <a:endParaRPr lang="en-US" sz="3200" dirty="0"/>
          </a:p>
        </p:txBody>
      </p:sp>
      <p:sp>
        <p:nvSpPr>
          <p:cNvPr id="4" name="left"/>
          <p:cNvSpPr/>
          <p:nvPr/>
        </p:nvSpPr>
        <p:spPr>
          <a:xfrm>
            <a:off x="548640" y="1417320"/>
            <a:ext cx="5394960" cy="4572000"/>
          </a:xfrm>
          <a:prstGeom prst="roundRect">
            <a:avLst>
              <a:gd name="adj" fmla="val 2400"/>
            </a:avLst>
          </a:prstGeom>
          <a:solidFill>
            <a:srgbClr val="F2F6F5"/>
          </a:solidFill>
          <a:ln w="12700">
            <a:solidFill>
              <a:srgbClr val="F2F6F5"/>
            </a:solidFill>
            <a:prstDash val="solid"/>
          </a:ln>
        </p:spPr>
      </p:sp>
      <p:sp>
        <p:nvSpPr>
          <p:cNvPr id="5" name="h"/>
          <p:cNvSpPr txBox="1"/>
          <p:nvPr/>
        </p:nvSpPr>
        <p:spPr>
          <a:xfrm>
            <a:off x="77724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Workload report (live)</a:t>
            </a:r>
            <a:endParaRPr lang="en-US" sz="1800" dirty="0"/>
          </a:p>
        </p:txBody>
      </p:sp>
      <p:sp>
        <p:nvSpPr>
          <p:cNvPr id="6" name="bullets"/>
          <p:cNvSpPr txBox="1"/>
          <p:nvPr/>
        </p:nvSpPr>
        <p:spPr>
          <a:xfrm>
            <a:off x="777240" y="2011680"/>
            <a:ext cx="4937760"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Reads reviewer confirmations and dismissals per rule</a:t>
            </a:r>
            <a:endParaRPr lang="en-US" sz="1500" dirty="0"/>
          </a:p>
          <a:p>
            <a:pPr marL="203200" indent="-203200">
              <a:spcAft>
                <a:spcPts val="600"/>
              </a:spcAft>
              <a:buSzPct val="100000"/>
              <a:buChar char="•"/>
            </a:pPr>
            <a:r>
              <a:rPr lang="en-US" sz="1500" dirty="0">
                <a:solidFill>
                  <a:srgbClr val="17292B"/>
                </a:solidFill>
              </a:rPr>
              <a:t>Lists rules reviewers keep overriding: candidates to retune</a:t>
            </a:r>
            <a:endParaRPr lang="en-US" sz="1500" dirty="0"/>
          </a:p>
          <a:p>
            <a:pPr marL="203200" indent="-203200">
              <a:spcAft>
                <a:spcPts val="600"/>
              </a:spcAft>
              <a:buSzPct val="100000"/>
              <a:buChar char="•"/>
            </a:pPr>
            <a:r>
              <a:rPr lang="en-US" sz="1500" dirty="0">
                <a:solidFill>
                  <a:srgbClr val="17292B"/>
                </a:solidFill>
              </a:rPr>
              <a:t>Lists rules almost always upheld: candidates for light review, with a bounded price</a:t>
            </a:r>
            <a:endParaRPr lang="en-US" sz="1500" dirty="0"/>
          </a:p>
          <a:p>
            <a:pPr marL="203200" indent="-203200">
              <a:spcAft>
                <a:spcPts val="600"/>
              </a:spcAft>
              <a:buSzPct val="100000"/>
              <a:buChar char="•"/>
            </a:pPr>
            <a:r>
              <a:rPr lang="en-US" sz="1500" dirty="0">
                <a:solidFill>
                  <a:srgbClr val="17292B"/>
                </a:solidFill>
              </a:rPr>
              <a:t>Read-only. It changes nothing by itself</a:t>
            </a:r>
            <a:endParaRPr lang="en-US" sz="1500" dirty="0"/>
          </a:p>
        </p:txBody>
      </p:sp>
      <p:sp>
        <p:nvSpPr>
          <p:cNvPr id="7" name="note"/>
          <p:cNvSpPr txBox="1"/>
          <p:nvPr/>
        </p:nvSpPr>
        <p:spPr>
          <a:xfrm>
            <a:off x="777240" y="4572000"/>
            <a:ext cx="4937760" cy="1188720"/>
          </a:xfrm>
          <a:prstGeom prst="rect">
            <a:avLst/>
          </a:prstGeom>
          <a:noFill/>
          <a:ln/>
        </p:spPr>
        <p:txBody>
          <a:bodyPr wrap="square" lIns="0" tIns="0" rIns="0" bIns="0" rtlCol="0" anchor="t"/>
          <a:lstStyle/>
          <a:p>
            <a:pPr indent="0" marL="0">
              <a:buNone/>
            </a:pPr>
            <a:r>
              <a:rPr lang="en-US" sz="1300" i="1" dirty="0">
                <a:solidFill>
                  <a:srgbClr val="5C7173"/>
                </a:solidFill>
              </a:rPr>
              <a:t>In simulation both bad rules were found in 20 of 20 histories after 5,000 decisions, with 0 false alarms.</a:t>
            </a:r>
            <a:endParaRPr lang="en-US" sz="1300" dirty="0"/>
          </a:p>
        </p:txBody>
      </p:sp>
      <p:sp>
        <p:nvSpPr>
          <p:cNvPr id="8" name="right"/>
          <p:cNvSpPr/>
          <p:nvPr/>
        </p:nvSpPr>
        <p:spPr>
          <a:xfrm>
            <a:off x="6217920" y="1417320"/>
            <a:ext cx="5394960" cy="4572000"/>
          </a:xfrm>
          <a:prstGeom prst="roundRect">
            <a:avLst>
              <a:gd name="adj" fmla="val 2400"/>
            </a:avLst>
          </a:prstGeom>
          <a:solidFill>
            <a:srgbClr val="F2F6F5"/>
          </a:solidFill>
          <a:ln w="12700">
            <a:solidFill>
              <a:srgbClr val="F2F6F5"/>
            </a:solidFill>
            <a:prstDash val="solid"/>
          </a:ln>
        </p:spPr>
      </p:sp>
      <p:sp>
        <p:nvSpPr>
          <p:cNvPr id="9" name="h"/>
          <p:cNvSpPr txBox="1"/>
          <p:nvPr/>
        </p:nvSpPr>
        <p:spPr>
          <a:xfrm>
            <a:off x="644652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Laya fine-tune (archived)</a:t>
            </a:r>
            <a:endParaRPr lang="en-US" sz="18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6446520" y="2011680"/>
          <a:ext cx="4937760" cy="914400"/>
        </p:xfrm>
        <a:graphic>
          <a:graphicData uri="http://schemas.openxmlformats.org/drawingml/2006/table">
            <a:tbl>
              <a:tblPr/>
              <a:tblGrid>
                <a:gridCol w="2377440"/>
                <a:gridCol w="1280160"/>
                <a:gridCol w="1280160"/>
              </a:tblGrid>
              <a:tr h="365760">
                <a:tc>
                  <a:txBody>
                    <a:bodyPr/>
                    <a:lstStyle/>
                    <a:p>
                      <a:pPr indent="0" marL="0">
                        <a:buNone/>
                      </a:pPr>
                      <a:r>
                        <a:rPr lang="en-US" sz="1300" b="1" dirty="0">
                          <a:solidFill>
                            <a:srgbClr val="FFFFFF"/>
                          </a:solidFill>
                        </a:rPr>
                        <a:t>Test split, 150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Accuracy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Macro-F1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365760">
                <a:tc>
                  <a:txBody>
                    <a:bodyPr/>
                    <a:lstStyle/>
                    <a:p>
                      <a:pPr indent="0" marL="0">
                        <a:buNone/>
                      </a:pPr>
                      <a:r>
                        <a:rPr lang="en-US" sz="1300" dirty="0">
                          <a:solidFill>
                            <a:srgbClr val="17292B"/>
                          </a:solidFill>
                        </a:rPr>
                        <a:t>Zero-shot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0.631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0.289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7292B"/>
                          </a:solidFill>
                        </a:rPr>
                        <a:t>Fine-tuned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0.971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0.915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365760">
                <a:tc>
                  <a:txBody>
                    <a:bodyPr/>
                    <a:lstStyle/>
                    <a:p>
                      <a:pPr indent="0" marL="0">
                        <a:buNone/>
                      </a:pPr>
                      <a:r>
                        <a:rPr lang="en-US" sz="1300" dirty="0">
                          <a:solidFill>
                            <a:srgbClr val="17292B"/>
                          </a:solidFill>
                        </a:rPr>
                        <a:t>Always guess PASS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0.835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11" name="bullets"/>
          <p:cNvSpPr txBox="1"/>
          <p:nvPr/>
        </p:nvSpPr>
        <p:spPr>
          <a:xfrm>
            <a:off x="6446520" y="365760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It learned the rulebook, well calibrated (ECE 0.027), but finds only 64% of real FAILs</a:t>
            </a:r>
            <a:endParaRPr lang="en-US" sz="1400" dirty="0"/>
          </a:p>
          <a:p>
            <a:pPr marL="203200" indent="-203200">
              <a:spcAft>
                <a:spcPts val="600"/>
              </a:spcAft>
              <a:buSzPct val="100000"/>
              <a:buChar char="•"/>
            </a:pPr>
            <a:r>
              <a:rPr lang="en-US" sz="1400" dirty="0">
                <a:solidFill>
                  <a:srgbClr val="17292B"/>
                </a:solidFill>
              </a:rPr>
              <a:t>Its labels are the engine's own, so after the engine it cannot save an operator any time</a:t>
            </a:r>
            <a:endParaRPr lang="en-US" sz="1400" dirty="0"/>
          </a:p>
          <a:p>
            <a:pPr marL="203200" indent="-203200">
              <a:spcAft>
                <a:spcPts val="600"/>
              </a:spcAft>
              <a:buSzPct val="100000"/>
              <a:buChar char="•"/>
            </a:pPr>
            <a:r>
              <a:rPr lang="en-US" sz="1400" dirty="0">
                <a:solidFill>
                  <a:srgbClr val="17292B"/>
                </a:solidFill>
              </a:rPr>
              <a:t>Archived, not in the decision path. A confidence is never shown as a probability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Advisory checks that stay out of the official result</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822960"/>
                <a:gridCol w="4754880"/>
                <a:gridCol w="1188720"/>
              </a:tblGrid>
              <a:tr h="457200">
                <a:tc>
                  <a:txBody>
                    <a:bodyPr/>
                    <a:lstStyle/>
                    <a:p>
                      <a:pPr indent="0" marL="0">
                        <a:buNone/>
                      </a:pPr>
                      <a:r>
                        <a:rPr lang="en-US" sz="1300" b="1" dirty="0">
                          <a:solidFill>
                            <a:srgbClr val="FFFFFF"/>
                          </a:solidFill>
                        </a:rPr>
                        <a:t>Rule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What it looks for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Severity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E001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Procedure pair billed without an exception modifier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Exception modifier on a never-bundle pair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Event date required by the diagnosis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Route of administration missing</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Diagnosis cannot be the primary one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A line duplicates one on an earlier claim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E102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Authorization exhausted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Daily quantity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rules card"/>
          <p:cNvSpPr/>
          <p:nvPr/>
        </p:nvSpPr>
        <p:spPr>
          <a:xfrm>
            <a:off x="7589520" y="1417320"/>
            <a:ext cx="4023360" cy="3749040"/>
          </a:xfrm>
          <a:prstGeom prst="roundRect">
            <a:avLst>
              <a:gd name="adj" fmla="val 2927"/>
            </a:avLst>
          </a:prstGeom>
          <a:solidFill>
            <a:srgbClr val="F2F6F5"/>
          </a:solidFill>
          <a:ln w="12700">
            <a:solidFill>
              <a:srgbClr val="F2F6F5"/>
            </a:solidFill>
            <a:prstDash val="solid"/>
          </a:ln>
        </p:spPr>
      </p:sp>
      <p:sp>
        <p:nvSpPr>
          <p:cNvPr id="6" name="h"/>
          <p:cNvSpPr txBox="1"/>
          <p:nvPr/>
        </p:nvSpPr>
        <p:spPr>
          <a:xfrm>
            <a:off x="7818120" y="1508760"/>
            <a:ext cx="35661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they are separate</a:t>
            </a:r>
            <a:endParaRPr lang="en-US" sz="1700" dirty="0"/>
          </a:p>
        </p:txBody>
      </p:sp>
      <p:sp>
        <p:nvSpPr>
          <p:cNvPr id="7" name="bullets"/>
          <p:cNvSpPr txBox="1"/>
          <p:nvPr/>
        </p:nvSpPr>
        <p:spPr>
          <a:xfrm>
            <a:off x="7818120" y="1965960"/>
            <a:ext cx="3611880" cy="31089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Own ids, file and schema. They never change an official result</a:t>
            </a:r>
            <a:endParaRPr lang="en-US" sz="1350" dirty="0"/>
          </a:p>
          <a:p>
            <a:pPr marL="203200" indent="-203200">
              <a:spcAft>
                <a:spcPts val="600"/>
              </a:spcAft>
              <a:buSzPct val="100000"/>
              <a:buChar char="•"/>
            </a:pPr>
            <a:r>
              <a:rPr lang="en-US" sz="1350" dirty="0">
                <a:solidFill>
                  <a:srgbClr val="17292B"/>
                </a:solidFill>
              </a:rPr>
              <a:t>E102 is the cross-claim authorization usage you described, on explicitly synthetic history</a:t>
            </a:r>
            <a:endParaRPr lang="en-US" sz="1350" dirty="0"/>
          </a:p>
          <a:p>
            <a:pPr marL="203200" indent="-203200">
              <a:spcAft>
                <a:spcPts val="600"/>
              </a:spcAft>
              <a:buSzPct val="100000"/>
              <a:buChar char="•"/>
            </a:pPr>
            <a:r>
              <a:rPr lang="en-US" sz="1350" dirty="0">
                <a:solidFill>
                  <a:srgbClr val="17292B"/>
                </a:solidFill>
              </a:rPr>
              <a:t>E001 to E005 cannot fire on public data by design: they use invented codes</a:t>
            </a:r>
            <a:endParaRPr lang="en-US" sz="1350" dirty="0"/>
          </a:p>
          <a:p>
            <a:pPr marL="203200" indent="-203200">
              <a:spcAft>
                <a:spcPts val="600"/>
              </a:spcAft>
              <a:buSzPct val="100000"/>
              <a:buChar char="•"/>
            </a:pPr>
            <a:r>
              <a:rPr lang="en-US" sz="1350" dirty="0">
                <a:solidFill>
                  <a:srgbClr val="17292B"/>
                </a:solidFill>
              </a:rPr>
              <a:t>4,800 of 4,800 results agree with an independent oracle</a:t>
            </a:r>
            <a:endParaRPr lang="en-US" sz="1350" dirty="0"/>
          </a:p>
        </p:txBody>
      </p:sp>
      <p:sp>
        <p:nvSpPr>
          <p:cNvPr id="8" name="footnote"/>
          <p:cNvSpPr txBox="1"/>
          <p:nvPr/>
        </p:nvSpPr>
        <p:spPr>
          <a:xfrm>
            <a:off x="548640" y="58521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E102 fires only when earlier claims contributed units, so it never double-reports what R009 already fails.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Security: attacked, mutated and fuzzed before you did it</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116</a:t>
            </a:r>
            <a:endParaRPr lang="en-US" sz="48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black-box attack checks, all passing</a:t>
            </a:r>
            <a:endParaRPr lang="en-US" sz="1400" dirty="0"/>
          </a:p>
        </p:txBody>
      </p:sp>
      <p:sp>
        <p:nvSpPr>
          <p:cNvPr id="6" name="stat"/>
          <p:cNvSpPr txBox="1"/>
          <p:nvPr/>
        </p:nvSpPr>
        <p:spPr>
          <a:xfrm>
            <a:off x="338328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93</a:t>
            </a:r>
            <a:endParaRPr lang="en-US" sz="4800" dirty="0"/>
          </a:p>
        </p:txBody>
      </p:sp>
      <p:sp>
        <p:nvSpPr>
          <p:cNvPr id="7" name="stat label"/>
          <p:cNvSpPr txBox="1"/>
          <p:nvPr/>
        </p:nvSpPr>
        <p:spPr>
          <a:xfrm>
            <a:off x="338328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deliberate breakages of the security and queue rules, each caught by a test</a:t>
            </a:r>
            <a:endParaRPr lang="en-US" sz="1400" dirty="0"/>
          </a:p>
        </p:txBody>
      </p:sp>
      <p:sp>
        <p:nvSpPr>
          <p:cNvPr id="8" name="stat"/>
          <p:cNvSpPr txBox="1"/>
          <p:nvPr/>
        </p:nvSpPr>
        <p:spPr>
          <a:xfrm>
            <a:off x="621792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400,000</a:t>
            </a:r>
            <a:endParaRPr lang="en-US" sz="4800" dirty="0"/>
          </a:p>
        </p:txBody>
      </p:sp>
      <p:sp>
        <p:nvSpPr>
          <p:cNvPr id="9" name="stat label"/>
          <p:cNvSpPr txBox="1"/>
          <p:nvPr/>
        </p:nvSpPr>
        <p:spPr>
          <a:xfrm>
            <a:off x="621792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fuzzed requests through the API</a:t>
            </a:r>
            <a:endParaRPr lang="en-US" sz="1400" dirty="0"/>
          </a:p>
        </p:txBody>
      </p:sp>
      <p:sp>
        <p:nvSpPr>
          <p:cNvPr id="10" name="stat"/>
          <p:cNvSpPr txBox="1"/>
          <p:nvPr/>
        </p:nvSpPr>
        <p:spPr>
          <a:xfrm>
            <a:off x="905256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50</a:t>
            </a:r>
            <a:endParaRPr lang="en-US" sz="4800" dirty="0"/>
          </a:p>
        </p:txBody>
      </p:sp>
      <p:sp>
        <p:nvSpPr>
          <p:cNvPr id="11" name="stat label"/>
          <p:cNvSpPr txBox="1"/>
          <p:nvPr/>
        </p:nvSpPr>
        <p:spPr>
          <a:xfrm>
            <a:off x="905256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checks on the deployment: nothing but the proxy reachable</a:t>
            </a:r>
            <a:endParaRPr lang="en-US" sz="1400" dirty="0"/>
          </a:p>
        </p:txBody>
      </p:sp>
      <p:sp>
        <p:nvSpPr>
          <p:cNvPr id="12" name="sec 1"/>
          <p:cNvSpPr/>
          <p:nvPr/>
        </p:nvSpPr>
        <p:spPr>
          <a:xfrm>
            <a:off x="548640" y="3291840"/>
            <a:ext cx="5440680" cy="1234440"/>
          </a:xfrm>
          <a:prstGeom prst="roundRect">
            <a:avLst>
              <a:gd name="adj" fmla="val 8889"/>
            </a:avLst>
          </a:prstGeom>
          <a:solidFill>
            <a:srgbClr val="F2F6F5"/>
          </a:solidFill>
          <a:ln w="12700">
            <a:solidFill>
              <a:srgbClr val="F2F6F5"/>
            </a:solidFill>
            <a:prstDash val="solid"/>
          </a:ln>
        </p:spPr>
      </p:sp>
      <p:sp>
        <p:nvSpPr>
          <p:cNvPr id="13" name="sec text"/>
          <p:cNvSpPr txBox="1"/>
          <p:nvPr/>
        </p:nvSpPr>
        <p:spPr>
          <a:xfrm>
            <a:off x="73152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Identity</a:t>
            </a:r>
            <a:endParaRPr lang="en-US" sz="1500" dirty="0"/>
          </a:p>
          <a:p>
            <a:pPr indent="0" marL="0">
              <a:buNone/>
            </a:pPr>
            <a:r>
              <a:rPr lang="en-US" sz="1250" dirty="0">
                <a:solidFill>
                  <a:srgbClr val="17292B"/>
                </a:solidFill>
              </a:rPr>
              <a:t>badge, password, authenticator code. Four clearance levels, enforced on the server. A hidden action is not offered, not just disabled</a:t>
            </a:r>
            <a:endParaRPr lang="en-US" sz="1500" dirty="0"/>
          </a:p>
        </p:txBody>
      </p:sp>
      <p:sp>
        <p:nvSpPr>
          <p:cNvPr id="14" name="sec 2"/>
          <p:cNvSpPr/>
          <p:nvPr/>
        </p:nvSpPr>
        <p:spPr>
          <a:xfrm>
            <a:off x="6126480" y="3291840"/>
            <a:ext cx="5440680" cy="1234440"/>
          </a:xfrm>
          <a:prstGeom prst="roundRect">
            <a:avLst>
              <a:gd name="adj" fmla="val 8889"/>
            </a:avLst>
          </a:prstGeom>
          <a:solidFill>
            <a:srgbClr val="F2F6F5"/>
          </a:solidFill>
          <a:ln w="12700">
            <a:solidFill>
              <a:srgbClr val="F2F6F5"/>
            </a:solidFill>
            <a:prstDash val="solid"/>
          </a:ln>
        </p:spPr>
      </p:sp>
      <p:sp>
        <p:nvSpPr>
          <p:cNvPr id="15" name="sec text"/>
          <p:cNvSpPr txBox="1"/>
          <p:nvPr/>
        </p:nvSpPr>
        <p:spPr>
          <a:xfrm>
            <a:off x="630936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Privacy</a:t>
            </a:r>
            <a:endParaRPr lang="en-US" sz="1500" dirty="0"/>
          </a:p>
          <a:p>
            <a:pPr indent="0" marL="0">
              <a:buNone/>
            </a:pPr>
            <a:r>
              <a:rPr lang="en-US" sz="1250" dirty="0">
                <a:solidFill>
                  <a:srgbClr val="17292B"/>
                </a:solidFill>
              </a:rPr>
              <a:t>reviewers see pseudonyms. Unmasking needs its own permission, a reason without the identifier, and an hourly limit</a:t>
            </a:r>
            <a:endParaRPr lang="en-US" sz="1500" dirty="0"/>
          </a:p>
        </p:txBody>
      </p:sp>
      <p:sp>
        <p:nvSpPr>
          <p:cNvPr id="16" name="sec 3"/>
          <p:cNvSpPr/>
          <p:nvPr/>
        </p:nvSpPr>
        <p:spPr>
          <a:xfrm>
            <a:off x="548640" y="4663440"/>
            <a:ext cx="5440680" cy="1234440"/>
          </a:xfrm>
          <a:prstGeom prst="roundRect">
            <a:avLst>
              <a:gd name="adj" fmla="val 8889"/>
            </a:avLst>
          </a:prstGeom>
          <a:solidFill>
            <a:srgbClr val="F2F6F5"/>
          </a:solidFill>
          <a:ln w="12700">
            <a:solidFill>
              <a:srgbClr val="F2F6F5"/>
            </a:solidFill>
            <a:prstDash val="solid"/>
          </a:ln>
        </p:spPr>
      </p:sp>
      <p:sp>
        <p:nvSpPr>
          <p:cNvPr id="17" name="sec text"/>
          <p:cNvSpPr txBox="1"/>
          <p:nvPr/>
        </p:nvSpPr>
        <p:spPr>
          <a:xfrm>
            <a:off x="73152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Two people</a:t>
            </a:r>
            <a:endParaRPr lang="en-US" sz="1500" dirty="0"/>
          </a:p>
          <a:p>
            <a:pPr indent="0" marL="0">
              <a:buNone/>
            </a:pPr>
            <a:r>
              <a:rPr lang="en-US" sz="1250" dirty="0">
                <a:solidFill>
                  <a:srgbClr val="17292B"/>
                </a:solidFill>
              </a:rPr>
              <a:t>the most dangerous administrator actions need a second administrator with a fresh code</a:t>
            </a:r>
            <a:endParaRPr lang="en-US" sz="1500" dirty="0"/>
          </a:p>
        </p:txBody>
      </p:sp>
      <p:sp>
        <p:nvSpPr>
          <p:cNvPr id="18" name="sec 4"/>
          <p:cNvSpPr/>
          <p:nvPr/>
        </p:nvSpPr>
        <p:spPr>
          <a:xfrm>
            <a:off x="6126480" y="4663440"/>
            <a:ext cx="5440680" cy="1234440"/>
          </a:xfrm>
          <a:prstGeom prst="roundRect">
            <a:avLst>
              <a:gd name="adj" fmla="val 8889"/>
            </a:avLst>
          </a:prstGeom>
          <a:solidFill>
            <a:srgbClr val="F2F6F5"/>
          </a:solidFill>
          <a:ln w="12700">
            <a:solidFill>
              <a:srgbClr val="F2F6F5"/>
            </a:solidFill>
            <a:prstDash val="solid"/>
          </a:ln>
        </p:spPr>
      </p:sp>
      <p:sp>
        <p:nvSpPr>
          <p:cNvPr id="19" name="sec text"/>
          <p:cNvSpPr txBox="1"/>
          <p:nvPr/>
        </p:nvSpPr>
        <p:spPr>
          <a:xfrm>
            <a:off x="630936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At rest</a:t>
            </a:r>
            <a:endParaRPr lang="en-US" sz="1500" dirty="0"/>
          </a:p>
          <a:p>
            <a:pPr indent="0" marL="0">
              <a:buNone/>
            </a:pPr>
            <a:r>
              <a:rPr lang="en-US" sz="1250" dirty="0">
                <a:solidFill>
                  <a:srgbClr val="17292B"/>
                </a:solidFill>
              </a:rPr>
              <a:t>claims, results and corrections are encrypted in MongoDB. Audit logs encrypted, key rotation tested</a:t>
            </a:r>
            <a:endParaRPr lang="en-US" sz="1500" dirty="0"/>
          </a:p>
        </p:txBody>
      </p:sp>
      <p:sp>
        <p:nvSpPr>
          <p:cNvPr id="20"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Not done: nobody outside the team has attacked it, and a lone administrator or one person holding two accounts is logged but not prevented.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Everything is on record, and an edit is caught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377440"/>
                <a:gridCol w="4572000"/>
              </a:tblGrid>
              <a:tr h="566928">
                <a:tc>
                  <a:txBody>
                    <a:bodyPr/>
                    <a:lstStyle/>
                    <a:p>
                      <a:pPr indent="0" marL="0">
                        <a:buNone/>
                      </a:pPr>
                      <a:r>
                        <a:rPr lang="en-US" sz="1350" b="1" dirty="0">
                          <a:solidFill>
                            <a:srgbClr val="FFFFFF"/>
                          </a:solidFill>
                        </a:rPr>
                        <a:t>Moment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What is written</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66928">
                <a:tc>
                  <a:txBody>
                    <a:bodyPr/>
                    <a:lstStyle/>
                    <a:p>
                      <a:pPr indent="0" marL="0">
                        <a:buNone/>
                      </a:pPr>
                      <a:r>
                        <a:rPr lang="en-US" sz="1350" dirty="0">
                          <a:solidFill>
                            <a:srgbClr val="17292B"/>
                          </a:solidFill>
                        </a:rPr>
                        <a:t>Claim received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input hash, rule pack hash, result hash, lane and score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finding is decided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badge, action, reason, original status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 what-if is tried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who, which claim, how many changes (nothing else is kept)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correction is saved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both versions linked by input hash, each change from and to, findings cleared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An identifier is unmasked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badge, claim, reason, counted against an hourly limit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tamper card"/>
          <p:cNvSpPr/>
          <p:nvPr/>
        </p:nvSpPr>
        <p:spPr>
          <a:xfrm>
            <a:off x="7772400" y="1417320"/>
            <a:ext cx="3840480" cy="3429000"/>
          </a:xfrm>
          <a:prstGeom prst="roundRect">
            <a:avLst>
              <a:gd name="adj" fmla="val 3200"/>
            </a:avLst>
          </a:prstGeom>
          <a:solidFill>
            <a:srgbClr val="0E3B3F"/>
          </a:solidFill>
          <a:ln w="12700">
            <a:solidFill>
              <a:srgbClr val="0E3B3F"/>
            </a:solidFill>
            <a:prstDash val="solid"/>
          </a:ln>
        </p:spPr>
      </p:sp>
      <p:sp>
        <p:nvSpPr>
          <p:cNvPr id="6" name="h"/>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Tamper evidence</a:t>
            </a:r>
            <a:endParaRPr lang="en-US" sz="1700" dirty="0"/>
          </a:p>
        </p:txBody>
      </p:sp>
      <p:sp>
        <p:nvSpPr>
          <p:cNvPr id="7" name="tamper text"/>
          <p:cNvSpPr txBox="1"/>
          <p:nvPr/>
        </p:nvSpPr>
        <p:spPr>
          <a:xfrm>
            <a:off x="8001000" y="1965960"/>
            <a:ext cx="3429000" cy="28346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DDEEEB"/>
                </a:solidFill>
              </a:rPr>
              <a:t>Hash-chained, signed logs</a:t>
            </a:r>
            <a:endParaRPr lang="en-US" sz="1350" dirty="0"/>
          </a:p>
          <a:p>
            <a:pPr marL="177800" indent="-177800">
              <a:spcAft>
                <a:spcPts val="600"/>
              </a:spcAft>
              <a:buSzPct val="100000"/>
              <a:buChar char="•"/>
            </a:pPr>
            <a:r>
              <a:rPr lang="en-US" sz="1350" dirty="0">
                <a:solidFill>
                  <a:srgbClr val="DDEEEB"/>
                </a:solidFill>
              </a:rPr>
              <a:t>An append-only mirror that refuses to follow an edited log</a:t>
            </a:r>
            <a:endParaRPr lang="en-US" sz="1350" dirty="0"/>
          </a:p>
          <a:p>
            <a:pPr marL="177800" indent="-177800">
              <a:spcAft>
                <a:spcPts val="600"/>
              </a:spcAft>
              <a:buSzPct val="100000"/>
              <a:buChar char="•"/>
            </a:pPr>
            <a:r>
              <a:rPr lang="en-US" sz="1350" dirty="0">
                <a:solidFill>
                  <a:srgbClr val="DDEEEB"/>
                </a:solidFill>
              </a:rPr>
              <a:t>Ed25519 ledger with checkpoints and Merkle proofs</a:t>
            </a:r>
            <a:endParaRPr lang="en-US" sz="1350" dirty="0"/>
          </a:p>
          <a:p>
            <a:pPr marL="177800" indent="-177800">
              <a:buSzPct val="100000"/>
              <a:buChar char="•"/>
            </a:pPr>
            <a:r>
              <a:rPr lang="en-US" sz="1350" dirty="0">
                <a:solidFill>
                  <a:srgbClr val="DDEEEB"/>
                </a:solidFill>
              </a:rPr>
              <a:t>Demo: rewrite a row, the health panel goes red within seconds</a:t>
            </a:r>
            <a:endParaRPr lang="en-US" sz="1350" dirty="0"/>
          </a:p>
        </p:txBody>
      </p:sp>
      <p:sp>
        <p:nvSpPr>
          <p:cNvPr id="8"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Trace panel: both versions of a corrected claim, side by side, with their events and decisions.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Fully on premises, written for the hospital's own servers</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760720"/>
                <a:gridCol w="5303520"/>
              </a:tblGrid>
              <a:tr h="457200">
                <a:tc>
                  <a:txBody>
                    <a:bodyPr/>
                    <a:lstStyle/>
                    <a:p>
                      <a:pPr indent="0" marL="0">
                        <a:buNone/>
                      </a:pPr>
                      <a:r>
                        <a:rPr lang="en-US" sz="1300" b="1" dirty="0">
                          <a:solidFill>
                            <a:srgbClr val="FFFFFF"/>
                          </a:solidFill>
                        </a:rPr>
                        <a:t>Piece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State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Docker Compose stack: API, worker, MongoDB, Redis, proxy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Tested: attack test 50 of 50, backup and restore 23 of 23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Encrypted backup and restore, runbook</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Tested end to end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Model server (vLLM, one model per server, offline weights)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F2A541"/>
                          </a:solidFill>
                        </a:rPr>
                        <a:t>Designed and scripted, benchmark on slide 20</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Kubernetes manifests, network policies, restricted pods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C8553D"/>
                          </a:solidFill>
                        </a:rPr>
                        <a:t>Written, structurally tested, no cluster to apply them to</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Host firewall and port scan from outside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C8553D"/>
                          </a:solidFill>
                        </a:rPr>
                        <a:t>Tested in throwaway containers, not on the real server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Target server: RTX 3080 10 GB, 12 GB RAM, Linux</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C8553D"/>
                          </a:solidFill>
                        </a:rPr>
                        <a:t>Not run on it yet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pdpl card"/>
          <p:cNvSpPr/>
          <p:nvPr/>
        </p:nvSpPr>
        <p:spPr>
          <a:xfrm>
            <a:off x="548640" y="5303520"/>
            <a:ext cx="11064240" cy="868680"/>
          </a:xfrm>
          <a:prstGeom prst="roundRect">
            <a:avLst>
              <a:gd name="adj" fmla="val 12632"/>
            </a:avLst>
          </a:prstGeom>
          <a:solidFill>
            <a:srgbClr val="F2F6F5"/>
          </a:solidFill>
          <a:ln w="12700">
            <a:solidFill>
              <a:srgbClr val="F2F6F5"/>
            </a:solidFill>
            <a:prstDash val="solid"/>
          </a:ln>
        </p:spPr>
      </p:sp>
      <p:sp>
        <p:nvSpPr>
          <p:cNvPr id="6" name="pdpl text"/>
          <p:cNvSpPr txBox="1"/>
          <p:nvPr/>
        </p:nvSpPr>
        <p:spPr>
          <a:xfrm>
            <a:off x="777240" y="5303520"/>
            <a:ext cx="10607040" cy="868680"/>
          </a:xfrm>
          <a:prstGeom prst="rect">
            <a:avLst/>
          </a:prstGeom>
          <a:noFill/>
          <a:ln/>
        </p:spPr>
        <p:txBody>
          <a:bodyPr wrap="square" lIns="0" tIns="0" rIns="0" bIns="0" rtlCol="0" anchor="ctr"/>
          <a:lstStyle/>
          <a:p>
            <a:pPr indent="0" marL="0">
              <a:buNone/>
            </a:pPr>
            <a:r>
              <a:rPr lang="en-US" sz="1400" b="1" dirty="0">
                <a:solidFill>
                  <a:srgbClr val="0E3B3F"/>
                </a:solidFill>
              </a:rPr>
              <a:t>Data protection (PDPL family): </a:t>
            </a:r>
            <a:pPr indent="0" marL="0">
              <a:buNone/>
            </a:pPr>
            <a:r>
              <a:rPr lang="en-US" sz="1400" dirty="0">
                <a:solidFill>
                  <a:srgbClr val="17292B"/>
                </a:solidFill>
              </a:rPr>
              <a:t>each obligation is mapped to what the system does. Two things are not built yet: subject access and erasure, and a retention period.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Serving the model: what this laptop measured</a:t>
            </a:r>
            <a:endParaRPr lang="en-US" sz="32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1188720"/>
                <a:gridCol w="1280160"/>
                <a:gridCol w="1234440"/>
                <a:gridCol w="1280160"/>
                <a:gridCol w="1188720"/>
                <a:gridCol w="1417320"/>
              </a:tblGrid>
              <a:tr h="502920">
                <a:tc>
                  <a:txBody>
                    <a:bodyPr/>
                    <a:lstStyle/>
                    <a:p>
                      <a:pPr indent="0" marL="0">
                        <a:buNone/>
                      </a:pPr>
                      <a:r>
                        <a:rPr lang="en-US" sz="1300" b="1" dirty="0">
                          <a:solidFill>
                            <a:srgbClr val="FFFFFF"/>
                          </a:solidFill>
                        </a:rPr>
                        <a:t>Parallel requests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tokens per second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02920">
                <a:tc>
                  <a:txBody>
                    <a:bodyPr/>
                    <a:lstStyle/>
                    <a:p>
                      <a:pPr indent="0" marL="0">
                        <a:buNone/>
                      </a:pPr>
                      <a:r>
                        <a:rPr lang="en-US" sz="1300" dirty="0">
                          <a:solidFill>
                            <a:srgbClr val="17292B"/>
                          </a:solidFill>
                        </a:rPr>
                        <a:t>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1.17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53.3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1.13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63.8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54.5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4.36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122.9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1.79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146.5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02920">
                <a:tc>
                  <a:txBody>
                    <a:bodyPr/>
                    <a:lstStyle/>
                    <a:p>
                      <a:pPr indent="0" marL="0">
                        <a:buNone/>
                      </a:pPr>
                      <a:r>
                        <a:rPr lang="en-US" sz="1300" dirty="0">
                          <a:solidFill>
                            <a:srgbClr val="17292B"/>
                          </a:solidFill>
                        </a:rPr>
                        <a:t>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8.9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137.5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3.26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165.3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16</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51.3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18.59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134.9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6.75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160.4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8412480" y="1325880"/>
            <a:ext cx="3291840" cy="822960"/>
          </a:xfrm>
          <a:prstGeom prst="rect">
            <a:avLst/>
          </a:prstGeom>
          <a:noFill/>
          <a:ln/>
        </p:spPr>
        <p:txBody>
          <a:bodyPr wrap="square" lIns="0" tIns="0" rIns="0" bIns="0" rtlCol="0" anchor="b"/>
          <a:lstStyle/>
          <a:p>
            <a:pPr indent="0" marL="0">
              <a:buNone/>
            </a:pPr>
            <a:r>
              <a:rPr lang="en-US" sz="5400" b="1" dirty="0">
                <a:solidFill>
                  <a:srgbClr val="F2A541"/>
                </a:solidFill>
                <a:latin typeface="Cambria" pitchFamily="34" charset="0"/>
                <a:ea typeface="Cambria" pitchFamily="34" charset="-122"/>
                <a:cs typeface="Cambria" pitchFamily="34" charset="-120"/>
              </a:rPr>
              <a:t>137</a:t>
            </a:r>
            <a:endParaRPr lang="en-US" sz="5400" dirty="0"/>
          </a:p>
        </p:txBody>
      </p:sp>
      <p:sp>
        <p:nvSpPr>
          <p:cNvPr id="6" name="stat label"/>
          <p:cNvSpPr txBox="1"/>
          <p:nvPr/>
        </p:nvSpPr>
        <p:spPr>
          <a:xfrm>
            <a:off x="8412480" y="2194560"/>
            <a:ext cx="3291840" cy="822960"/>
          </a:xfrm>
          <a:prstGeom prst="rect">
            <a:avLst/>
          </a:prstGeom>
          <a:noFill/>
          <a:ln/>
        </p:spPr>
        <p:txBody>
          <a:bodyPr wrap="square" lIns="0" tIns="0" rIns="0" bIns="0" rtlCol="0" anchor="t"/>
          <a:lstStyle/>
          <a:p>
            <a:pPr indent="0" marL="0">
              <a:buNone/>
            </a:pPr>
            <a:r>
              <a:rPr lang="en-US" sz="1400" dirty="0">
                <a:solidFill>
                  <a:srgbClr val="5C7173"/>
                </a:solidFill>
              </a:rPr>
              <a:t>explanations a minute with 8 slots (gemma3:4b, laptop RTX 4060). Default: 53, one at a time</a:t>
            </a:r>
            <a:endParaRPr lang="en-US" sz="1400" dirty="0"/>
          </a:p>
        </p:txBody>
      </p:sp>
      <p:sp>
        <p:nvSpPr>
          <p:cNvPr id="7" name="vllm card"/>
          <p:cNvSpPr/>
          <p:nvPr/>
        </p:nvSpPr>
        <p:spPr>
          <a:xfrm>
            <a:off x="548640" y="4297680"/>
            <a:ext cx="11064240" cy="1828800"/>
          </a:xfrm>
          <a:prstGeom prst="roundRect">
            <a:avLst>
              <a:gd name="adj" fmla="val 6000"/>
            </a:avLst>
          </a:prstGeom>
          <a:solidFill>
            <a:srgbClr val="FFF1DB"/>
          </a:solidFill>
          <a:ln w="12700">
            <a:solidFill>
              <a:srgbClr val="FFF1DB"/>
            </a:solidFill>
            <a:prstDash val="solid"/>
          </a:ln>
        </p:spPr>
      </p:sp>
      <p:sp>
        <p:nvSpPr>
          <p:cNvPr id="8" name="vllm text"/>
          <p:cNvSpPr txBox="1"/>
          <p:nvPr/>
        </p:nvSpPr>
        <p:spPr>
          <a:xfrm>
            <a:off x="777240" y="4297680"/>
            <a:ext cx="10607040" cy="1828800"/>
          </a:xfrm>
          <a:prstGeom prst="rect">
            <a:avLst/>
          </a:prstGeom>
          <a:noFill/>
          <a:ln/>
        </p:spPr>
        <p:txBody>
          <a:bodyPr wrap="square" lIns="0" tIns="0" rIns="0" bIns="0" rtlCol="0" anchor="ctr"/>
          <a:lstStyle/>
          <a:p>
            <a:pPr indent="0" marL="0">
              <a:spcAft>
                <a:spcPts val="600"/>
              </a:spcAft>
              <a:buNone/>
            </a:pPr>
            <a:r>
              <a:rPr lang="en-US" sz="1400" b="1" dirty="0">
                <a:solidFill>
                  <a:srgbClr val="0E3B3F"/>
                </a:solidFill>
              </a:rPr>
              <a:t>Through the real queue step: 399 claims, 777 findings, empty cache, 8 workers.</a:t>
            </a:r>
            <a:endParaRPr lang="en-US" sz="1400" dirty="0"/>
          </a:p>
          <a:p>
            <a:pPr indent="0" marL="0">
              <a:buNone/>
            </a:pPr>
            <a:r>
              <a:rPr lang="en-US" sz="1400" dirty="0">
                <a:solidFill>
                  <a:srgbClr val="17292B"/>
                </a:solidFill>
              </a:rPr>
              <a:t>74 model calls (90.5% of findings needed none), 49 seconds, about 490 claims a minute; warm cache about 2,050 a minute, 18 calls that retried 3 templates the guard had refused. 0 model errors. A debug build on this laptop, not the target card. vLLM is the planned production server and has not been run here: we stay on Ollama unless the target measurement says otherwise, and the benchmark script works on either.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we have not done, said before you ask</a:t>
            </a:r>
            <a:endParaRPr lang="en-US" sz="3200" dirty="0"/>
          </a:p>
        </p:txBody>
      </p:sp>
      <p:sp>
        <p:nvSpPr>
          <p:cNvPr id="4" name="limit 1"/>
          <p:cNvSpPr/>
          <p:nvPr/>
        </p:nvSpPr>
        <p:spPr>
          <a:xfrm>
            <a:off x="548640" y="1417320"/>
            <a:ext cx="5440680" cy="1005840"/>
          </a:xfrm>
          <a:prstGeom prst="roundRect">
            <a:avLst>
              <a:gd name="adj" fmla="val 10909"/>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C8553D"/>
          </a:solidFill>
          <a:ln w="12700">
            <a:solidFill>
              <a:srgbClr val="C8553D"/>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limit text"/>
          <p:cNvSpPr txBox="1"/>
          <p:nvPr/>
        </p:nvSpPr>
        <p:spPr>
          <a:xfrm>
            <a:off x="128016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Public data is synthetic</a:t>
            </a:r>
            <a:endParaRPr lang="en-US" sz="1500" dirty="0"/>
          </a:p>
          <a:p>
            <a:pPr indent="0" marL="0">
              <a:buNone/>
            </a:pPr>
            <a:r>
              <a:rPr lang="en-US" sz="1250" dirty="0">
                <a:solidFill>
                  <a:srgbClr val="17292B"/>
                </a:solidFill>
              </a:rPr>
              <a:t>Perfect scores on it do not show how real claims behave.</a:t>
            </a:r>
            <a:endParaRPr lang="en-US" sz="1500" dirty="0"/>
          </a:p>
        </p:txBody>
      </p:sp>
      <p:sp>
        <p:nvSpPr>
          <p:cNvPr id="8" name="limit 2"/>
          <p:cNvSpPr/>
          <p:nvPr/>
        </p:nvSpPr>
        <p:spPr>
          <a:xfrm>
            <a:off x="6126480" y="1417320"/>
            <a:ext cx="5440680" cy="1005840"/>
          </a:xfrm>
          <a:prstGeom prst="roundRect">
            <a:avLst>
              <a:gd name="adj" fmla="val 10909"/>
            </a:avLst>
          </a:prstGeom>
          <a:solidFill>
            <a:srgbClr val="F2F6F5"/>
          </a:solidFill>
          <a:ln w="12700">
            <a:solidFill>
              <a:srgbClr val="F2F6F5"/>
            </a:solidFill>
            <a:prstDash val="solid"/>
          </a:ln>
        </p:spPr>
      </p:sp>
      <p:sp>
        <p:nvSpPr>
          <p:cNvPr id="9" name="badge"/>
          <p:cNvSpPr/>
          <p:nvPr/>
        </p:nvSpPr>
        <p:spPr>
          <a:xfrm>
            <a:off x="6309360" y="1728216"/>
            <a:ext cx="384048" cy="384048"/>
          </a:xfrm>
          <a:prstGeom prst="ellipse">
            <a:avLst/>
          </a:prstGeom>
          <a:solidFill>
            <a:srgbClr val="C8553D"/>
          </a:solidFill>
          <a:ln w="12700">
            <a:solidFill>
              <a:srgbClr val="C8553D"/>
            </a:solidFill>
            <a:prstDash val="solid"/>
          </a:ln>
        </p:spPr>
      </p:sp>
      <p:sp>
        <p:nvSpPr>
          <p:cNvPr id="10" name="badge text"/>
          <p:cNvSpPr txBox="1"/>
          <p:nvPr/>
        </p:nvSpPr>
        <p:spPr>
          <a:xfrm>
            <a:off x="630936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limit text"/>
          <p:cNvSpPr txBox="1"/>
          <p:nvPr/>
        </p:nvSpPr>
        <p:spPr>
          <a:xfrm>
            <a:off x="685800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Savings are simulated</a:t>
            </a:r>
            <a:endParaRPr lang="en-US" sz="1500" dirty="0"/>
          </a:p>
          <a:p>
            <a:pPr indent="0" marL="0">
              <a:buNone/>
            </a:pPr>
            <a:r>
              <a:rPr lang="en-US" sz="1250" dirty="0">
                <a:solidFill>
                  <a:srgbClr val="17292B"/>
                </a:solidFill>
              </a:rPr>
              <a:t>No timed session with real reviewers yet.</a:t>
            </a:r>
            <a:endParaRPr lang="en-US" sz="1500" dirty="0"/>
          </a:p>
        </p:txBody>
      </p:sp>
      <p:sp>
        <p:nvSpPr>
          <p:cNvPr id="12" name="limit 3"/>
          <p:cNvSpPr/>
          <p:nvPr/>
        </p:nvSpPr>
        <p:spPr>
          <a:xfrm>
            <a:off x="548640" y="2560320"/>
            <a:ext cx="5440680" cy="1005840"/>
          </a:xfrm>
          <a:prstGeom prst="roundRect">
            <a:avLst>
              <a:gd name="adj" fmla="val 10909"/>
            </a:avLst>
          </a:prstGeom>
          <a:solidFill>
            <a:srgbClr val="F2F6F5"/>
          </a:solidFill>
          <a:ln w="12700">
            <a:solidFill>
              <a:srgbClr val="F2F6F5"/>
            </a:solidFill>
            <a:prstDash val="solid"/>
          </a:ln>
        </p:spPr>
      </p:sp>
      <p:sp>
        <p:nvSpPr>
          <p:cNvPr id="13" name="badge"/>
          <p:cNvSpPr/>
          <p:nvPr/>
        </p:nvSpPr>
        <p:spPr>
          <a:xfrm>
            <a:off x="731520" y="2871216"/>
            <a:ext cx="384048" cy="384048"/>
          </a:xfrm>
          <a:prstGeom prst="ellipse">
            <a:avLst/>
          </a:prstGeom>
          <a:solidFill>
            <a:srgbClr val="C8553D"/>
          </a:solidFill>
          <a:ln w="12700">
            <a:solidFill>
              <a:srgbClr val="C8553D"/>
            </a:solidFill>
            <a:prstDash val="solid"/>
          </a:ln>
        </p:spPr>
      </p:sp>
      <p:sp>
        <p:nvSpPr>
          <p:cNvPr id="14" name="badge text"/>
          <p:cNvSpPr txBox="1"/>
          <p:nvPr/>
        </p:nvSpPr>
        <p:spPr>
          <a:xfrm>
            <a:off x="73152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limit text"/>
          <p:cNvSpPr txBox="1"/>
          <p:nvPr/>
        </p:nvSpPr>
        <p:spPr>
          <a:xfrm>
            <a:off x="128016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 run on the target server</a:t>
            </a:r>
            <a:endParaRPr lang="en-US" sz="1500" dirty="0"/>
          </a:p>
          <a:p>
            <a:pPr indent="0" marL="0">
              <a:buNone/>
            </a:pPr>
            <a:r>
              <a:rPr lang="en-US" sz="1250" dirty="0">
                <a:solidFill>
                  <a:srgbClr val="17292B"/>
                </a:solidFill>
              </a:rPr>
              <a:t>Throughput on an RTX 3080 and vLLM are unmeasured.</a:t>
            </a:r>
            <a:endParaRPr lang="en-US" sz="1500" dirty="0"/>
          </a:p>
        </p:txBody>
      </p:sp>
      <p:sp>
        <p:nvSpPr>
          <p:cNvPr id="16" name="limit 4"/>
          <p:cNvSpPr/>
          <p:nvPr/>
        </p:nvSpPr>
        <p:spPr>
          <a:xfrm>
            <a:off x="6126480" y="2560320"/>
            <a:ext cx="5440680" cy="1005840"/>
          </a:xfrm>
          <a:prstGeom prst="roundRect">
            <a:avLst>
              <a:gd name="adj" fmla="val 10909"/>
            </a:avLst>
          </a:prstGeom>
          <a:solidFill>
            <a:srgbClr val="F2F6F5"/>
          </a:solidFill>
          <a:ln w="12700">
            <a:solidFill>
              <a:srgbClr val="F2F6F5"/>
            </a:solidFill>
            <a:prstDash val="solid"/>
          </a:ln>
        </p:spPr>
      </p:sp>
      <p:sp>
        <p:nvSpPr>
          <p:cNvPr id="17" name="badge"/>
          <p:cNvSpPr/>
          <p:nvPr/>
        </p:nvSpPr>
        <p:spPr>
          <a:xfrm>
            <a:off x="6309360" y="2871216"/>
            <a:ext cx="384048" cy="384048"/>
          </a:xfrm>
          <a:prstGeom prst="ellipse">
            <a:avLst/>
          </a:prstGeom>
          <a:solidFill>
            <a:srgbClr val="C8553D"/>
          </a:solidFill>
          <a:ln w="12700">
            <a:solidFill>
              <a:srgbClr val="C8553D"/>
            </a:solidFill>
            <a:prstDash val="solid"/>
          </a:ln>
        </p:spPr>
      </p:sp>
      <p:sp>
        <p:nvSpPr>
          <p:cNvPr id="18" name="badge text"/>
          <p:cNvSpPr txBox="1"/>
          <p:nvPr/>
        </p:nvSpPr>
        <p:spPr>
          <a:xfrm>
            <a:off x="630936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limit text"/>
          <p:cNvSpPr txBox="1"/>
          <p:nvPr/>
        </p:nvSpPr>
        <p:spPr>
          <a:xfrm>
            <a:off x="685800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 Kubernetes cluster</a:t>
            </a:r>
            <a:endParaRPr lang="en-US" sz="1500" dirty="0"/>
          </a:p>
          <a:p>
            <a:pPr indent="0" marL="0">
              <a:buNone/>
            </a:pPr>
            <a:r>
              <a:rPr lang="en-US" sz="1250" dirty="0">
                <a:solidFill>
                  <a:srgbClr val="17292B"/>
                </a:solidFill>
              </a:rPr>
              <a:t>Manifests are written and structurally tested only.</a:t>
            </a:r>
            <a:endParaRPr lang="en-US" sz="1500" dirty="0"/>
          </a:p>
        </p:txBody>
      </p:sp>
      <p:sp>
        <p:nvSpPr>
          <p:cNvPr id="20" name="limit 5"/>
          <p:cNvSpPr/>
          <p:nvPr/>
        </p:nvSpPr>
        <p:spPr>
          <a:xfrm>
            <a:off x="548640" y="3703320"/>
            <a:ext cx="5440680" cy="1005840"/>
          </a:xfrm>
          <a:prstGeom prst="roundRect">
            <a:avLst>
              <a:gd name="adj" fmla="val 10909"/>
            </a:avLst>
          </a:prstGeom>
          <a:solidFill>
            <a:srgbClr val="F2F6F5"/>
          </a:solidFill>
          <a:ln w="12700">
            <a:solidFill>
              <a:srgbClr val="F2F6F5"/>
            </a:solidFill>
            <a:prstDash val="solid"/>
          </a:ln>
        </p:spPr>
      </p:sp>
      <p:sp>
        <p:nvSpPr>
          <p:cNvPr id="21" name="badge"/>
          <p:cNvSpPr/>
          <p:nvPr/>
        </p:nvSpPr>
        <p:spPr>
          <a:xfrm>
            <a:off x="731520" y="4014216"/>
            <a:ext cx="384048" cy="384048"/>
          </a:xfrm>
          <a:prstGeom prst="ellipse">
            <a:avLst/>
          </a:prstGeom>
          <a:solidFill>
            <a:srgbClr val="C8553D"/>
          </a:solidFill>
          <a:ln w="12700">
            <a:solidFill>
              <a:srgbClr val="C8553D"/>
            </a:solidFill>
            <a:prstDash val="solid"/>
          </a:ln>
        </p:spPr>
      </p:sp>
      <p:sp>
        <p:nvSpPr>
          <p:cNvPr id="22" name="badge text"/>
          <p:cNvSpPr txBox="1"/>
          <p:nvPr/>
        </p:nvSpPr>
        <p:spPr>
          <a:xfrm>
            <a:off x="73152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limit text"/>
          <p:cNvSpPr txBox="1"/>
          <p:nvPr/>
        </p:nvSpPr>
        <p:spPr>
          <a:xfrm>
            <a:off x="128016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Documents</a:t>
            </a:r>
            <a:endParaRPr lang="en-US" sz="1500" dirty="0"/>
          </a:p>
          <a:p>
            <a:pPr indent="0" marL="0">
              <a:buNone/>
            </a:pPr>
            <a:r>
              <a:rPr lang="en-US" sz="1250" dirty="0">
                <a:solidFill>
                  <a:srgbClr val="17292B"/>
                </a:solidFill>
              </a:rPr>
              <a:t>Real paper, handwriting and Arabic are untested.</a:t>
            </a:r>
            <a:endParaRPr lang="en-US" sz="1500" dirty="0"/>
          </a:p>
        </p:txBody>
      </p:sp>
      <p:sp>
        <p:nvSpPr>
          <p:cNvPr id="24" name="limit 6"/>
          <p:cNvSpPr/>
          <p:nvPr/>
        </p:nvSpPr>
        <p:spPr>
          <a:xfrm>
            <a:off x="6126480" y="3703320"/>
            <a:ext cx="5440680" cy="1005840"/>
          </a:xfrm>
          <a:prstGeom prst="roundRect">
            <a:avLst>
              <a:gd name="adj" fmla="val 10909"/>
            </a:avLst>
          </a:prstGeom>
          <a:solidFill>
            <a:srgbClr val="F2F6F5"/>
          </a:solidFill>
          <a:ln w="12700">
            <a:solidFill>
              <a:srgbClr val="F2F6F5"/>
            </a:solidFill>
            <a:prstDash val="solid"/>
          </a:ln>
        </p:spPr>
      </p:sp>
      <p:sp>
        <p:nvSpPr>
          <p:cNvPr id="25" name="badge"/>
          <p:cNvSpPr/>
          <p:nvPr/>
        </p:nvSpPr>
        <p:spPr>
          <a:xfrm>
            <a:off x="6309360" y="4014216"/>
            <a:ext cx="384048" cy="384048"/>
          </a:xfrm>
          <a:prstGeom prst="ellipse">
            <a:avLst/>
          </a:prstGeom>
          <a:solidFill>
            <a:srgbClr val="C8553D"/>
          </a:solidFill>
          <a:ln w="12700">
            <a:solidFill>
              <a:srgbClr val="C8553D"/>
            </a:solidFill>
            <a:prstDash val="solid"/>
          </a:ln>
        </p:spPr>
      </p:sp>
      <p:sp>
        <p:nvSpPr>
          <p:cNvPr id="26" name="badge text"/>
          <p:cNvSpPr txBox="1"/>
          <p:nvPr/>
        </p:nvSpPr>
        <p:spPr>
          <a:xfrm>
            <a:off x="630936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limit text"/>
          <p:cNvSpPr txBox="1"/>
          <p:nvPr/>
        </p:nvSpPr>
        <p:spPr>
          <a:xfrm>
            <a:off x="685800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Data subject rights</a:t>
            </a:r>
            <a:endParaRPr lang="en-US" sz="1500" dirty="0"/>
          </a:p>
          <a:p>
            <a:pPr indent="0" marL="0">
              <a:buNone/>
            </a:pPr>
            <a:r>
              <a:rPr lang="en-US" sz="1250" dirty="0">
                <a:solidFill>
                  <a:srgbClr val="17292B"/>
                </a:solidFill>
              </a:rPr>
              <a:t>Access, erasure and retention are designed, not built.</a:t>
            </a:r>
            <a:endParaRPr lang="en-US" sz="1500" dirty="0"/>
          </a:p>
        </p:txBody>
      </p:sp>
      <p:sp>
        <p:nvSpPr>
          <p:cNvPr id="28" name="limit 7"/>
          <p:cNvSpPr/>
          <p:nvPr/>
        </p:nvSpPr>
        <p:spPr>
          <a:xfrm>
            <a:off x="548640" y="4846320"/>
            <a:ext cx="5440680" cy="1005840"/>
          </a:xfrm>
          <a:prstGeom prst="roundRect">
            <a:avLst>
              <a:gd name="adj" fmla="val 10909"/>
            </a:avLst>
          </a:prstGeom>
          <a:solidFill>
            <a:srgbClr val="F2F6F5"/>
          </a:solidFill>
          <a:ln w="12700">
            <a:solidFill>
              <a:srgbClr val="F2F6F5"/>
            </a:solidFill>
            <a:prstDash val="solid"/>
          </a:ln>
        </p:spPr>
      </p:sp>
      <p:sp>
        <p:nvSpPr>
          <p:cNvPr id="29" name="badge"/>
          <p:cNvSpPr/>
          <p:nvPr/>
        </p:nvSpPr>
        <p:spPr>
          <a:xfrm>
            <a:off x="731520" y="5157216"/>
            <a:ext cx="384048" cy="384048"/>
          </a:xfrm>
          <a:prstGeom prst="ellipse">
            <a:avLst/>
          </a:prstGeom>
          <a:solidFill>
            <a:srgbClr val="C8553D"/>
          </a:solidFill>
          <a:ln w="12700">
            <a:solidFill>
              <a:srgbClr val="C8553D"/>
            </a:solidFill>
            <a:prstDash val="solid"/>
          </a:ln>
        </p:spPr>
      </p:sp>
      <p:sp>
        <p:nvSpPr>
          <p:cNvPr id="30" name="badge text"/>
          <p:cNvSpPr txBox="1"/>
          <p:nvPr/>
        </p:nvSpPr>
        <p:spPr>
          <a:xfrm>
            <a:off x="73152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1" name="limit text"/>
          <p:cNvSpPr txBox="1"/>
          <p:nvPr/>
        </p:nvSpPr>
        <p:spPr>
          <a:xfrm>
            <a:off x="128016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Copilot proposals</a:t>
            </a:r>
            <a:endParaRPr lang="en-US" sz="1500" dirty="0"/>
          </a:p>
          <a:p>
            <a:pPr indent="0" marL="0">
              <a:buNone/>
            </a:pPr>
            <a:r>
              <a:rPr lang="en-US" sz="1250" dirty="0">
                <a:solidFill>
                  <a:srgbClr val="17292B"/>
                </a:solidFill>
              </a:rPr>
              <a:t>Three rules have computable fixes. The rest ask or check.</a:t>
            </a:r>
            <a:endParaRPr lang="en-US" sz="1500" dirty="0"/>
          </a:p>
        </p:txBody>
      </p:sp>
      <p:sp>
        <p:nvSpPr>
          <p:cNvPr id="32" name="limit 8"/>
          <p:cNvSpPr/>
          <p:nvPr/>
        </p:nvSpPr>
        <p:spPr>
          <a:xfrm>
            <a:off x="6126480" y="4846320"/>
            <a:ext cx="5440680" cy="1005840"/>
          </a:xfrm>
          <a:prstGeom prst="roundRect">
            <a:avLst>
              <a:gd name="adj" fmla="val 10909"/>
            </a:avLst>
          </a:prstGeom>
          <a:solidFill>
            <a:srgbClr val="F2F6F5"/>
          </a:solidFill>
          <a:ln w="12700">
            <a:solidFill>
              <a:srgbClr val="F2F6F5"/>
            </a:solidFill>
            <a:prstDash val="solid"/>
          </a:ln>
        </p:spPr>
      </p:sp>
      <p:sp>
        <p:nvSpPr>
          <p:cNvPr id="33" name="badge"/>
          <p:cNvSpPr/>
          <p:nvPr/>
        </p:nvSpPr>
        <p:spPr>
          <a:xfrm>
            <a:off x="6309360" y="5157216"/>
            <a:ext cx="384048" cy="384048"/>
          </a:xfrm>
          <a:prstGeom prst="ellipse">
            <a:avLst/>
          </a:prstGeom>
          <a:solidFill>
            <a:srgbClr val="C8553D"/>
          </a:solidFill>
          <a:ln w="12700">
            <a:solidFill>
              <a:srgbClr val="C8553D"/>
            </a:solidFill>
            <a:prstDash val="solid"/>
          </a:ln>
        </p:spPr>
      </p:sp>
      <p:sp>
        <p:nvSpPr>
          <p:cNvPr id="34" name="badge text"/>
          <p:cNvSpPr txBox="1"/>
          <p:nvPr/>
        </p:nvSpPr>
        <p:spPr>
          <a:xfrm>
            <a:off x="630936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5" name="limit text"/>
          <p:cNvSpPr txBox="1"/>
          <p:nvPr/>
        </p:nvSpPr>
        <p:spPr>
          <a:xfrm>
            <a:off x="685800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Nobody outside the team</a:t>
            </a:r>
            <a:endParaRPr lang="en-US" sz="1500" dirty="0"/>
          </a:p>
          <a:p>
            <a:pPr indent="0" marL="0">
              <a:buNone/>
            </a:pPr>
            <a:r>
              <a:rPr lang="en-US" sz="1250" dirty="0">
                <a:solidFill>
                  <a:srgbClr val="17292B"/>
                </a:solidFill>
              </a:rPr>
              <a:t>has attacked it.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Twelve minutes of demo, and four questions for you</a:t>
            </a:r>
            <a:endParaRPr lang="en-US" sz="3200" dirty="0"/>
          </a:p>
        </p:txBody>
      </p:sp>
      <p:sp>
        <p:nvSpPr>
          <p:cNvPr id="4" name="demo card"/>
          <p:cNvSpPr/>
          <p:nvPr/>
        </p:nvSpPr>
        <p:spPr>
          <a:xfrm>
            <a:off x="548640" y="1417320"/>
            <a:ext cx="5760720" cy="4663440"/>
          </a:xfrm>
          <a:prstGeom prst="roundRect">
            <a:avLst>
              <a:gd name="adj" fmla="val 2353"/>
            </a:avLst>
          </a:prstGeom>
          <a:solidFill>
            <a:srgbClr val="F2F6F5"/>
          </a:solidFill>
          <a:ln w="12700">
            <a:solidFill>
              <a:srgbClr val="F2F6F5"/>
            </a:solidFill>
            <a:prstDash val="solid"/>
          </a:ln>
        </p:spPr>
      </p:sp>
      <p:sp>
        <p:nvSpPr>
          <p:cNvPr id="5" name="h"/>
          <p:cNvSpPr txBox="1"/>
          <p:nvPr/>
        </p:nvSpPr>
        <p:spPr>
          <a:xfrm>
            <a:off x="777240" y="1508760"/>
            <a:ext cx="530352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The demo</a:t>
            </a:r>
            <a:endParaRPr lang="en-US" sz="1800" dirty="0"/>
          </a:p>
        </p:txBody>
      </p:sp>
      <p:sp>
        <p:nvSpPr>
          <p:cNvPr id="6" name="badge"/>
          <p:cNvSpPr/>
          <p:nvPr/>
        </p:nvSpPr>
        <p:spPr>
          <a:xfrm>
            <a:off x="777240" y="2057400"/>
            <a:ext cx="365760" cy="365760"/>
          </a:xfrm>
          <a:prstGeom prst="ellipse">
            <a:avLst/>
          </a:prstGeom>
          <a:solidFill>
            <a:srgbClr val="14746F"/>
          </a:solidFill>
          <a:ln w="12700">
            <a:solidFill>
              <a:srgbClr val="14746F"/>
            </a:solidFill>
            <a:prstDash val="solid"/>
          </a:ln>
        </p:spPr>
      </p:sp>
      <p:sp>
        <p:nvSpPr>
          <p:cNvPr id="7" name="badge text"/>
          <p:cNvSpPr txBox="1"/>
          <p:nvPr/>
        </p:nvSpPr>
        <p:spPr>
          <a:xfrm>
            <a:off x="777240" y="2057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demo step"/>
          <p:cNvSpPr txBox="1"/>
          <p:nvPr/>
        </p:nvSpPr>
        <p:spPr>
          <a:xfrm>
            <a:off x="1325880" y="20574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 claim with a wrong amount arrives</a:t>
            </a:r>
            <a:endParaRPr lang="en-US" sz="1450" dirty="0"/>
          </a:p>
        </p:txBody>
      </p:sp>
      <p:sp>
        <p:nvSpPr>
          <p:cNvPr id="9" name="badge"/>
          <p:cNvSpPr/>
          <p:nvPr/>
        </p:nvSpPr>
        <p:spPr>
          <a:xfrm>
            <a:off x="777240" y="2697480"/>
            <a:ext cx="365760" cy="365760"/>
          </a:xfrm>
          <a:prstGeom prst="ellipse">
            <a:avLst/>
          </a:prstGeom>
          <a:solidFill>
            <a:srgbClr val="14746F"/>
          </a:solidFill>
          <a:ln w="12700">
            <a:solidFill>
              <a:srgbClr val="14746F"/>
            </a:solidFill>
            <a:prstDash val="solid"/>
          </a:ln>
        </p:spPr>
      </p:sp>
      <p:sp>
        <p:nvSpPr>
          <p:cNvPr id="10" name="badge text"/>
          <p:cNvSpPr txBox="1"/>
          <p:nvPr/>
        </p:nvSpPr>
        <p:spPr>
          <a:xfrm>
            <a:off x="777240" y="26974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demo step"/>
          <p:cNvSpPr txBox="1"/>
          <p:nvPr/>
        </p:nvSpPr>
        <p:spPr>
          <a:xfrm>
            <a:off x="1325880" y="269748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The senior opens it: summary and evidence</a:t>
            </a:r>
            <a:endParaRPr lang="en-US" sz="1450" dirty="0"/>
          </a:p>
        </p:txBody>
      </p:sp>
      <p:sp>
        <p:nvSpPr>
          <p:cNvPr id="12" name="badge"/>
          <p:cNvSpPr/>
          <p:nvPr/>
        </p:nvSpPr>
        <p:spPr>
          <a:xfrm>
            <a:off x="777240" y="3337560"/>
            <a:ext cx="365760" cy="365760"/>
          </a:xfrm>
          <a:prstGeom prst="ellipse">
            <a:avLst/>
          </a:prstGeom>
          <a:solidFill>
            <a:srgbClr val="14746F"/>
          </a:solidFill>
          <a:ln w="12700">
            <a:solidFill>
              <a:srgbClr val="14746F"/>
            </a:solidFill>
            <a:prstDash val="solid"/>
          </a:ln>
        </p:spPr>
      </p:sp>
      <p:sp>
        <p:nvSpPr>
          <p:cNvPr id="13" name="badge text"/>
          <p:cNvSpPr txBox="1"/>
          <p:nvPr/>
        </p:nvSpPr>
        <p:spPr>
          <a:xfrm>
            <a:off x="777240" y="3337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demo step"/>
          <p:cNvSpPr txBox="1"/>
          <p:nvPr/>
        </p:nvSpPr>
        <p:spPr>
          <a:xfrm>
            <a:off x="1325880" y="3337560"/>
            <a:ext cx="4846320" cy="365760"/>
          </a:xfrm>
          <a:prstGeom prst="rect">
            <a:avLst/>
          </a:prstGeom>
          <a:noFill/>
          <a:ln/>
        </p:spPr>
        <p:txBody>
          <a:bodyPr wrap="square" lIns="0" tIns="0" rIns="0" bIns="0" rtlCol="0" anchor="ctr"/>
          <a:lstStyle/>
          <a:p>
            <a:pPr indent="0" marL="0">
              <a:buNone/>
            </a:pPr>
            <a:r>
              <a:rPr lang="en-US" sz="1450" dirty="0">
                <a:solidFill>
                  <a:srgbClr val="17292B"/>
                </a:solidFill>
              </a:rPr>
              <a:t>What-if: every check would pass</a:t>
            </a:r>
            <a:endParaRPr lang="en-US" sz="1450" dirty="0"/>
          </a:p>
        </p:txBody>
      </p:sp>
      <p:sp>
        <p:nvSpPr>
          <p:cNvPr id="15" name="badge"/>
          <p:cNvSpPr/>
          <p:nvPr/>
        </p:nvSpPr>
        <p:spPr>
          <a:xfrm>
            <a:off x="777240" y="3977640"/>
            <a:ext cx="365760" cy="365760"/>
          </a:xfrm>
          <a:prstGeom prst="ellipse">
            <a:avLst/>
          </a:prstGeom>
          <a:solidFill>
            <a:srgbClr val="14746F"/>
          </a:solidFill>
          <a:ln w="12700">
            <a:solidFill>
              <a:srgbClr val="14746F"/>
            </a:solidFill>
            <a:prstDash val="solid"/>
          </a:ln>
        </p:spPr>
      </p:sp>
      <p:sp>
        <p:nvSpPr>
          <p:cNvPr id="16" name="badge text"/>
          <p:cNvSpPr txBox="1"/>
          <p:nvPr/>
        </p:nvSpPr>
        <p:spPr>
          <a:xfrm>
            <a:off x="777240" y="3977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demo step"/>
          <p:cNvSpPr txBox="1"/>
          <p:nvPr/>
        </p:nvSpPr>
        <p:spPr>
          <a:xfrm>
            <a:off x="1325880" y="397764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Apply with a reason: version 2</a:t>
            </a:r>
            <a:endParaRPr lang="en-US" sz="1450" dirty="0"/>
          </a:p>
        </p:txBody>
      </p:sp>
      <p:sp>
        <p:nvSpPr>
          <p:cNvPr id="18" name="badge"/>
          <p:cNvSpPr/>
          <p:nvPr/>
        </p:nvSpPr>
        <p:spPr>
          <a:xfrm>
            <a:off x="777240" y="4617720"/>
            <a:ext cx="365760" cy="365760"/>
          </a:xfrm>
          <a:prstGeom prst="ellipse">
            <a:avLst/>
          </a:prstGeom>
          <a:solidFill>
            <a:srgbClr val="14746F"/>
          </a:solidFill>
          <a:ln w="12700">
            <a:solidFill>
              <a:srgbClr val="14746F"/>
            </a:solidFill>
            <a:prstDash val="solid"/>
          </a:ln>
        </p:spPr>
      </p:sp>
      <p:sp>
        <p:nvSpPr>
          <p:cNvPr id="19" name="badge text"/>
          <p:cNvSpPr txBox="1"/>
          <p:nvPr/>
        </p:nvSpPr>
        <p:spPr>
          <a:xfrm>
            <a:off x="777240" y="4617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0" name="demo step"/>
          <p:cNvSpPr txBox="1"/>
          <p:nvPr/>
        </p:nvSpPr>
        <p:spPr>
          <a:xfrm>
            <a:off x="1325880" y="461772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Trace: both versions, who, what, why</a:t>
            </a:r>
            <a:endParaRPr lang="en-US" sz="1450" dirty="0"/>
          </a:p>
        </p:txBody>
      </p:sp>
      <p:sp>
        <p:nvSpPr>
          <p:cNvPr id="21" name="badge"/>
          <p:cNvSpPr/>
          <p:nvPr/>
        </p:nvSpPr>
        <p:spPr>
          <a:xfrm>
            <a:off x="777240" y="5257800"/>
            <a:ext cx="365760" cy="365760"/>
          </a:xfrm>
          <a:prstGeom prst="ellipse">
            <a:avLst/>
          </a:prstGeom>
          <a:solidFill>
            <a:srgbClr val="14746F"/>
          </a:solidFill>
          <a:ln w="12700">
            <a:solidFill>
              <a:srgbClr val="14746F"/>
            </a:solidFill>
            <a:prstDash val="solid"/>
          </a:ln>
        </p:spPr>
      </p:sp>
      <p:sp>
        <p:nvSpPr>
          <p:cNvPr id="22" name="badge text"/>
          <p:cNvSpPr txBox="1"/>
          <p:nvPr/>
        </p:nvSpPr>
        <p:spPr>
          <a:xfrm>
            <a:off x="777240" y="5257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3" name="demo step"/>
          <p:cNvSpPr txBox="1"/>
          <p:nvPr/>
        </p:nvSpPr>
        <p:spPr>
          <a:xfrm>
            <a:off x="1325880" y="52578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Rewrite an audit row: the alarm goes red</a:t>
            </a:r>
            <a:endParaRPr lang="en-US" sz="1450" dirty="0"/>
          </a:p>
        </p:txBody>
      </p:sp>
      <p:sp>
        <p:nvSpPr>
          <p:cNvPr id="24" name="questions card"/>
          <p:cNvSpPr/>
          <p:nvPr/>
        </p:nvSpPr>
        <p:spPr>
          <a:xfrm>
            <a:off x="6492240" y="1417320"/>
            <a:ext cx="5120640" cy="4663440"/>
          </a:xfrm>
          <a:prstGeom prst="roundRect">
            <a:avLst>
              <a:gd name="adj" fmla="val 2353"/>
            </a:avLst>
          </a:prstGeom>
          <a:solidFill>
            <a:srgbClr val="0E3B3F"/>
          </a:solidFill>
          <a:ln w="12700">
            <a:solidFill>
              <a:srgbClr val="0E3B3F"/>
            </a:solidFill>
            <a:prstDash val="solid"/>
          </a:ln>
        </p:spPr>
      </p:sp>
      <p:sp>
        <p:nvSpPr>
          <p:cNvPr id="25" name="h"/>
          <p:cNvSpPr txBox="1"/>
          <p:nvPr/>
        </p:nvSpPr>
        <p:spPr>
          <a:xfrm>
            <a:off x="6720840" y="1508760"/>
            <a:ext cx="46634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For the mentor</a:t>
            </a:r>
            <a:endParaRPr lang="en-US" sz="1800" dirty="0"/>
          </a:p>
        </p:txBody>
      </p:sp>
      <p:sp>
        <p:nvSpPr>
          <p:cNvPr id="26" name="questions"/>
          <p:cNvSpPr txBox="1"/>
          <p:nvPr/>
        </p:nvSpPr>
        <p:spPr>
          <a:xfrm>
            <a:off x="6720840" y="2057400"/>
            <a:ext cx="4663440" cy="384048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400" dirty="0">
                <a:solidFill>
                  <a:srgbClr val="DDEEEB"/>
                </a:solidFill>
              </a:rPr>
              <a:t>R006 and R013: three public claims split one service into a plain line and an EDU-SEPARATE line (CG-B10B19D8A56A, CG-00348A9B1AAD, CG-EC233ACB399D). The rules pass them as documented, but the total quantity exceeds the per-line limit. Intended?</a:t>
            </a:r>
            <a:endParaRPr lang="en-US" sz="1400" dirty="0"/>
          </a:p>
          <a:p>
            <a:pPr marL="342900" indent="-342900">
              <a:spcAft>
                <a:spcPts val="900"/>
              </a:spcAft>
              <a:buSzPct val="100000"/>
              <a:buFont typeface="+mj-lt"/>
              <a:buAutoNum type="arabicPeriod" startAt="1"/>
            </a:pPr>
            <a:r>
              <a:rPr lang="en-US" sz="1400" dirty="0">
                <a:solidFill>
                  <a:srgbClr val="DDEEEB"/>
                </a:solidFill>
              </a:rPr>
              <a:t>Is 'pre-validation clear' the right label for a claim a person confirmed or the system cleared?</a:t>
            </a:r>
            <a:endParaRPr lang="en-US" sz="1400" dirty="0"/>
          </a:p>
          <a:p>
            <a:pPr marL="342900" indent="-342900">
              <a:spcAft>
                <a:spcPts val="900"/>
              </a:spcAft>
              <a:buSzPct val="100000"/>
              <a:buFont typeface="+mj-lt"/>
              <a:buAutoNum type="arabicPeriod" startAt="1"/>
            </a:pPr>
            <a:r>
              <a:rPr lang="en-US" sz="1400" dirty="0">
                <a:solidFill>
                  <a:srgbClr val="DDEEEB"/>
                </a:solidFill>
              </a:rPr>
              <a:t>A Redis Streams queue in Rust: acceptable in place of Celery or ARQ?</a:t>
            </a:r>
            <a:endParaRPr lang="en-US" sz="1400" dirty="0"/>
          </a:p>
          <a:p>
            <a:pPr marL="342900" indent="-342900">
              <a:spcAft>
                <a:spcPts val="900"/>
              </a:spcAft>
              <a:buSzPct val="100000"/>
              <a:buFont typeface="+mj-lt"/>
              <a:buAutoNum type="arabicPeriod" startAt="1"/>
            </a:pPr>
            <a:r>
              <a:rPr lang="en-US" sz="1400" dirty="0">
                <a:solidFill>
                  <a:srgbClr val="DDEEEB"/>
                </a:solidFill>
              </a:rPr>
              <a:t>Would a timed session with a few officers be possible, to measure real time saved?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ClaimGuard">
  <a:themeElements>
    <a:clrScheme name="ClaimGuard">
      <a:dk1>
        <a:srgbClr val="17292B"/>
      </a:dk1>
      <a:lt1>
        <a:srgbClr val="FFFFFF"/>
      </a:lt1>
      <a:dk2>
        <a:srgbClr val="0E3B3F"/>
      </a:dk2>
      <a:lt2>
        <a:srgbClr val="F2F6F5"/>
      </a:lt2>
      <a:accent1>
        <a:srgbClr val="14746F"/>
      </a:accent1>
      <a:accent2>
        <a:srgbClr val="F2A541"/>
      </a:accent2>
      <a:accent3>
        <a:srgbClr val="C8553D"/>
      </a:accent3>
      <a:accent4>
        <a:srgbClr val="5C7173"/>
      </a:accent4>
      <a:accent5>
        <a:srgbClr val="2E9E8F"/>
      </a:accent5>
      <a:accent6>
        <a:srgbClr val="8FB8B3"/>
      </a:accent6>
      <a:hlink>
        <a:srgbClr val="14746F"/>
      </a:hlink>
      <a:folHlink>
        <a:srgbClr val="5C7173"/>
      </a:folHlink>
    </a:clrScheme>
    <a:fontScheme name="Claim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mentor session</dc:title>
  <dc:subject>PptxGenJS Presentation</dc:subject>
  <dc:creator>ClaimGuard team</dc:creator>
  <cp:lastModifiedBy>ClaimGuard team</cp:lastModifiedBy>
  <cp:revision>1</cp:revision>
  <dcterms:created xsi:type="dcterms:W3CDTF">2026-10-16T22:14:25Z</dcterms:created>
  <dcterms:modified xsi:type="dcterms:W3CDTF">2026-10-16T22:14:25Z</dcterms:modified>
</cp:coreProperties>
</file>