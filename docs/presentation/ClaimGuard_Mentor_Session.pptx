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113cbad-9147-32df-257f-8e2187e82573}">
          <p14:sldIdLst>
            <p14:sldId id="256"/>
            <p14:sldId id="257"/>
            <p14:sldId id="258"/>
          </p14:sldIdLst>
        </p14:section>
        <p14:section name="Core" id="{87505a97-640c-cc24-54c3-d6e91e1b52b2}">
          <p14:sldIdLst>
            <p14:sldId id="259"/>
            <p14:sldId id="260"/>
            <p14:sldId id="261"/>
          </p14:sldIdLst>
        </p14:section>
        <p14:section name="Queue and AI" id="{779255aa-051c-ea2e-c5da-c298c1dc368e}">
          <p14:sldIdLst>
            <p14:sldId id="262"/>
            <p14:sldId id="263"/>
            <p14:sldId id="264"/>
            <p14:sldId id="265"/>
          </p14:sldIdLst>
        </p14:section>
        <p14:section name="Built this week" id="{b5ea3095-b8a8-db46-2106-e480086701ca}">
          <p14:sldIdLst>
            <p14:sldId id="266"/>
            <p14:sldId id="267"/>
            <p14:sldId id="268"/>
          </p14:sldIdLst>
        </p14:section>
        <p14:section name="Less work for the operator" id="{76c330c8-3e44-cfda-5e2e-c2a073867424}">
          <p14:sldIdLst>
            <p14:sldId id="269"/>
            <p14:sldId id="270"/>
            <p14:sldId id="271"/>
          </p14:sldIdLst>
        </p14:section>
        <p14:section name="Trust" id="{233c570f-2124-2c9c-3922-01749ac6410d}">
          <p14:sldIdLst>
            <p14:sldId id="272"/>
            <p14:sldId id="273"/>
            <p14:sldId id="274"/>
            <p14:sldId id="275"/>
          </p14:sldIdLst>
        </p14:section>
        <p14:section name="Close" id="{3812ea31-f601-64a9-3c17-6a162773f72f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B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3B3F"/>
                </a:solidFill>
                <a:latin typeface="+mn-lt"/>
              </a:rPr>
              <a:t>Simulated: hours to drain 500 claims with 20 agents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to drain 500 claims</c:v>
                </c:pt>
              </c:strCache>
            </c:strRef>
          </c:tx>
          <c:spPr>
            <a:solidFill>
              <a:srgbClr val="1474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9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4 seniors</c:v>
                  </c:pt>
                  <c:pt idx="1">
                    <c:v>8 seniors</c:v>
                  </c:pt>
                  <c:pt idx="2">
                    <c:v>4 seniors, four-eyes</c:v>
                  </c:pt>
                  <c:pt idx="3">
                    <c:v>8 seniors, four-eyes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2.97</c:v>
                </c:pt>
                <c:pt idx="1">
                  <c:v>1.82</c:v>
                </c:pt>
                <c:pt idx="2">
                  <c:v>5.66</c:v>
                </c:pt>
                <c:pt idx="3">
                  <c:v>3.07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29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9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1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B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3B3F"/>
                </a:solidFill>
                <a:latin typeface="+mn-lt"/>
              </a:rPr>
              <a:t>Proposed corrections that clear their finding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Proposed</c:v>
                </c:pt>
              </c:strCache>
            </c:strRef>
          </c:tx>
          <c:spPr>
            <a:solidFill>
              <a:srgbClr val="8FB8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9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R007 line amount</c:v>
                  </c:pt>
                  <c:pt idx="1">
                    <c:v>R012 claim total</c:v>
                  </c:pt>
                  <c:pt idx="2">
                    <c:v>R015 currency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34</c:v>
                </c:pt>
                <c:pt idx="2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Cleared the finding</c:v>
                </c:pt>
              </c:strCache>
            </c:strRef>
          </c:tx>
          <c:spPr>
            <a:solidFill>
              <a:srgbClr val="1474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9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R007 line amount</c:v>
                  </c:pt>
                  <c:pt idx="1">
                    <c:v>R012 claim total</c:v>
                  </c:pt>
                  <c:pt idx="2">
                    <c:v>R015 currency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34</c:v>
                </c:pt>
                <c:pt idx="2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29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9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1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9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saying the goal in the mentor's words: a trustworthy, explainable copilot for claim pre-validation, not a production RCM platform. The deck follows his workflow in 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top to bottom. Points 4 and 6 contain questions for the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3 and 5 are what was added this week. Everything else existed and was measured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claim left to right. MongoDB is the truth. Redis only carries work; losing it loses nothing because the outbox marker stays in MongoDB.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public set is synthetic and small. Nine of fifteen rules have no failing example in the 50-claim split, which is why the 150 and 400 splits are reported beside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 reader runs in its own container. Say plainly that handwriting and Arabic are untested.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asked for Celery or ARQ. Those are Python libraries; this is the same pattern in Rust on Redis Streams. Question 2 in the mentor pack asks whether that is acceptable.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people and the model in the simulation are simulated. The invariants (no claim in two inboxes, nobody decides a claim they may not) are what carries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cache holds text with placeholders. The grounding guard runs again on the filled text every time, cached or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AI evaluation: in the supplied-case runs many answers fell back to the template because of provider timeouts. The fallback working is the point, but the live-answer quality sample is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model here, on purpose. Each sentence is built from the finding and the claim, so every sentence cites a rule and claim paths. That makes grounding something we can test, not hope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press Try this in a what-if, show the before and after table, then apply with a reason. The trace page shows both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version proposed only the line amount and created a new R012 failure in 25 of 30 cases, because the claim total had matched the wrong line. Measuring it found that; the copilot now proposes the line and the total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simulated reviewers on the real pipeline. A timed session with real reviewers is the first thing to do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warned that a model trained on artificial decisions may only reproduce the rules. We tested that honestly and archived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logic follows published practice. The attributes the single-claim rules need are invented and labelled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outside party has attacked the system.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audit_guard_demo.py live: it rewrites a row and the health panel turns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Kubernetes manifests are written and structurally tested but there was no cluster to apply them to.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an RTX 4060 laptop with 8 GB, not the 3080 target. Ollama ran now. vLLM could not be installed here: the system drive has under 9 GB free and vLLM needs about 15 GB with 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slide out. It is the most credible slide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 follows the mentor's six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E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E3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424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1554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ClaimGuard</a:t>
            </a:r>
            <a:endParaRPr lang="en-US" sz="6600" dirty="0"/>
          </a:p>
        </p:txBody>
      </p:sp>
      <p:sp>
        <p:nvSpPr>
          <p:cNvPr id="3" name="subtitle"/>
          <p:cNvSpPr txBox="1"/>
          <p:nvPr/>
        </p:nvSpPr>
        <p:spPr>
          <a:xfrm>
            <a:off x="822960" y="283464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ADCD9"/>
                </a:solidFill>
              </a:rPr>
              <a:t>A copilot that helps a claims officer understand a claim, decide, correct it and revalidate it, with every step on record</a:t>
            </a:r>
            <a:endParaRPr lang="en-US" sz="2400" dirty="0"/>
          </a:p>
        </p:txBody>
      </p:sp>
      <p:sp>
        <p:nvSpPr>
          <p:cNvPr id="4" name="tag"/>
          <p:cNvSpPr/>
          <p:nvPr/>
        </p:nvSpPr>
        <p:spPr>
          <a:xfrm>
            <a:off x="822960" y="448056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ag text"/>
          <p:cNvSpPr txBox="1"/>
          <p:nvPr/>
        </p:nvSpPr>
        <p:spPr>
          <a:xfrm>
            <a:off x="822960" y="4480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Mentor session</a:t>
            </a:r>
            <a:endParaRPr lang="en-US" sz="1100" dirty="0"/>
          </a:p>
        </p:txBody>
      </p:sp>
      <p:sp>
        <p:nvSpPr>
          <p:cNvPr id="6" name="tagline"/>
          <p:cNvSpPr txBox="1"/>
          <p:nvPr/>
        </p:nvSpPr>
        <p:spPr>
          <a:xfrm>
            <a:off x="822960" y="4937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B8B3"/>
                </a:solidFill>
              </a:rPr>
              <a:t>Sunday 18 October 2026. Everything built since the Phase 1 submission, measured, with what is not done said plainly.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email of 16 October, point by point</a:t>
            </a:r>
            <a:endParaRPr lang="en-US" sz="32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852160"/>
                <a:gridCol w="47548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you asked for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Where we stand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Human in the loop: confirm, dismiss with reason, request information, correct and revalidate, prioritised and traceable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92B"/>
                          </a:solidFill>
                        </a:rPr>
                        <a:t>Built. Lanes and a transparent score, four-eyes on high severity, full audit trail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All 15 rules right; extra rules kept apart from the benchmark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92B"/>
                          </a:solidFill>
                        </a:rPr>
                        <a:t>F1 1.00 on 600 public claims. 8 advisory rules in a separate pack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AI that helps a claims officer, grounded, with a plan for wrong output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92B"/>
                          </a:solidFill>
                        </a:rPr>
                        <a:t>Explainer, correction assistant, what-if, reviewer summary, feedback analysis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R006 as documented; three public claims to review together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92B"/>
                          </a:solidFill>
                        </a:rPr>
                        <a:t>Kept as documented. Three claims to discuss (slide 22)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Authorization aggregated per claim; cross-claim only as an extension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92B"/>
                          </a:solidFill>
                        </a:rPr>
                        <a:t>R009 per claim. Cross-claim is advisory rule E102, separate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Pre-validation clearance, not payer approval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92B"/>
                          </a:solidFill>
                        </a:rPr>
                        <a:t>Wording fixed in the console. Auto-clear exists, off by default, audited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Keep the JSONL schema; confidence null, not_probabilistic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92B"/>
                          </a:solidFill>
                        </a:rPr>
                        <a:t>Unchanged and enforced in the audit log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One convincing end-to-end workflow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92B"/>
                          </a:solidFill>
                        </a:rPr>
                        <a:t>Six steps run in the console (next slide)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 you described, running end to end</a:t>
            </a:r>
            <a:endParaRPr lang="en-US" sz="3200" dirty="0"/>
          </a:p>
        </p:txBody>
      </p:sp>
      <p:sp>
        <p:nvSpPr>
          <p:cNvPr id="4" name="step card 1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6" name="badge text"/>
          <p:cNvSpPr txBox="1"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title"/>
          <p:cNvSpPr txBox="1"/>
          <p:nvPr/>
        </p:nvSpPr>
        <p:spPr>
          <a:xfrm>
            <a:off x="777240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received and validated</a:t>
            </a:r>
            <a:endParaRPr lang="en-US" sz="1800" dirty="0"/>
          </a:p>
        </p:txBody>
      </p:sp>
      <p:sp>
        <p:nvSpPr>
          <p:cNvPr id="8" name="step text"/>
          <p:cNvSpPr txBox="1"/>
          <p:nvPr/>
        </p:nvSpPr>
        <p:spPr>
          <a:xfrm>
            <a:off x="77724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92B"/>
                </a:solidFill>
              </a:rPr>
              <a:t>FHIR, CSV, JSONL, PDF or photo. 15 rules, 0.19 ms per claim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4325112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4553712" y="1737360"/>
            <a:ext cx="384048" cy="384048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1" name="badge text"/>
          <p:cNvSpPr txBox="1"/>
          <p:nvPr/>
        </p:nvSpPr>
        <p:spPr>
          <a:xfrm>
            <a:off x="455371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tep title"/>
          <p:cNvSpPr txBox="1"/>
          <p:nvPr/>
        </p:nvSpPr>
        <p:spPr>
          <a:xfrm>
            <a:off x="4553712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Errors, doubts and evidence</a:t>
            </a:r>
            <a:endParaRPr lang="en-US" sz="1800" dirty="0"/>
          </a:p>
        </p:txBody>
      </p:sp>
      <p:sp>
        <p:nvSpPr>
          <p:cNvPr id="13" name="step text"/>
          <p:cNvSpPr txBox="1"/>
          <p:nvPr/>
        </p:nvSpPr>
        <p:spPr>
          <a:xfrm>
            <a:off x="4553712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92B"/>
                </a:solidFill>
              </a:rPr>
              <a:t>FAIL, or UNABLE_TO_ASSESS when data is missing. Each finding cites claim paths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8101584" y="15087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1DB"/>
          </a:solidFill>
          <a:ln w="12700">
            <a:solidFill>
              <a:srgbClr val="FFF1DB"/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8330184" y="1737360"/>
            <a:ext cx="384048" cy="384048"/>
          </a:xfrm>
          <a:prstGeom prst="ellipse">
            <a:avLst/>
          </a:prstGeom>
          <a:solidFill>
            <a:srgbClr val="C47A12"/>
          </a:solidFill>
          <a:ln w="12700">
            <a:solidFill>
              <a:srgbClr val="C47A12"/>
            </a:solidFill>
            <a:prstDash val="solid"/>
          </a:ln>
        </p:spPr>
      </p:sp>
      <p:sp>
        <p:nvSpPr>
          <p:cNvPr id="16" name="badge text"/>
          <p:cNvSpPr txBox="1"/>
          <p:nvPr/>
        </p:nvSpPr>
        <p:spPr>
          <a:xfrm>
            <a:off x="833018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ag"/>
          <p:cNvSpPr/>
          <p:nvPr/>
        </p:nvSpPr>
        <p:spPr>
          <a:xfrm>
            <a:off x="10204704" y="17830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ag text"/>
          <p:cNvSpPr txBox="1"/>
          <p:nvPr/>
        </p:nvSpPr>
        <p:spPr>
          <a:xfrm>
            <a:off x="10204704" y="1783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built this week</a:t>
            </a:r>
            <a:endParaRPr lang="en-US" sz="1100" dirty="0"/>
          </a:p>
        </p:txBody>
      </p:sp>
      <p:sp>
        <p:nvSpPr>
          <p:cNvPr id="19" name="step title"/>
          <p:cNvSpPr txBox="1"/>
          <p:nvPr/>
        </p:nvSpPr>
        <p:spPr>
          <a:xfrm>
            <a:off x="8330184" y="2286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explains and advises</a:t>
            </a:r>
            <a:endParaRPr lang="en-US" sz="1800" dirty="0"/>
          </a:p>
        </p:txBody>
      </p:sp>
      <p:sp>
        <p:nvSpPr>
          <p:cNvPr id="20" name="step text"/>
          <p:cNvSpPr txBox="1"/>
          <p:nvPr/>
        </p:nvSpPr>
        <p:spPr>
          <a:xfrm>
            <a:off x="8330184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92B"/>
                </a:solidFill>
              </a:rPr>
              <a:t>Summary, what to ask or correct, never an invented value</a:t>
            </a:r>
            <a:endParaRPr lang="en-US" sz="1400" dirty="0"/>
          </a:p>
        </p:txBody>
      </p:sp>
      <p:sp>
        <p:nvSpPr>
          <p:cNvPr id="21" name="step card 4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3" name="badge text"/>
          <p:cNvSpPr txBox="1"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tep title"/>
          <p:cNvSpPr txBox="1"/>
          <p:nvPr/>
        </p:nvSpPr>
        <p:spPr>
          <a:xfrm>
            <a:off x="777240" y="4709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decides</a:t>
            </a:r>
            <a:endParaRPr lang="en-US" sz="1800" dirty="0"/>
          </a:p>
        </p:txBody>
      </p:sp>
      <p:sp>
        <p:nvSpPr>
          <p:cNvPr id="25" name="step text"/>
          <p:cNvSpPr txBox="1"/>
          <p:nvPr/>
        </p:nvSpPr>
        <p:spPr>
          <a:xfrm>
            <a:off x="77724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92B"/>
                </a:solidFill>
              </a:rPr>
              <a:t>Confirm, dismiss with a reason, request information. Seniors for high severity</a:t>
            </a:r>
            <a:endParaRPr lang="en-US" sz="1400" dirty="0"/>
          </a:p>
        </p:txBody>
      </p:sp>
      <p:sp>
        <p:nvSpPr>
          <p:cNvPr id="26" name="step card 5"/>
          <p:cNvSpPr/>
          <p:nvPr/>
        </p:nvSpPr>
        <p:spPr>
          <a:xfrm>
            <a:off x="4325112" y="39319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1DB"/>
          </a:solidFill>
          <a:ln w="12700">
            <a:solidFill>
              <a:srgbClr val="FFF1DB"/>
            </a:solidFill>
            <a:prstDash val="solid"/>
          </a:ln>
        </p:spPr>
      </p:sp>
      <p:sp>
        <p:nvSpPr>
          <p:cNvPr id="27" name="badge"/>
          <p:cNvSpPr/>
          <p:nvPr/>
        </p:nvSpPr>
        <p:spPr>
          <a:xfrm>
            <a:off x="4553712" y="4160520"/>
            <a:ext cx="384048" cy="384048"/>
          </a:xfrm>
          <a:prstGeom prst="ellipse">
            <a:avLst/>
          </a:prstGeom>
          <a:solidFill>
            <a:srgbClr val="C47A12"/>
          </a:solidFill>
          <a:ln w="12700">
            <a:solidFill>
              <a:srgbClr val="C47A12"/>
            </a:solidFill>
            <a:prstDash val="solid"/>
          </a:ln>
        </p:spPr>
      </p:sp>
      <p:sp>
        <p:nvSpPr>
          <p:cNvPr id="28" name="badge text"/>
          <p:cNvSpPr txBox="1"/>
          <p:nvPr/>
        </p:nvSpPr>
        <p:spPr>
          <a:xfrm>
            <a:off x="4553712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ag"/>
          <p:cNvSpPr/>
          <p:nvPr/>
        </p:nvSpPr>
        <p:spPr>
          <a:xfrm>
            <a:off x="6428232" y="42062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tag text"/>
          <p:cNvSpPr txBox="1"/>
          <p:nvPr/>
        </p:nvSpPr>
        <p:spPr>
          <a:xfrm>
            <a:off x="6428232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built this week</a:t>
            </a:r>
            <a:endParaRPr lang="en-US" sz="1100" dirty="0"/>
          </a:p>
        </p:txBody>
      </p:sp>
      <p:sp>
        <p:nvSpPr>
          <p:cNvPr id="31" name="step title"/>
          <p:cNvSpPr txBox="1"/>
          <p:nvPr/>
        </p:nvSpPr>
        <p:spPr>
          <a:xfrm>
            <a:off x="4553712" y="4709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and revalidate</a:t>
            </a:r>
            <a:endParaRPr lang="en-US" sz="1800" dirty="0"/>
          </a:p>
        </p:txBody>
      </p:sp>
      <p:sp>
        <p:nvSpPr>
          <p:cNvPr id="32" name="step text"/>
          <p:cNvSpPr txBox="1"/>
          <p:nvPr/>
        </p:nvSpPr>
        <p:spPr>
          <a:xfrm>
            <a:off x="4553712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92B"/>
                </a:solidFill>
              </a:rPr>
              <a:t>What-if first, then a new version. The original stays untouched</a:t>
            </a:r>
            <a:endParaRPr lang="en-US" sz="1400" dirty="0"/>
          </a:p>
        </p:txBody>
      </p:sp>
      <p:sp>
        <p:nvSpPr>
          <p:cNvPr id="33" name="step card 6"/>
          <p:cNvSpPr/>
          <p:nvPr/>
        </p:nvSpPr>
        <p:spPr>
          <a:xfrm>
            <a:off x="8101584" y="393192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8330184" y="4160520"/>
            <a:ext cx="384048" cy="384048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35" name="badge text"/>
          <p:cNvSpPr txBox="1"/>
          <p:nvPr/>
        </p:nvSpPr>
        <p:spPr>
          <a:xfrm>
            <a:off x="8330184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step title"/>
          <p:cNvSpPr txBox="1"/>
          <p:nvPr/>
        </p:nvSpPr>
        <p:spPr>
          <a:xfrm>
            <a:off x="8330184" y="4709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Traceable, with limits shown</a:t>
            </a:r>
            <a:endParaRPr lang="en-US" sz="1800" dirty="0"/>
          </a:p>
        </p:txBody>
      </p:sp>
      <p:sp>
        <p:nvSpPr>
          <p:cNvPr id="37" name="step text"/>
          <p:cNvSpPr txBox="1"/>
          <p:nvPr/>
        </p:nvSpPr>
        <p:spPr>
          <a:xfrm>
            <a:off x="8330184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92B"/>
                </a:solidFill>
              </a:rPr>
              <a:t>Signed audit trail, both versions side by side, measured accuracy</a:t>
            </a:r>
            <a:endParaRPr lang="en-US" sz="1400" dirty="0"/>
          </a:p>
        </p:txBody>
      </p:sp>
      <p:sp>
        <p:nvSpPr>
          <p:cNvPr id="38" name="footnote"/>
          <p:cNvSpPr txBox="1"/>
          <p:nvPr/>
        </p:nvSpPr>
        <p:spPr>
          <a:xfrm>
            <a:off x="548640" y="61996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All numbers in this deck come from commands you can re-run. Anything simulated says so on its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fits together</a:t>
            </a:r>
            <a:endParaRPr lang="en-US" sz="3200" dirty="0"/>
          </a:p>
        </p:txBody>
      </p:sp>
      <p:sp>
        <p:nvSpPr>
          <p:cNvPr id="4" name="box Inputs"/>
          <p:cNvSpPr/>
          <p:nvPr/>
        </p:nvSpPr>
        <p:spPr>
          <a:xfrm>
            <a:off x="548640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5C7173"/>
          </a:solidFill>
          <a:ln w="12700">
            <a:solidFill>
              <a:srgbClr val="5C7173"/>
            </a:solidFill>
            <a:prstDash val="solid"/>
          </a:ln>
        </p:spPr>
      </p:sp>
      <p:sp>
        <p:nvSpPr>
          <p:cNvPr id="5" name="box text Inputs"/>
          <p:cNvSpPr txBox="1"/>
          <p:nvPr/>
        </p:nvSpPr>
        <p:spPr>
          <a:xfrm>
            <a:off x="621792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FHIR, CSV, JSONL, PDF, photo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459736" y="2080260"/>
            <a:ext cx="310896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7" name="box Intake"/>
          <p:cNvSpPr/>
          <p:nvPr/>
        </p:nvSpPr>
        <p:spPr>
          <a:xfrm>
            <a:off x="2807208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8" name="box text Intake"/>
          <p:cNvSpPr txBox="1"/>
          <p:nvPr/>
        </p:nvSpPr>
        <p:spPr>
          <a:xfrm>
            <a:off x="2880360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Intake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validate, quarantine, reader sandbox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4718304" y="2080260"/>
            <a:ext cx="310896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10" name="box Rule engine"/>
          <p:cNvSpPr/>
          <p:nvPr/>
        </p:nvSpPr>
        <p:spPr>
          <a:xfrm>
            <a:off x="5065776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0E3B3F"/>
          </a:solidFill>
          <a:ln w="12700">
            <a:solidFill>
              <a:srgbClr val="0E3B3F"/>
            </a:solidFill>
            <a:prstDash val="solid"/>
          </a:ln>
        </p:spPr>
      </p:sp>
      <p:sp>
        <p:nvSpPr>
          <p:cNvPr id="11" name="box text Rule engine"/>
          <p:cNvSpPr txBox="1"/>
          <p:nvPr/>
        </p:nvSpPr>
        <p:spPr>
          <a:xfrm>
            <a:off x="5138928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Rule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15 rules, YARA-X, 0.19 ms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6976872" y="2080260"/>
            <a:ext cx="310896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13" name="box MongoDB"/>
          <p:cNvSpPr/>
          <p:nvPr/>
        </p:nvSpPr>
        <p:spPr>
          <a:xfrm>
            <a:off x="7324344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4" name="box text MongoDB"/>
          <p:cNvSpPr txBox="1"/>
          <p:nvPr/>
        </p:nvSpPr>
        <p:spPr>
          <a:xfrm>
            <a:off x="7397496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MongoDB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claims and results sealed at rest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9235440" y="2080260"/>
            <a:ext cx="310896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16" name="box Redis Streams"/>
          <p:cNvSpPr/>
          <p:nvPr/>
        </p:nvSpPr>
        <p:spPr>
          <a:xfrm>
            <a:off x="9582912" y="1600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8C4A3A"/>
          </a:solidFill>
          <a:ln w="12700">
            <a:solidFill>
              <a:srgbClr val="8C4A3A"/>
            </a:solidFill>
            <a:prstDash val="solid"/>
          </a:ln>
        </p:spPr>
      </p:sp>
      <p:sp>
        <p:nvSpPr>
          <p:cNvPr id="17" name="box text Redis Streams"/>
          <p:cNvSpPr txBox="1"/>
          <p:nvPr/>
        </p:nvSpPr>
        <p:spPr>
          <a:xfrm>
            <a:off x="9656064" y="160020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Redis Streams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consumer group, concurrency cap</a:t>
            </a:r>
            <a:endParaRPr lang="en-US" sz="1400" dirty="0"/>
          </a:p>
        </p:txBody>
      </p:sp>
      <p:sp>
        <p:nvSpPr>
          <p:cNvPr id="18" name="box AI explanation"/>
          <p:cNvSpPr/>
          <p:nvPr/>
        </p:nvSpPr>
        <p:spPr>
          <a:xfrm>
            <a:off x="9582912" y="3246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6E4B8B"/>
          </a:solidFill>
          <a:ln w="12700">
            <a:solidFill>
              <a:srgbClr val="6E4B8B"/>
            </a:solidFill>
            <a:prstDash val="solid"/>
          </a:ln>
        </p:spPr>
      </p:sp>
      <p:sp>
        <p:nvSpPr>
          <p:cNvPr id="19" name="box text AI explanation"/>
          <p:cNvSpPr txBox="1"/>
          <p:nvPr/>
        </p:nvSpPr>
        <p:spPr>
          <a:xfrm>
            <a:off x="9656064" y="324612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explanation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breaker, budget, cache, grounding guard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 flipH="1">
            <a:off x="9235440" y="3726180"/>
            <a:ext cx="310896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21" name="box Dispatcher"/>
          <p:cNvSpPr/>
          <p:nvPr/>
        </p:nvSpPr>
        <p:spPr>
          <a:xfrm>
            <a:off x="7324344" y="3246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2" name="box text Dispatcher"/>
          <p:cNvSpPr txBox="1"/>
          <p:nvPr/>
        </p:nvSpPr>
        <p:spPr>
          <a:xfrm>
            <a:off x="7397496" y="324612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Dispatcher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lanes, leases, personal inboxes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 flipH="1">
            <a:off x="6976872" y="3726180"/>
            <a:ext cx="310896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24" name="box Console"/>
          <p:cNvSpPr/>
          <p:nvPr/>
        </p:nvSpPr>
        <p:spPr>
          <a:xfrm>
            <a:off x="5065776" y="3246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0E3B3F"/>
          </a:solidFill>
          <a:ln w="12700">
            <a:solidFill>
              <a:srgbClr val="0E3B3F"/>
            </a:solidFill>
            <a:prstDash val="solid"/>
          </a:ln>
        </p:spPr>
      </p:sp>
      <p:sp>
        <p:nvSpPr>
          <p:cNvPr id="25" name="box text Console"/>
          <p:cNvSpPr txBox="1"/>
          <p:nvPr/>
        </p:nvSpPr>
        <p:spPr>
          <a:xfrm>
            <a:off x="5138928" y="324612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Console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inbox, copilot, what-if, recheck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 flipH="1">
            <a:off x="4718304" y="3726180"/>
            <a:ext cx="310896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27" name="box Decision"/>
          <p:cNvSpPr/>
          <p:nvPr/>
        </p:nvSpPr>
        <p:spPr>
          <a:xfrm>
            <a:off x="2807208" y="3246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8" name="box text Decision"/>
          <p:cNvSpPr txBox="1"/>
          <p:nvPr/>
        </p:nvSpPr>
        <p:spPr>
          <a:xfrm>
            <a:off x="2880360" y="324612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badge, reason, four-eyes</a:t>
            </a:r>
            <a:endParaRPr lang="en-US" sz="1400" dirty="0"/>
          </a:p>
        </p:txBody>
      </p:sp>
      <p:sp>
        <p:nvSpPr>
          <p:cNvPr id="29" name="arrow"/>
          <p:cNvSpPr/>
          <p:nvPr/>
        </p:nvSpPr>
        <p:spPr>
          <a:xfrm flipH="1">
            <a:off x="2459736" y="3726180"/>
            <a:ext cx="310896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30" name="box New version"/>
          <p:cNvSpPr/>
          <p:nvPr/>
        </p:nvSpPr>
        <p:spPr>
          <a:xfrm>
            <a:off x="548640" y="3246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C47A12"/>
          </a:solidFill>
          <a:ln w="12700">
            <a:solidFill>
              <a:srgbClr val="C47A12"/>
            </a:solidFill>
            <a:prstDash val="solid"/>
          </a:ln>
        </p:spPr>
      </p:sp>
      <p:sp>
        <p:nvSpPr>
          <p:cNvPr id="31" name="box text New version"/>
          <p:cNvSpPr txBox="1"/>
          <p:nvPr/>
        </p:nvSpPr>
        <p:spPr>
          <a:xfrm>
            <a:off x="621792" y="3246120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version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corrected claim, validated again</a:t>
            </a:r>
            <a:endParaRPr lang="en-US" sz="1400" dirty="0"/>
          </a:p>
        </p:txBody>
      </p:sp>
      <p:sp>
        <p:nvSpPr>
          <p:cNvPr id="32" name="arrow"/>
          <p:cNvSpPr/>
          <p:nvPr/>
        </p:nvSpPr>
        <p:spPr>
          <a:xfrm>
            <a:off x="10520172" y="2578608"/>
            <a:ext cx="0" cy="649224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33" name="records band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34" name="band title"/>
          <p:cNvSpPr txBox="1"/>
          <p:nvPr/>
        </p:nvSpPr>
        <p:spPr>
          <a:xfrm>
            <a:off x="777240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Records and people</a:t>
            </a:r>
            <a:endParaRPr lang="en-US" sz="1400" dirty="0"/>
          </a:p>
        </p:txBody>
      </p:sp>
      <p:sp>
        <p:nvSpPr>
          <p:cNvPr id="35" name="record Review log"/>
          <p:cNvSpPr txBox="1"/>
          <p:nvPr/>
        </p:nvSpPr>
        <p:spPr>
          <a:xfrm>
            <a:off x="77724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92B"/>
                </a:solidFill>
              </a:rPr>
              <a:t>Review log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C7173"/>
                </a:solidFill>
              </a:rPr>
              <a:t>hash-chained, signed</a:t>
            </a:r>
            <a:endParaRPr lang="en-US" sz="1400" dirty="0"/>
          </a:p>
        </p:txBody>
      </p:sp>
      <p:sp>
        <p:nvSpPr>
          <p:cNvPr id="36" name="record Security log"/>
          <p:cNvSpPr txBox="1"/>
          <p:nvPr/>
        </p:nvSpPr>
        <p:spPr>
          <a:xfrm>
            <a:off x="347472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92B"/>
                </a:solidFill>
              </a:rPr>
              <a:t>Security log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C7173"/>
                </a:solidFill>
              </a:rPr>
              <a:t>every access and decision</a:t>
            </a:r>
            <a:endParaRPr lang="en-US" sz="1400" dirty="0"/>
          </a:p>
        </p:txBody>
      </p:sp>
      <p:sp>
        <p:nvSpPr>
          <p:cNvPr id="37" name="record Ledger"/>
          <p:cNvSpPr txBox="1"/>
          <p:nvPr/>
        </p:nvSpPr>
        <p:spPr>
          <a:xfrm>
            <a:off x="617220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92B"/>
                </a:solidFill>
              </a:rPr>
              <a:t>Ledger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C7173"/>
                </a:solidFill>
              </a:rPr>
              <a:t>Ed25519 checkpoints, Merkle proofs</a:t>
            </a:r>
            <a:endParaRPr lang="en-US" sz="1400" dirty="0"/>
          </a:p>
        </p:txBody>
      </p:sp>
      <p:sp>
        <p:nvSpPr>
          <p:cNvPr id="38" name="record Access control"/>
          <p:cNvSpPr txBox="1"/>
          <p:nvPr/>
        </p:nvSpPr>
        <p:spPr>
          <a:xfrm>
            <a:off x="8869680" y="5029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92B"/>
                </a:solidFill>
              </a:rPr>
              <a:t>Access control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C7173"/>
                </a:solidFill>
              </a:rPr>
              <a:t>4 clearance levels, pseudonymised identifiers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correctness: the 15 reference rules, measured</a:t>
            </a:r>
            <a:endParaRPr lang="en-US" sz="3200" dirty="0"/>
          </a:p>
        </p:txBody>
      </p:sp>
      <p:sp>
        <p:nvSpPr>
          <p:cNvPr id="4" name="stat"/>
          <p:cNvSpPr txBox="1"/>
          <p:nvPr/>
        </p:nvSpPr>
        <p:spPr>
          <a:xfrm>
            <a:off x="54864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4400" dirty="0"/>
          </a:p>
        </p:txBody>
      </p:sp>
      <p:sp>
        <p:nvSpPr>
          <p:cNvPr id="5" name="stat label"/>
          <p:cNvSpPr txBox="1"/>
          <p:nvPr/>
        </p:nvSpPr>
        <p:spPr>
          <a:xfrm>
            <a:off x="54864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F1 on all 600 public claims (400 development, 150 validation, 50 stress)</a:t>
            </a:r>
            <a:endParaRPr lang="en-US" sz="1400" dirty="0"/>
          </a:p>
        </p:txBody>
      </p:sp>
      <p:sp>
        <p:nvSpPr>
          <p:cNvPr id="6" name="stat"/>
          <p:cNvSpPr txBox="1"/>
          <p:nvPr/>
        </p:nvSpPr>
        <p:spPr>
          <a:xfrm>
            <a:off x="329184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3,015</a:t>
            </a:r>
            <a:endParaRPr lang="en-US" sz="3200" dirty="0"/>
          </a:p>
        </p:txBody>
      </p:sp>
      <p:sp>
        <p:nvSpPr>
          <p:cNvPr id="7" name="stat label"/>
          <p:cNvSpPr txBox="1"/>
          <p:nvPr/>
        </p:nvSpPr>
        <p:spPr>
          <a:xfrm>
            <a:off x="329184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clean results wrongly flagged. 95% bound on false-alarm claims: 1.9%</a:t>
            </a:r>
            <a:endParaRPr lang="en-US" sz="1400" dirty="0"/>
          </a:p>
        </p:txBody>
      </p:sp>
      <p:sp>
        <p:nvSpPr>
          <p:cNvPr id="8" name="stat"/>
          <p:cNvSpPr txBox="1"/>
          <p:nvPr/>
        </p:nvSpPr>
        <p:spPr>
          <a:xfrm>
            <a:off x="603504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 ms</a:t>
            </a:r>
            <a:endParaRPr lang="en-US" sz="4400" dirty="0"/>
          </a:p>
        </p:txBody>
      </p:sp>
      <p:sp>
        <p:nvSpPr>
          <p:cNvPr id="9" name="stat label"/>
          <p:cNvSpPr txBox="1"/>
          <p:nvPr/>
        </p:nvSpPr>
        <p:spPr>
          <a:xfrm>
            <a:off x="603504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per claim in the rule engine. The model, not the engine, is the slow step</a:t>
            </a:r>
            <a:endParaRPr lang="en-US" sz="1400" dirty="0"/>
          </a:p>
        </p:txBody>
      </p:sp>
      <p:sp>
        <p:nvSpPr>
          <p:cNvPr id="10" name="stat"/>
          <p:cNvSpPr txBox="1"/>
          <p:nvPr/>
        </p:nvSpPr>
        <p:spPr>
          <a:xfrm>
            <a:off x="8778240" y="1417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10,600</a:t>
            </a:r>
            <a:endParaRPr lang="en-US" sz="4400" dirty="0"/>
          </a:p>
        </p:txBody>
      </p:sp>
      <p:sp>
        <p:nvSpPr>
          <p:cNvPr id="11" name="stat label"/>
          <p:cNvSpPr txBox="1"/>
          <p:nvPr/>
        </p:nvSpPr>
        <p:spPr>
          <a:xfrm>
            <a:off x="8778240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claims on which the Rust engine agrees exactly with the Python reference</a:t>
            </a:r>
            <a:endParaRPr lang="en-US" sz="1400" dirty="0"/>
          </a:p>
        </p:txBody>
      </p:sp>
      <p:sp>
        <p:nvSpPr>
          <p:cNvPr id="12" name="left card"/>
          <p:cNvSpPr/>
          <p:nvPr/>
        </p:nvSpPr>
        <p:spPr>
          <a:xfrm>
            <a:off x="548640" y="3429000"/>
            <a:ext cx="5394960" cy="2606040"/>
          </a:xfrm>
          <a:prstGeom prst="roundRect">
            <a:avLst>
              <a:gd name="adj" fmla="val 4211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3" name="h"/>
          <p:cNvSpPr txBox="1"/>
          <p:nvPr/>
        </p:nvSpPr>
        <p:spPr>
          <a:xfrm>
            <a:off x="77724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and uncertainty</a:t>
            </a:r>
            <a:endParaRPr lang="en-US" sz="1800" dirty="0"/>
          </a:p>
        </p:txBody>
      </p:sp>
      <p:sp>
        <p:nvSpPr>
          <p:cNvPr id="14" name="bullets"/>
          <p:cNvSpPr txBox="1"/>
          <p:nvPr/>
        </p:nvSpPr>
        <p:spPr>
          <a:xfrm>
            <a:off x="777240" y="39776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Missing data gives UNABLE_TO_ASSESS, never PASS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Boundaries inclusive, ROUND_HALF_UP, 0.01 SAR tolerance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R006 exactly as documented: code, date, modifier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R009 aggregates per authorization within one claim</a:t>
            </a:r>
            <a:endParaRPr lang="en-US" sz="1500" dirty="0"/>
          </a:p>
        </p:txBody>
      </p:sp>
      <p:sp>
        <p:nvSpPr>
          <p:cNvPr id="15" name="right card"/>
          <p:cNvSpPr/>
          <p:nvPr/>
        </p:nvSpPr>
        <p:spPr>
          <a:xfrm>
            <a:off x="6217920" y="3429000"/>
            <a:ext cx="5394960" cy="2606040"/>
          </a:xfrm>
          <a:prstGeom prst="roundRect">
            <a:avLst>
              <a:gd name="adj" fmla="val 4211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6" name="h"/>
          <p:cNvSpPr txBox="1"/>
          <p:nvPr/>
        </p:nvSpPr>
        <p:spPr>
          <a:xfrm>
            <a:off x="6446520" y="3520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Kept apart from the benchmark</a:t>
            </a:r>
            <a:endParaRPr lang="en-US" sz="1800" dirty="0"/>
          </a:p>
        </p:txBody>
      </p:sp>
      <p:sp>
        <p:nvSpPr>
          <p:cNvPr id="17" name="bullets"/>
          <p:cNvSpPr txBox="1"/>
          <p:nvPr/>
        </p:nvSpPr>
        <p:spPr>
          <a:xfrm>
            <a:off x="6446520" y="39776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8 advisory rules (E001 to E005, E101 to E103) in their own pack, file and schema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Reference JSONL unchanged: confidence null, not_probabilistic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A test pins the official results to their recorded values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Public set is synthetic: a perfect score is not proof for real claims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arrive in any format, untrusted until proven</a:t>
            </a:r>
            <a:endParaRPr lang="en-US" sz="3200" dirty="0"/>
          </a:p>
        </p:txBody>
      </p:sp>
      <p:sp>
        <p:nvSpPr>
          <p:cNvPr id="4" name="format FHIR bundle"/>
          <p:cNvSpPr/>
          <p:nvPr/>
        </p:nvSpPr>
        <p:spPr>
          <a:xfrm>
            <a:off x="548640" y="1463040"/>
            <a:ext cx="4206240" cy="749808"/>
          </a:xfrm>
          <a:prstGeom prst="roundRect">
            <a:avLst>
              <a:gd name="adj" fmla="val 14634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5" name="format text"/>
          <p:cNvSpPr txBox="1"/>
          <p:nvPr/>
        </p:nvSpPr>
        <p:spPr>
          <a:xfrm>
            <a:off x="731520" y="14630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3F"/>
                </a:solidFill>
              </a:rPr>
              <a:t>FHIR bundle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C7173"/>
                </a:solidFill>
              </a:rPr>
              <a:t>authorization record not carried, so those rules abstain</a:t>
            </a:r>
            <a:endParaRPr lang="en-US" sz="1600" dirty="0"/>
          </a:p>
        </p:txBody>
      </p:sp>
      <p:sp>
        <p:nvSpPr>
          <p:cNvPr id="6" name="format CSV tables"/>
          <p:cNvSpPr/>
          <p:nvPr/>
        </p:nvSpPr>
        <p:spPr>
          <a:xfrm>
            <a:off x="548640" y="2331720"/>
            <a:ext cx="4206240" cy="749808"/>
          </a:xfrm>
          <a:prstGeom prst="roundRect">
            <a:avLst>
              <a:gd name="adj" fmla="val 14634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7" name="format text"/>
          <p:cNvSpPr txBox="1"/>
          <p:nvPr/>
        </p:nvSpPr>
        <p:spPr>
          <a:xfrm>
            <a:off x="731520" y="23317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3F"/>
                </a:solidFill>
              </a:rPr>
              <a:t>CSV tables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C7173"/>
                </a:solidFill>
              </a:rPr>
              <a:t>same claims as the JSONL</a:t>
            </a:r>
            <a:endParaRPr lang="en-US" sz="1600" dirty="0"/>
          </a:p>
        </p:txBody>
      </p:sp>
      <p:sp>
        <p:nvSpPr>
          <p:cNvPr id="8" name="format JSONL"/>
          <p:cNvSpPr/>
          <p:nvPr/>
        </p:nvSpPr>
        <p:spPr>
          <a:xfrm>
            <a:off x="548640" y="3200400"/>
            <a:ext cx="4206240" cy="749808"/>
          </a:xfrm>
          <a:prstGeom prst="roundRect">
            <a:avLst>
              <a:gd name="adj" fmla="val 14634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9" name="format text"/>
          <p:cNvSpPr txBox="1"/>
          <p:nvPr/>
        </p:nvSpPr>
        <p:spPr>
          <a:xfrm>
            <a:off x="731520" y="320040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3F"/>
                </a:solidFill>
              </a:rPr>
              <a:t>JSONL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C7173"/>
                </a:solidFill>
              </a:rPr>
              <a:t>reference format</a:t>
            </a:r>
            <a:endParaRPr lang="en-US" sz="1600" dirty="0"/>
          </a:p>
        </p:txBody>
      </p:sp>
      <p:sp>
        <p:nvSpPr>
          <p:cNvPr id="10" name="format PDF or photo"/>
          <p:cNvSpPr/>
          <p:nvPr/>
        </p:nvSpPr>
        <p:spPr>
          <a:xfrm>
            <a:off x="548640" y="4069080"/>
            <a:ext cx="4206240" cy="749808"/>
          </a:xfrm>
          <a:prstGeom prst="roundRect">
            <a:avLst>
              <a:gd name="adj" fmla="val 14634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1" name="format text"/>
          <p:cNvSpPr txBox="1"/>
          <p:nvPr/>
        </p:nvSpPr>
        <p:spPr>
          <a:xfrm>
            <a:off x="731520" y="406908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3F"/>
                </a:solidFill>
              </a:rPr>
              <a:t>PDF or photo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C7173"/>
                </a:solidFill>
              </a:rPr>
              <a:t>two readers, results shown as a draft</a:t>
            </a:r>
            <a:endParaRPr lang="en-US" sz="1600" dirty="0"/>
          </a:p>
        </p:txBody>
      </p:sp>
      <p:sp>
        <p:nvSpPr>
          <p:cNvPr id="12" name="stat"/>
          <p:cNvSpPr txBox="1"/>
          <p:nvPr/>
        </p:nvSpPr>
        <p:spPr>
          <a:xfrm>
            <a:off x="5212080" y="1417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4000" dirty="0"/>
          </a:p>
        </p:txBody>
      </p:sp>
      <p:sp>
        <p:nvSpPr>
          <p:cNvPr id="13" name="stat label"/>
          <p:cNvSpPr txBox="1"/>
          <p:nvPr/>
        </p:nvSpPr>
        <p:spPr>
          <a:xfrm>
            <a:off x="5212080" y="22860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public claims give identical claims and reports in all three formats</a:t>
            </a:r>
            <a:endParaRPr lang="en-US" sz="1400" dirty="0"/>
          </a:p>
        </p:txBody>
      </p:sp>
      <p:sp>
        <p:nvSpPr>
          <p:cNvPr id="14" name="stat"/>
          <p:cNvSpPr txBox="1"/>
          <p:nvPr/>
        </p:nvSpPr>
        <p:spPr>
          <a:xfrm>
            <a:off x="8412480" y="1417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4000" dirty="0"/>
          </a:p>
        </p:txBody>
      </p:sp>
      <p:sp>
        <p:nvSpPr>
          <p:cNvPr id="15" name="stat label"/>
          <p:cNvSpPr txBox="1"/>
          <p:nvPr/>
        </p:nvSpPr>
        <p:spPr>
          <a:xfrm>
            <a:off x="841248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randomly damaged FHIR bundles reach the same accept or quarantine verdict as the reference</a:t>
            </a:r>
            <a:endParaRPr lang="en-US" sz="1400" dirty="0"/>
          </a:p>
        </p:txBody>
      </p:sp>
      <p:sp>
        <p:nvSpPr>
          <p:cNvPr id="16" name="docs card"/>
          <p:cNvSpPr/>
          <p:nvPr/>
        </p:nvSpPr>
        <p:spPr>
          <a:xfrm>
            <a:off x="5212080" y="3429000"/>
            <a:ext cx="6309360" cy="2651760"/>
          </a:xfrm>
          <a:prstGeom prst="roundRect">
            <a:avLst>
              <a:gd name="adj" fmla="val 4138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7" name="h"/>
          <p:cNvSpPr txBox="1"/>
          <p:nvPr/>
        </p:nvSpPr>
        <p:spPr>
          <a:xfrm>
            <a:off x="5440680" y="35204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Documents: PDF and photos</a:t>
            </a:r>
            <a:endParaRPr lang="en-US" sz="1800" dirty="0"/>
          </a:p>
        </p:txBody>
      </p:sp>
      <p:sp>
        <p:nvSpPr>
          <p:cNvPr id="18" name="bullets"/>
          <p:cNvSpPr txBox="1"/>
          <p:nvPr/>
        </p:nvSpPr>
        <p:spPr>
          <a:xfrm>
            <a:off x="5440680" y="39776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Reader in an isolated container, polyglot file gate, hidden-Unicode flag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240 synthetic documents: 97.4% of fields right, 1 silent error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A reading is only a draft: the clerk compares every field with the page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Real paper, handwriting and Arabic are not tested yet</a:t>
            </a:r>
            <a:endParaRPr lang="en-US" sz="1500" dirty="0"/>
          </a:p>
        </p:txBody>
      </p:sp>
      <p:sp>
        <p:nvSpPr>
          <p:cNvPr id="19" name="footnote"/>
          <p:cNvSpPr txBox="1"/>
          <p:nvPr/>
        </p:nvSpPr>
        <p:spPr>
          <a:xfrm>
            <a:off x="548640" y="61996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A damaged record is quarantined with a reason and never stops the run.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queue: nothing lost, nothing waits on the model</a:t>
            </a:r>
            <a:endParaRPr lang="en-US" sz="3200" dirty="0"/>
          </a:p>
        </p:txBody>
      </p:sp>
      <p:sp>
        <p:nvSpPr>
          <p:cNvPr id="4" name="box Intake"/>
          <p:cNvSpPr/>
          <p:nvPr/>
        </p:nvSpPr>
        <p:spPr>
          <a:xfrm>
            <a:off x="548640" y="150876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5" name="box text Intake"/>
          <p:cNvSpPr txBox="1"/>
          <p:nvPr/>
        </p:nvSpPr>
        <p:spPr>
          <a:xfrm>
            <a:off x="621792" y="150876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Intake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claim and a publish marker, one atomic write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962656" y="2029968"/>
            <a:ext cx="384048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7" name="box Outbox relay"/>
          <p:cNvSpPr/>
          <p:nvPr/>
        </p:nvSpPr>
        <p:spPr>
          <a:xfrm>
            <a:off x="3383280" y="150876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0E3B3F"/>
          </a:solidFill>
          <a:ln w="12700">
            <a:solidFill>
              <a:srgbClr val="0E3B3F"/>
            </a:solidFill>
            <a:prstDash val="solid"/>
          </a:ln>
        </p:spPr>
      </p:sp>
      <p:sp>
        <p:nvSpPr>
          <p:cNvPr id="8" name="box text Outbox relay"/>
          <p:cNvSpPr txBox="1"/>
          <p:nvPr/>
        </p:nvSpPr>
        <p:spPr>
          <a:xfrm>
            <a:off x="3456432" y="150876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Outbox relay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publishes, clears the marker only after Redis accepted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5797296" y="2029968"/>
            <a:ext cx="384048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10" name="box Redis Stream"/>
          <p:cNvSpPr/>
          <p:nvPr/>
        </p:nvSpPr>
        <p:spPr>
          <a:xfrm>
            <a:off x="6217920" y="150876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8C4A3A"/>
          </a:solidFill>
          <a:ln w="12700">
            <a:solidFill>
              <a:srgbClr val="8C4A3A"/>
            </a:solidFill>
            <a:prstDash val="solid"/>
          </a:ln>
        </p:spPr>
      </p:sp>
      <p:sp>
        <p:nvSpPr>
          <p:cNvPr id="11" name="box text Redis Stream"/>
          <p:cNvSpPr txBox="1"/>
          <p:nvPr/>
        </p:nvSpPr>
        <p:spPr>
          <a:xfrm>
            <a:off x="6291072" y="150876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Redis Stream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consumer group, pool of consumers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8631936" y="2029968"/>
            <a:ext cx="384048" cy="0"/>
          </a:xfrm>
          <a:prstGeom prst="line">
            <a:avLst/>
          </a:prstGeom>
          <a:noFill/>
          <a:ln w="22225">
            <a:solidFill>
              <a:srgbClr val="5C7173"/>
            </a:solidFill>
            <a:prstDash val="solid"/>
            <a:tailEnd type="triangle"/>
          </a:ln>
        </p:spPr>
      </p:sp>
      <p:sp>
        <p:nvSpPr>
          <p:cNvPr id="13" name="box Process"/>
          <p:cNvSpPr/>
          <p:nvPr/>
        </p:nvSpPr>
        <p:spPr>
          <a:xfrm>
            <a:off x="9052560" y="150876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4" name="box text Process"/>
          <p:cNvSpPr txBox="1"/>
          <p:nvPr/>
        </p:nvSpPr>
        <p:spPr>
          <a:xfrm>
            <a:off x="9125712" y="1508760"/>
            <a:ext cx="22311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DEEEB"/>
                </a:solidFill>
              </a:rPr>
              <a:t>explain and move to ready</a:t>
            </a:r>
            <a:endParaRPr lang="en-US" sz="1400" dirty="0"/>
          </a:p>
        </p:txBody>
      </p:sp>
      <p:sp>
        <p:nvSpPr>
          <p:cNvPr id="15" name="guarantee 1"/>
          <p:cNvSpPr/>
          <p:nvPr/>
        </p:nvSpPr>
        <p:spPr>
          <a:xfrm>
            <a:off x="548640" y="29260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6" name="guarantee text"/>
          <p:cNvSpPr txBox="1"/>
          <p:nvPr/>
        </p:nvSpPr>
        <p:spPr>
          <a:xfrm>
            <a:off x="731520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Redis down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markers stay in MongoDB, the relay republishes. Consumers back off and keep trying</a:t>
            </a:r>
            <a:endParaRPr lang="en-US" sz="1400" dirty="0"/>
          </a:p>
        </p:txBody>
      </p:sp>
      <p:sp>
        <p:nvSpPr>
          <p:cNvPr id="17" name="guarantee 2"/>
          <p:cNvSpPr/>
          <p:nvPr/>
        </p:nvSpPr>
        <p:spPr>
          <a:xfrm>
            <a:off x="6126480" y="2926080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8" name="guarantee text"/>
          <p:cNvSpPr txBox="1"/>
          <p:nvPr/>
        </p:nvSpPr>
        <p:spPr>
          <a:xfrm>
            <a:off x="6309360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Consumer dies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its message is taken over by another after an idle time longer than the model deadline</a:t>
            </a:r>
            <a:endParaRPr lang="en-US" sz="1400" dirty="0"/>
          </a:p>
        </p:txBody>
      </p:sp>
      <p:sp>
        <p:nvSpPr>
          <p:cNvPr id="19" name="guarantee 3"/>
          <p:cNvSpPr/>
          <p:nvPr/>
        </p:nvSpPr>
        <p:spPr>
          <a:xfrm>
            <a:off x="548640" y="3950208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20" name="guarantee text"/>
          <p:cNvSpPr txBox="1"/>
          <p:nvPr/>
        </p:nvSpPr>
        <p:spPr>
          <a:xfrm>
            <a:off x="731520" y="39502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Poison claim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parked as a dead letter after three deliveries, once, never while a person holds it</a:t>
            </a:r>
            <a:endParaRPr lang="en-US" sz="1400" dirty="0"/>
          </a:p>
        </p:txBody>
      </p:sp>
      <p:sp>
        <p:nvSpPr>
          <p:cNvPr id="21" name="guarantee 4"/>
          <p:cNvSpPr/>
          <p:nvPr/>
        </p:nvSpPr>
        <p:spPr>
          <a:xfrm>
            <a:off x="6126480" y="3950208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22" name="guarantee text"/>
          <p:cNvSpPr txBox="1"/>
          <p:nvPr/>
        </p:nvSpPr>
        <p:spPr>
          <a:xfrm>
            <a:off x="6309360" y="395020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Duplicates and forgeries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processing is idempotent; a wrong hash or unknown claim changes nothing</a:t>
            </a:r>
            <a:endParaRPr lang="en-US" sz="1400" dirty="0"/>
          </a:p>
        </p:txBody>
      </p:sp>
      <p:sp>
        <p:nvSpPr>
          <p:cNvPr id="23" name="guarantee 5"/>
          <p:cNvSpPr/>
          <p:nvPr/>
        </p:nvSpPr>
        <p:spPr>
          <a:xfrm>
            <a:off x="548640" y="4974336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24" name="guarantee text"/>
          <p:cNvSpPr txBox="1"/>
          <p:nvPr/>
        </p:nvSpPr>
        <p:spPr>
          <a:xfrm>
            <a:off x="731520" y="497433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Burst of claims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waits in the stream, never in front of the model. Concurrency is capped by a setting</a:t>
            </a:r>
            <a:endParaRPr lang="en-US" sz="1400" dirty="0"/>
          </a:p>
        </p:txBody>
      </p:sp>
      <p:sp>
        <p:nvSpPr>
          <p:cNvPr id="25" name="guarantee 6"/>
          <p:cNvSpPr/>
          <p:nvPr/>
        </p:nvSpPr>
        <p:spPr>
          <a:xfrm>
            <a:off x="6126480" y="4974336"/>
            <a:ext cx="5440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26" name="guarantee text"/>
          <p:cNvSpPr txBox="1"/>
          <p:nvPr/>
        </p:nvSpPr>
        <p:spPr>
          <a:xfrm>
            <a:off x="6309360" y="497433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Lost messages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if the stream is empty yet a claim sat 15 minutes, it is published again</a:t>
            </a:r>
            <a:endParaRPr lang="en-US" sz="1400" dirty="0"/>
          </a:p>
        </p:txBody>
      </p:sp>
      <p:sp>
        <p:nvSpPr>
          <p:cNvPr id="27" name="footnote"/>
          <p:cNvSpPr txBox="1"/>
          <p:nvPr/>
        </p:nvSpPr>
        <p:spPr>
          <a:xfrm>
            <a:off x="548640" y="6263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Each guarantee has a test, including against a real Redis 7.4. Throughput on the target server is not measured yet (slide 20).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sees which claim: lanes, leases and four-eyes</a:t>
            </a:r>
            <a:endParaRPr lang="en-US" sz="32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480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Flagged finding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FAIL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4 points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2 points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UNABLE_TO_ASSESS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2 points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1 point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4480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Lane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Green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nothing flagged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1 to 3 flagged, score under 10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92B"/>
                          </a:solidFill>
                        </a:rPr>
                        <a:t>4 or more flagged, or score of 10 or more</a:t>
                      </a:r>
                      <a:endParaRPr lang="en-US" sz="14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ullets"/>
          <p:cNvSpPr txBox="1"/>
          <p:nvPr/>
        </p:nvSpPr>
        <p:spPr>
          <a:xfrm>
            <a:off x="548640" y="45720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92B"/>
                </a:solidFill>
              </a:rPr>
              <a:t>High severity: a senior decides, a different senior countersigns blind. A third settles a disagreement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92B"/>
                </a:solidFill>
              </a:rPr>
              <a:t>Leases return abandoned claims to the pool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92B"/>
                </a:solidFill>
              </a:rPr>
              <a:t>No route assigns or moves a claim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0" y="141732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footnote"/>
          <p:cNvSpPr txBox="1"/>
          <p:nvPr/>
        </p:nvSpPr>
        <p:spPr>
          <a:xfrm>
            <a:off x="5486400" y="57150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Simulated people and clock, seed 1, five seeds checked. 253 of 500 claims need a senior, so seniors are the bottleneck.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cache, and what is never cached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74320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What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Cached?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Explanation template with {value} and {line}, keyed by rule, failure shape, prompt version, model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4746F"/>
                          </a:solidFill>
                        </a:rPr>
                        <a:t>Yes, after the guard approved a fill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No claim value in the key or the text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Filled text, claim values, evidence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8553D"/>
                          </a:solidFill>
                        </a:rPr>
                        <a:t>Never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Would hold identifiers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Permissions, sessions, clearance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8553D"/>
                          </a:solidFill>
                        </a:rPr>
                        <a:t>Never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A demotion must apply at once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Rule results of a claim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292B"/>
                          </a:solidFill>
                        </a:rPr>
                        <a:t>In the claim document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The receipt hashes them, so replay can compare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</a:tbl>
          </a:graphicData>
        </a:graphic>
      </p:graphicFrame>
      <p:sp>
        <p:nvSpPr>
          <p:cNvPr id="5" name="stat"/>
          <p:cNvSpPr txBox="1"/>
          <p:nvPr/>
        </p:nvSpPr>
        <p:spPr>
          <a:xfrm>
            <a:off x="54864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632 of 665</a:t>
            </a:r>
            <a:endParaRPr lang="en-US" sz="3200" dirty="0"/>
          </a:p>
        </p:txBody>
      </p:sp>
      <p:sp>
        <p:nvSpPr>
          <p:cNvPr id="6" name="stat label"/>
          <p:cNvSpPr txBox="1"/>
          <p:nvPr/>
        </p:nvSpPr>
        <p:spPr>
          <a:xfrm>
            <a:off x="54864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findings served from the template cache (95%), 33 model calls</a:t>
            </a:r>
            <a:endParaRPr lang="en-US" sz="1400" dirty="0"/>
          </a:p>
        </p:txBody>
      </p:sp>
      <p:sp>
        <p:nvSpPr>
          <p:cNvPr id="7" name="stat"/>
          <p:cNvSpPr txBox="1"/>
          <p:nvPr/>
        </p:nvSpPr>
        <p:spPr>
          <a:xfrm>
            <a:off x="4297680" y="45262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failures</a:t>
            </a:r>
            <a:endParaRPr lang="en-US" sz="3200" dirty="0"/>
          </a:p>
        </p:txBody>
      </p:sp>
      <p:sp>
        <p:nvSpPr>
          <p:cNvPr id="8" name="stat label"/>
          <p:cNvSpPr txBox="1"/>
          <p:nvPr/>
        </p:nvSpPr>
        <p:spPr>
          <a:xfrm>
            <a:off x="429768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in a row open the breaker. One probe after 20 s</a:t>
            </a:r>
            <a:endParaRPr lang="en-US" sz="1400" dirty="0"/>
          </a:p>
        </p:txBody>
      </p:sp>
      <p:sp>
        <p:nvSpPr>
          <p:cNvPr id="9" name="stat"/>
          <p:cNvSpPr txBox="1"/>
          <p:nvPr/>
        </p:nvSpPr>
        <p:spPr>
          <a:xfrm>
            <a:off x="8046720" y="4526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s</a:t>
            </a:r>
            <a:endParaRPr lang="en-US" sz="3200" dirty="0"/>
          </a:p>
        </p:txBody>
      </p:sp>
      <p:sp>
        <p:nvSpPr>
          <p:cNvPr id="10" name="stat label"/>
          <p:cNvSpPr txBox="1"/>
          <p:nvPr/>
        </p:nvSpPr>
        <p:spPr>
          <a:xfrm>
            <a:off x="8046720" y="5394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hard deadline. A late or rejected answer leaves the engine's text</a:t>
            </a:r>
            <a:endParaRPr lang="en-US" sz="1400" dirty="0"/>
          </a:p>
        </p:txBody>
      </p:sp>
      <p:sp>
        <p:nvSpPr>
          <p:cNvPr id="11" name="footnote"/>
          <p:cNvSpPr txBox="1"/>
          <p:nvPr/>
        </p:nvSpPr>
        <p:spPr>
          <a:xfrm>
            <a:off x="548640" y="6309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Budgets (explanations per minute and per day) are counted in the database, not in Redis. Defaults: 30 a minute, 2,000 a day.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explains. It cannot decide or hide a finding</a:t>
            </a:r>
            <a:endParaRPr lang="en-US" sz="3200" dirty="0"/>
          </a:p>
        </p:txBody>
      </p:sp>
      <p:sp>
        <p:nvSpPr>
          <p:cNvPr id="4" name="grounding 1"/>
          <p:cNvSpPr/>
          <p:nvPr/>
        </p:nvSpPr>
        <p:spPr>
          <a:xfrm>
            <a:off x="548640" y="1463040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31520" y="1728216"/>
            <a:ext cx="384048" cy="384048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6" name="badge text"/>
          <p:cNvSpPr txBox="1"/>
          <p:nvPr/>
        </p:nvSpPr>
        <p:spPr>
          <a:xfrm>
            <a:off x="73152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grounding text"/>
          <p:cNvSpPr txBox="1"/>
          <p:nvPr/>
        </p:nvSpPr>
        <p:spPr>
          <a:xfrm>
            <a:off x="1280160" y="14630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The model sees only the rule text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never a claim value; placeholders are filled in afterwards</a:t>
            </a:r>
            <a:endParaRPr lang="en-US" sz="1500" dirty="0"/>
          </a:p>
        </p:txBody>
      </p:sp>
      <p:sp>
        <p:nvSpPr>
          <p:cNvPr id="8" name="grounding 2"/>
          <p:cNvSpPr/>
          <p:nvPr/>
        </p:nvSpPr>
        <p:spPr>
          <a:xfrm>
            <a:off x="548640" y="2487168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731520" y="2752344"/>
            <a:ext cx="384048" cy="384048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0" name="badge text"/>
          <p:cNvSpPr txBox="1"/>
          <p:nvPr/>
        </p:nvSpPr>
        <p:spPr>
          <a:xfrm>
            <a:off x="73152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grounding text"/>
          <p:cNvSpPr txBox="1"/>
          <p:nvPr/>
        </p:nvSpPr>
        <p:spPr>
          <a:xfrm>
            <a:off x="1280160" y="2487168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Its text is checked mechanically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invented values, clinical or fraud talk, approval or payment words (also disguised), garbled script, repetition</a:t>
            </a:r>
            <a:endParaRPr lang="en-US" sz="1500" dirty="0"/>
          </a:p>
        </p:txBody>
      </p:sp>
      <p:sp>
        <p:nvSpPr>
          <p:cNvPr id="12" name="grounding 3"/>
          <p:cNvSpPr/>
          <p:nvPr/>
        </p:nvSpPr>
        <p:spPr>
          <a:xfrm>
            <a:off x="548640" y="3511296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4" name="badge text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grounding text"/>
          <p:cNvSpPr txBox="1"/>
          <p:nvPr/>
        </p:nvSpPr>
        <p:spPr>
          <a:xfrm>
            <a:off x="1280160" y="3511296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Failure leaves the engine's text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slow, down, over budget or rejected: the finding and its explanation stay</a:t>
            </a:r>
            <a:endParaRPr lang="en-US" sz="1500" dirty="0"/>
          </a:p>
        </p:txBody>
      </p:sp>
      <p:sp>
        <p:nvSpPr>
          <p:cNvPr id="16" name="grounding 4"/>
          <p:cNvSpPr/>
          <p:nvPr/>
        </p:nvSpPr>
        <p:spPr>
          <a:xfrm>
            <a:off x="548640" y="4535424"/>
            <a:ext cx="658368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731520" y="4800600"/>
            <a:ext cx="384048" cy="384048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8" name="badge text"/>
          <p:cNvSpPr txBox="1"/>
          <p:nvPr/>
        </p:nvSpPr>
        <p:spPr>
          <a:xfrm>
            <a:off x="73152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grounding text"/>
          <p:cNvSpPr txBox="1"/>
          <p:nvPr/>
        </p:nvSpPr>
        <p:spPr>
          <a:xfrm>
            <a:off x="1280160" y="4535424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Prompt injection was red-teamed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a real model found one hole, it was closed and a test added</a:t>
            </a:r>
            <a:endParaRPr lang="en-US" sz="1500" dirty="0"/>
          </a:p>
        </p:txBody>
      </p:sp>
      <p:sp>
        <p:nvSpPr>
          <p:cNvPr id="20" name="what-if-wrong card"/>
          <p:cNvSpPr/>
          <p:nvPr/>
        </p:nvSpPr>
        <p:spPr>
          <a:xfrm>
            <a:off x="7406640" y="146304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0E3B3F"/>
          </a:solidFill>
          <a:ln w="12700">
            <a:solidFill>
              <a:srgbClr val="0E3B3F"/>
            </a:solidFill>
            <a:prstDash val="solid"/>
          </a:ln>
        </p:spPr>
      </p:sp>
      <p:sp>
        <p:nvSpPr>
          <p:cNvPr id="21" name="h"/>
          <p:cNvSpPr txBox="1"/>
          <p:nvPr/>
        </p:nvSpPr>
        <p:spPr>
          <a:xfrm>
            <a:off x="763524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model is wrong</a:t>
            </a:r>
            <a:endParaRPr lang="en-US" sz="1800" dirty="0"/>
          </a:p>
        </p:txBody>
      </p:sp>
      <p:sp>
        <p:nvSpPr>
          <p:cNvPr id="22" name="wrong text"/>
          <p:cNvSpPr txBox="1"/>
          <p:nvPr/>
        </p:nvSpPr>
        <p:spPr>
          <a:xfrm>
            <a:off x="7635240" y="210312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EEB"/>
                </a:solidFill>
              </a:rPr>
              <a:t>A statement the finding cannot support is rejected before anyone reads it.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DDEEEB"/>
                </a:solidFill>
              </a:rPr>
              <a:t>The reviewer sees the engine's own explanation instead, marked by its source.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EEEB"/>
                </a:solidFill>
              </a:rPr>
              <a:t>Honest note: in one 25-case run, 17 answers fell back to the template (timeouts and server errors). The fallback worked, and the live-answer sample is small.</a:t>
            </a:r>
            <a:endParaRPr lang="en-US" sz="1400" dirty="0"/>
          </a:p>
        </p:txBody>
      </p:sp>
      <p:sp>
        <p:nvSpPr>
          <p:cNvPr id="23" name="footnote"/>
          <p:cNvSpPr txBox="1"/>
          <p:nvPr/>
        </p:nvSpPr>
        <p:spPr>
          <a:xfrm>
            <a:off x="548640" y="5669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The same guard checks every cached template after it is filled. Nothing in this path can change a status.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reviewer copilot: what is wrong, what to do</a:t>
            </a:r>
            <a:endParaRPr lang="en-US" sz="3200" dirty="0"/>
          </a:p>
        </p:txBody>
      </p:sp>
      <p:sp>
        <p:nvSpPr>
          <p:cNvPr id="4" name="tag"/>
          <p:cNvSpPr/>
          <p:nvPr/>
        </p:nvSpPr>
        <p:spPr>
          <a:xfrm>
            <a:off x="10241280" y="7315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ag text"/>
          <p:cNvSpPr txBox="1"/>
          <p:nvPr/>
        </p:nvSpPr>
        <p:spPr>
          <a:xfrm>
            <a:off x="10241280" y="73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new</a:t>
            </a:r>
            <a:endParaRPr lang="en-US" sz="1100" dirty="0"/>
          </a:p>
        </p:txBody>
      </p:sp>
      <p:pic>
        <p:nvPicPr>
          <p:cNvPr id="6" name="copilot.png" descr="C:\Users\moham\AppData\Local\Temp\claude\C--Users-moham-cstam\f25db9ed-2154-460d-a343-94d0c9b150c3\scratchpad\deck\assets\copi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577840" cy="4498848"/>
          </a:xfrm>
          <a:prstGeom prst="rect">
            <a:avLst/>
          </a:prstGeom>
        </p:spPr>
      </p:pic>
      <p:sp>
        <p:nvSpPr>
          <p:cNvPr id="7" name="bullets"/>
          <p:cNvSpPr txBox="1"/>
          <p:nvPr/>
        </p:nvSpPr>
        <p:spPr>
          <a:xfrm>
            <a:off x="6492240" y="146304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One summary: how many findings, which severity, in the order that clears the claim fastest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One suggestion per finding: a value to correct, a value to check, or information to ask for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Built by code from the findings. No model, so nothing to hallucinate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A value is proposed only if it follows from other values on the same claim. Nothing missing is invented, no identifier can be edited</a:t>
            </a:r>
            <a:endParaRPr lang="en-US" sz="150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1996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A claim with no finding reads: Pre-validation clearance, not payer approval or a promise of payment.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a correction, then save it as a new version</a:t>
            </a:r>
            <a:endParaRPr lang="en-US" sz="3200" dirty="0"/>
          </a:p>
        </p:txBody>
      </p:sp>
      <p:sp>
        <p:nvSpPr>
          <p:cNvPr id="4" name="tag"/>
          <p:cNvSpPr/>
          <p:nvPr/>
        </p:nvSpPr>
        <p:spPr>
          <a:xfrm>
            <a:off x="10241280" y="7315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ag text"/>
          <p:cNvSpPr txBox="1"/>
          <p:nvPr/>
        </p:nvSpPr>
        <p:spPr>
          <a:xfrm>
            <a:off x="10241280" y="73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new</a:t>
            </a:r>
            <a:endParaRPr lang="en-US" sz="1100" dirty="0"/>
          </a:p>
        </p:txBody>
      </p:sp>
      <p:pic>
        <p:nvPicPr>
          <p:cNvPr id="6" name="whatif.png" descr="C:\Users\moham\AppData\Local\Temp\claude\C--Users-moham-cstam\f25db9ed-2154-460d-a343-94d0c9b150c3\scratchpad\deck\assets\what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529584"/>
          </a:xfrm>
          <a:prstGeom prst="rect">
            <a:avLst/>
          </a:prstGeom>
        </p:spPr>
      </p:pic>
      <p:sp>
        <p:nvSpPr>
          <p:cNvPr id="7" name="flow 1"/>
          <p:cNvSpPr/>
          <p:nvPr/>
        </p:nvSpPr>
        <p:spPr>
          <a:xfrm>
            <a:off x="6309360" y="1371600"/>
            <a:ext cx="5303520" cy="777240"/>
          </a:xfrm>
          <a:prstGeom prst="roundRect">
            <a:avLst>
              <a:gd name="adj" fmla="val 14118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8" name="flow text"/>
          <p:cNvSpPr txBox="1"/>
          <p:nvPr/>
        </p:nvSpPr>
        <p:spPr>
          <a:xfrm>
            <a:off x="6492240" y="1371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What-if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the engine runs on a copy. Nothing is saved</a:t>
            </a:r>
            <a:endParaRPr lang="en-US" sz="1400" dirty="0"/>
          </a:p>
        </p:txBody>
      </p:sp>
      <p:sp>
        <p:nvSpPr>
          <p:cNvPr id="9" name="flow 2"/>
          <p:cNvSpPr/>
          <p:nvPr/>
        </p:nvSpPr>
        <p:spPr>
          <a:xfrm>
            <a:off x="6309360" y="2258568"/>
            <a:ext cx="5303520" cy="777240"/>
          </a:xfrm>
          <a:prstGeom prst="roundRect">
            <a:avLst>
              <a:gd name="adj" fmla="val 14118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0" name="flow text"/>
          <p:cNvSpPr txBox="1"/>
          <p:nvPr/>
        </p:nvSpPr>
        <p:spPr>
          <a:xfrm>
            <a:off x="6492240" y="22585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Recheck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the correction becomes version 2 and goes through triage</a:t>
            </a:r>
            <a:endParaRPr lang="en-US" sz="1400" dirty="0"/>
          </a:p>
        </p:txBody>
      </p:sp>
      <p:sp>
        <p:nvSpPr>
          <p:cNvPr id="11" name="flow 3"/>
          <p:cNvSpPr/>
          <p:nvPr/>
        </p:nvSpPr>
        <p:spPr>
          <a:xfrm>
            <a:off x="6309360" y="3145536"/>
            <a:ext cx="5303520" cy="777240"/>
          </a:xfrm>
          <a:prstGeom prst="roundRect">
            <a:avLst>
              <a:gd name="adj" fmla="val 14118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2" name="flow text"/>
          <p:cNvSpPr txBox="1"/>
          <p:nvPr/>
        </p:nvSpPr>
        <p:spPr>
          <a:xfrm>
            <a:off x="6492240" y="314553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Original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version 1 is kept exactly as received and closed</a:t>
            </a:r>
            <a:endParaRPr lang="en-US" sz="1400" dirty="0"/>
          </a:p>
        </p:txBody>
      </p:sp>
      <p:sp>
        <p:nvSpPr>
          <p:cNvPr id="13" name="flow 4"/>
          <p:cNvSpPr/>
          <p:nvPr/>
        </p:nvSpPr>
        <p:spPr>
          <a:xfrm>
            <a:off x="6309360" y="4032504"/>
            <a:ext cx="5303520" cy="777240"/>
          </a:xfrm>
          <a:prstGeom prst="roundRect">
            <a:avLst>
              <a:gd name="adj" fmla="val 14118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4" name="flow text"/>
          <p:cNvSpPr txBox="1"/>
          <p:nvPr/>
        </p:nvSpPr>
        <p:spPr>
          <a:xfrm>
            <a:off x="6492240" y="403250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Cleared findings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recorded with the reviewer's reason</a:t>
            </a:r>
            <a:endParaRPr lang="en-US" sz="1400" dirty="0"/>
          </a:p>
        </p:txBody>
      </p:sp>
      <p:sp>
        <p:nvSpPr>
          <p:cNvPr id="15" name="controls card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FF1DB"/>
          </a:solidFill>
          <a:ln w="12700">
            <a:solidFill>
              <a:srgbClr val="FFF1DB"/>
            </a:solidFill>
            <a:prstDash val="solid"/>
          </a:ln>
        </p:spPr>
      </p:sp>
      <p:sp>
        <p:nvSpPr>
          <p:cNvPr id="16" name="controls text"/>
          <p:cNvSpPr txBox="1"/>
          <p:nvPr/>
        </p:nvSpPr>
        <p:spPr>
          <a:xfrm>
            <a:off x="777240" y="49377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3F"/>
                </a:solidFill>
              </a:rPr>
              <a:t>Controls: </a:t>
            </a:r>
            <a:pPr indent="0" marL="0">
              <a:buNone/>
            </a:pPr>
            <a:r>
              <a:rPr lang="en-US" sz="1450" dirty="0">
                <a:solidFill>
                  <a:srgbClr val="17292B"/>
                </a:solidFill>
              </a:rPr>
              <a:t>only the holder of the claim can try or apply a correction. Clearing a high-severity finding needs the same senior authority as deciding it. Patient, member and claim identifiers cannot be edited. A recheck needs a reason that does not contain the identifier.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the proposals work? Measured against the real engine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8521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"/>
          <p:cNvSpPr txBox="1"/>
          <p:nvPr/>
        </p:nvSpPr>
        <p:spPr>
          <a:xfrm>
            <a:off x="676656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777</a:t>
            </a:r>
            <a:endParaRPr lang="en-US" sz="4000" dirty="0"/>
          </a:p>
        </p:txBody>
      </p:sp>
      <p:sp>
        <p:nvSpPr>
          <p:cNvPr id="6" name="stat label"/>
          <p:cNvSpPr txBox="1"/>
          <p:nvPr/>
        </p:nvSpPr>
        <p:spPr>
          <a:xfrm>
            <a:off x="676656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flagged findings on 600 public claims, each with exactly one suggestion</a:t>
            </a:r>
            <a:endParaRPr lang="en-US" sz="1400" dirty="0"/>
          </a:p>
        </p:txBody>
      </p:sp>
      <p:sp>
        <p:nvSpPr>
          <p:cNvPr id="7" name="stat"/>
          <p:cNvSpPr txBox="1"/>
          <p:nvPr/>
        </p:nvSpPr>
        <p:spPr>
          <a:xfrm>
            <a:off x="932688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stat label"/>
          <p:cNvSpPr txBox="1"/>
          <p:nvPr/>
        </p:nvSpPr>
        <p:spPr>
          <a:xfrm>
            <a:off x="9326880" y="2240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cited paths missing on the claim. 0 texts with approval or payment words</a:t>
            </a:r>
            <a:endParaRPr lang="en-US" sz="1400" dirty="0"/>
          </a:p>
        </p:txBody>
      </p:sp>
      <p:sp>
        <p:nvSpPr>
          <p:cNvPr id="9" name="stat"/>
          <p:cNvSpPr txBox="1"/>
          <p:nvPr/>
        </p:nvSpPr>
        <p:spPr>
          <a:xfrm>
            <a:off x="676656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new</a:t>
            </a:r>
            <a:endParaRPr lang="en-US" sz="4000" dirty="0"/>
          </a:p>
        </p:txBody>
      </p:sp>
      <p:sp>
        <p:nvSpPr>
          <p:cNvPr id="10" name="stat label"/>
          <p:cNvSpPr txBox="1"/>
          <p:nvPr/>
        </p:nvSpPr>
        <p:spPr>
          <a:xfrm>
            <a:off x="6766560" y="4069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findings created when all proposals on a claim are applied together</a:t>
            </a:r>
            <a:endParaRPr lang="en-US" sz="1400" dirty="0"/>
          </a:p>
        </p:txBody>
      </p:sp>
      <p:sp>
        <p:nvSpPr>
          <p:cNvPr id="11" name="stat"/>
          <p:cNvSpPr txBox="1"/>
          <p:nvPr/>
        </p:nvSpPr>
        <p:spPr>
          <a:xfrm>
            <a:off x="9326880" y="3200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4,200</a:t>
            </a:r>
            <a:endParaRPr lang="en-US" sz="4000" dirty="0"/>
          </a:p>
        </p:txBody>
      </p:sp>
      <p:sp>
        <p:nvSpPr>
          <p:cNvPr id="12" name="stat label"/>
          <p:cNvSpPr txBox="1"/>
          <p:nvPr/>
        </p:nvSpPr>
        <p:spPr>
          <a:xfrm>
            <a:off x="9326880" y="4069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attempts to edit an identifier, all refused</a:t>
            </a:r>
            <a:endParaRPr lang="en-US" sz="1400" dirty="0"/>
          </a:p>
        </p:txBody>
      </p:sp>
      <p:sp>
        <p:nvSpPr>
          <p:cNvPr id="13" name="limit card"/>
          <p:cNvSpPr/>
          <p:nvPr/>
        </p:nvSpPr>
        <p:spPr>
          <a:xfrm>
            <a:off x="6766560" y="498348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FFF1DB"/>
          </a:solidFill>
          <a:ln w="12700">
            <a:solidFill>
              <a:srgbClr val="FFF1DB"/>
            </a:solidFill>
            <a:prstDash val="solid"/>
          </a:ln>
        </p:spPr>
      </p:sp>
      <p:sp>
        <p:nvSpPr>
          <p:cNvPr id="14" name="limit text"/>
          <p:cNvSpPr txBox="1"/>
          <p:nvPr/>
        </p:nvSpPr>
        <p:spPr>
          <a:xfrm>
            <a:off x="6949440" y="49834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92B"/>
                </a:solidFill>
              </a:rPr>
              <a:t>Limit: only three rules have computable proposals. For the other twelve the copilot asks or checks. The reviewer still compares the figure with the bill.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decisions for a person, with the risk bounded</a:t>
            </a:r>
            <a:endParaRPr lang="en-US" sz="3200" dirty="0"/>
          </a:p>
        </p:txBody>
      </p:sp>
      <p:sp>
        <p:nvSpPr>
          <p:cNvPr id="4" name="tag"/>
          <p:cNvSpPr/>
          <p:nvPr/>
        </p:nvSpPr>
        <p:spPr>
          <a:xfrm>
            <a:off x="9966960" y="7315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ag text"/>
          <p:cNvSpPr txBox="1"/>
          <p:nvPr/>
        </p:nvSpPr>
        <p:spPr>
          <a:xfrm>
            <a:off x="9966960" y="73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simulated</a:t>
            </a:r>
            <a:endParaRPr lang="en-US" sz="1100" dirty="0"/>
          </a:p>
        </p:txBody>
      </p:sp>
      <p:sp>
        <p:nvSpPr>
          <p:cNvPr id="6" name="lever 1"/>
          <p:cNvSpPr/>
          <p:nvPr/>
        </p:nvSpPr>
        <p:spPr>
          <a:xfrm>
            <a:off x="548640" y="14173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7" name="tag"/>
          <p:cNvSpPr/>
          <p:nvPr/>
        </p:nvSpPr>
        <p:spPr>
          <a:xfrm>
            <a:off x="5806440" y="17373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8" name="tag text"/>
          <p:cNvSpPr txBox="1"/>
          <p:nvPr/>
        </p:nvSpPr>
        <p:spPr>
          <a:xfrm>
            <a:off x="5806440" y="1737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</a:t>
            </a:r>
            <a:endParaRPr lang="en-US" sz="1100" dirty="0"/>
          </a:p>
        </p:txBody>
      </p:sp>
      <p:sp>
        <p:nvSpPr>
          <p:cNvPr id="9" name="lever text"/>
          <p:cNvSpPr txBox="1"/>
          <p:nvPr/>
        </p:nvSpPr>
        <p:spPr>
          <a:xfrm>
            <a:off x="731520" y="14173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One-click confirm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7292B"/>
                </a:solidFill>
              </a:rPr>
              <a:t>Confirming needs no typed reason. Dismissing still does, because it overrides the engine.</a:t>
            </a:r>
            <a:endParaRPr lang="en-US" sz="1500" dirty="0"/>
          </a:p>
        </p:txBody>
      </p:sp>
      <p:sp>
        <p:nvSpPr>
          <p:cNvPr id="10" name="lever 2"/>
          <p:cNvSpPr/>
          <p:nvPr/>
        </p:nvSpPr>
        <p:spPr>
          <a:xfrm>
            <a:off x="548640" y="2441448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1" name="tag"/>
          <p:cNvSpPr/>
          <p:nvPr/>
        </p:nvSpPr>
        <p:spPr>
          <a:xfrm>
            <a:off x="5806440" y="276148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5E1D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12" name="tag text"/>
          <p:cNvSpPr txBox="1"/>
          <p:nvPr/>
        </p:nvSpPr>
        <p:spPr>
          <a:xfrm>
            <a:off x="5806440" y="27614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off by default</a:t>
            </a:r>
            <a:endParaRPr lang="en-US" sz="1100" dirty="0"/>
          </a:p>
        </p:txBody>
      </p:sp>
      <p:sp>
        <p:nvSpPr>
          <p:cNvPr id="13" name="lever text"/>
          <p:cNvSpPr txBox="1"/>
          <p:nvPr/>
        </p:nvSpPr>
        <p:spPr>
          <a:xfrm>
            <a:off x="731520" y="244144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Bulk confirm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7292B"/>
                </a:solidFill>
              </a:rPr>
              <a:t>For rules reviewers almost always uphold. A random share still gets a full review. Bulk decisions never count as evidence.</a:t>
            </a:r>
            <a:endParaRPr lang="en-US" sz="1500" dirty="0"/>
          </a:p>
        </p:txBody>
      </p:sp>
      <p:sp>
        <p:nvSpPr>
          <p:cNvPr id="14" name="lever 3"/>
          <p:cNvSpPr/>
          <p:nvPr/>
        </p:nvSpPr>
        <p:spPr>
          <a:xfrm>
            <a:off x="548640" y="3465576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5" name="tag"/>
          <p:cNvSpPr/>
          <p:nvPr/>
        </p:nvSpPr>
        <p:spPr>
          <a:xfrm>
            <a:off x="5806440" y="378561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5E1D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16" name="tag text"/>
          <p:cNvSpPr txBox="1"/>
          <p:nvPr/>
        </p:nvSpPr>
        <p:spPr>
          <a:xfrm>
            <a:off x="5806440" y="3785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off by default</a:t>
            </a:r>
            <a:endParaRPr lang="en-US" sz="1100" dirty="0"/>
          </a:p>
        </p:txBody>
      </p:sp>
      <p:sp>
        <p:nvSpPr>
          <p:cNvPr id="17" name="lever text"/>
          <p:cNvSpPr txBox="1"/>
          <p:nvPr/>
        </p:nvSpPr>
        <p:spPr>
          <a:xfrm>
            <a:off x="731520" y="3465576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Auto-clear green claims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7292B"/>
                </a:solidFill>
              </a:rPr>
              <a:t>Pre-validation clearance only, with a random audit sample and an exact bound on the miss rate.</a:t>
            </a:r>
            <a:endParaRPr lang="en-US" sz="1500" dirty="0"/>
          </a:p>
        </p:txBody>
      </p:sp>
      <p:sp>
        <p:nvSpPr>
          <p:cNvPr id="18" name="lever 4"/>
          <p:cNvSpPr/>
          <p:nvPr/>
        </p:nvSpPr>
        <p:spPr>
          <a:xfrm>
            <a:off x="548640" y="4489704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9" name="tag"/>
          <p:cNvSpPr/>
          <p:nvPr/>
        </p:nvSpPr>
        <p:spPr>
          <a:xfrm>
            <a:off x="5806440" y="480974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5E1DF"/>
          </a:solidFill>
          <a:ln w="12700">
            <a:solidFill>
              <a:srgbClr val="D5E1DF"/>
            </a:solidFill>
            <a:prstDash val="solid"/>
          </a:ln>
        </p:spPr>
      </p:sp>
      <p:sp>
        <p:nvSpPr>
          <p:cNvPr id="20" name="tag text"/>
          <p:cNvSpPr txBox="1"/>
          <p:nvPr/>
        </p:nvSpPr>
        <p:spPr>
          <a:xfrm>
            <a:off x="5806440" y="4809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92B"/>
                </a:solidFill>
              </a:rPr>
              <a:t>off by default</a:t>
            </a:r>
            <a:endParaRPr lang="en-US" sz="1100" dirty="0"/>
          </a:p>
        </p:txBody>
      </p:sp>
      <p:sp>
        <p:nvSpPr>
          <p:cNvPr id="21" name="lever text"/>
          <p:cNvSpPr txBox="1"/>
          <p:nvPr/>
        </p:nvSpPr>
        <p:spPr>
          <a:xfrm>
            <a:off x="731520" y="448970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Auto-request information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7292B"/>
                </a:solidFill>
              </a:rPr>
              <a:t>For UNABLE_TO_ASSESS findings. The audit sample goes to a person.</a:t>
            </a:r>
            <a:endParaRPr lang="en-US" sz="1500" dirty="0"/>
          </a:p>
        </p:txBody>
      </p:sp>
      <p:sp>
        <p:nvSpPr>
          <p:cNvPr id="22" name="stat"/>
          <p:cNvSpPr txBox="1"/>
          <p:nvPr/>
        </p:nvSpPr>
        <p:spPr>
          <a:xfrm>
            <a:off x="7406640" y="1417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-39%</a:t>
            </a:r>
            <a:endParaRPr lang="en-US" sz="4400" dirty="0"/>
          </a:p>
        </p:txBody>
      </p:sp>
      <p:sp>
        <p:nvSpPr>
          <p:cNvPr id="23" name="stat label"/>
          <p:cNvSpPr txBox="1"/>
          <p:nvPr/>
        </p:nvSpPr>
        <p:spPr>
          <a:xfrm>
            <a:off x="740664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findings a person decides per 500 claims: 650 to 399</a:t>
            </a:r>
            <a:endParaRPr lang="en-US" sz="1400" dirty="0"/>
          </a:p>
        </p:txBody>
      </p:sp>
      <p:sp>
        <p:nvSpPr>
          <p:cNvPr id="24" name="stat"/>
          <p:cNvSpPr txBox="1"/>
          <p:nvPr/>
        </p:nvSpPr>
        <p:spPr>
          <a:xfrm>
            <a:off x="9601200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25" name="stat label"/>
          <p:cNvSpPr txBox="1"/>
          <p:nvPr/>
        </p:nvSpPr>
        <p:spPr>
          <a:xfrm>
            <a:off x="960120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wrong against the answer key</a:t>
            </a:r>
            <a:endParaRPr lang="en-US" sz="1400" dirty="0"/>
          </a:p>
        </p:txBody>
      </p:sp>
      <p:sp>
        <p:nvSpPr>
          <p:cNvPr id="26" name="honesty card"/>
          <p:cNvSpPr/>
          <p:nvPr/>
        </p:nvSpPr>
        <p:spPr>
          <a:xfrm>
            <a:off x="7406640" y="3429000"/>
            <a:ext cx="4206240" cy="2651760"/>
          </a:xfrm>
          <a:prstGeom prst="roundRect">
            <a:avLst>
              <a:gd name="adj" fmla="val 4138"/>
            </a:avLst>
          </a:prstGeom>
          <a:solidFill>
            <a:srgbClr val="0E3B3F"/>
          </a:solidFill>
          <a:ln w="12700">
            <a:solidFill>
              <a:srgbClr val="0E3B3F"/>
            </a:solidFill>
            <a:prstDash val="solid"/>
          </a:ln>
        </p:spPr>
      </p:sp>
      <p:sp>
        <p:nvSpPr>
          <p:cNvPr id="27" name="h"/>
          <p:cNvSpPr txBox="1"/>
          <p:nvPr/>
        </p:nvSpPr>
        <p:spPr>
          <a:xfrm>
            <a:off x="763524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known</a:t>
            </a:r>
            <a:endParaRPr lang="en-US" sz="1700" dirty="0"/>
          </a:p>
        </p:txBody>
      </p:sp>
      <p:sp>
        <p:nvSpPr>
          <p:cNvPr id="28" name="honesty text"/>
          <p:cNvSpPr txBox="1"/>
          <p:nvPr/>
        </p:nvSpPr>
        <p:spPr>
          <a:xfrm>
            <a:off x="7635240" y="39319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DEEEB"/>
                </a:solidFill>
              </a:rPr>
              <a:t>Time per finding has not been measured. The savings are counted in decisions, on the real pipeline with simulated reviewers. The first real step is a timed session with a few officers.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feedback, and a model we set aside</a:t>
            </a:r>
            <a:endParaRPr lang="en-US" sz="3200" dirty="0"/>
          </a:p>
        </p:txBody>
      </p:sp>
      <p:sp>
        <p:nvSpPr>
          <p:cNvPr id="4" name="left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5" name="h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 report (live)</a:t>
            </a:r>
            <a:endParaRPr lang="en-US" sz="1800" dirty="0"/>
          </a:p>
        </p:txBody>
      </p:sp>
      <p:sp>
        <p:nvSpPr>
          <p:cNvPr id="6" name="bullets"/>
          <p:cNvSpPr txBox="1"/>
          <p:nvPr/>
        </p:nvSpPr>
        <p:spPr>
          <a:xfrm>
            <a:off x="77724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Reads reviewer confirmations and dismissals per rule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Lists rules reviewers keep overriding: candidates to retune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Lists rules almost always upheld: candidates for light review, with a bounded price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92B"/>
                </a:solidFill>
              </a:rPr>
              <a:t>Read-only. It changes nothing by itself</a:t>
            </a:r>
            <a:endParaRPr lang="en-US" sz="1500" dirty="0"/>
          </a:p>
        </p:txBody>
      </p:sp>
      <p:sp>
        <p:nvSpPr>
          <p:cNvPr id="7" name="note"/>
          <p:cNvSpPr txBox="1"/>
          <p:nvPr/>
        </p:nvSpPr>
        <p:spPr>
          <a:xfrm>
            <a:off x="777240" y="4572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7173"/>
                </a:solidFill>
              </a:rPr>
              <a:t>In simulation both bad rules were found in 20 of 20 histories after 5,000 decisions, with 0 false alarms.</a:t>
            </a:r>
            <a:endParaRPr lang="en-US" sz="1300" dirty="0"/>
          </a:p>
        </p:txBody>
      </p:sp>
      <p:sp>
        <p:nvSpPr>
          <p:cNvPr id="8" name="right"/>
          <p:cNvSpPr/>
          <p:nvPr/>
        </p:nvSpPr>
        <p:spPr>
          <a:xfrm>
            <a:off x="621792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9" name="h"/>
          <p:cNvSpPr txBox="1"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Laya fine-tune (archived)</a:t>
            </a:r>
            <a:endParaRPr lang="en-US" sz="18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01168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split, 150 claims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Macro-F1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Zero-shot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0.631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0.289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Fine-tuned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0.971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0.915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Always guess PASS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0.835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bullets"/>
          <p:cNvSpPr txBox="1"/>
          <p:nvPr/>
        </p:nvSpPr>
        <p:spPr>
          <a:xfrm>
            <a:off x="6446520" y="36576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92B"/>
                </a:solidFill>
              </a:rPr>
              <a:t>It learned the rulebook, well calibrated (ECE 0.027), but finds only 64% of real FAILs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92B"/>
                </a:solidFill>
              </a:rPr>
              <a:t>Its labels are the engine's own, so after the engine it cannot save an operator any time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92B"/>
                </a:solidFill>
              </a:rPr>
              <a:t>Archived, not in the decision path. A confidence is never shown as a probability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checks that stay out of the official result</a:t>
            </a:r>
            <a:endParaRPr lang="en-US" sz="32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looks for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E001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Procedure pair billed without an exception modifier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E002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Exception modifier on a never-bundle pair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E003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Event date required by the diagnosis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E004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Route of administration missing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E005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Diagnosis cannot be the primary one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E101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A line duplicates one on an earlier claim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E102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Authorization exhausted across claims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high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E103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Daily quantity across claims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medium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</a:tbl>
          </a:graphicData>
        </a:graphic>
      </p:graphicFrame>
      <p:sp>
        <p:nvSpPr>
          <p:cNvPr id="5" name="rules card"/>
          <p:cNvSpPr/>
          <p:nvPr/>
        </p:nvSpPr>
        <p:spPr>
          <a:xfrm>
            <a:off x="7589520" y="141732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6" name="h"/>
          <p:cNvSpPr txBox="1"/>
          <p:nvPr/>
        </p:nvSpPr>
        <p:spPr>
          <a:xfrm>
            <a:off x="78181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they are separate</a:t>
            </a:r>
            <a:endParaRPr lang="en-US" sz="1700" dirty="0"/>
          </a:p>
        </p:txBody>
      </p:sp>
      <p:sp>
        <p:nvSpPr>
          <p:cNvPr id="7" name="bullets"/>
          <p:cNvSpPr txBox="1"/>
          <p:nvPr/>
        </p:nvSpPr>
        <p:spPr>
          <a:xfrm>
            <a:off x="7818120" y="1965960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292B"/>
                </a:solidFill>
              </a:rPr>
              <a:t>Own ids, file and schema. They never change an official result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292B"/>
                </a:solidFill>
              </a:rPr>
              <a:t>E102 is the cross-claim authorization usage you described, on explicitly synthetic history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292B"/>
                </a:solidFill>
              </a:rPr>
              <a:t>E001 to E005 cannot fire on public data by design: they use invented codes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292B"/>
                </a:solidFill>
              </a:rPr>
              <a:t>4,800 of 4,800 results agree with an independent oracle</a:t>
            </a:r>
            <a:endParaRPr lang="en-US" sz="135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5852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E102 fires only when earlier claims contributed units, so it never double-reports what R009 already fails.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attacked, mutated and fuzzed before you did it</a:t>
            </a:r>
            <a:endParaRPr lang="en-US" sz="3200" dirty="0"/>
          </a:p>
        </p:txBody>
      </p:sp>
      <p:sp>
        <p:nvSpPr>
          <p:cNvPr id="4" name="stat"/>
          <p:cNvSpPr txBox="1"/>
          <p:nvPr/>
        </p:nvSpPr>
        <p:spPr>
          <a:xfrm>
            <a:off x="54864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4800" dirty="0"/>
          </a:p>
        </p:txBody>
      </p:sp>
      <p:sp>
        <p:nvSpPr>
          <p:cNvPr id="5" name="stat label"/>
          <p:cNvSpPr txBox="1"/>
          <p:nvPr/>
        </p:nvSpPr>
        <p:spPr>
          <a:xfrm>
            <a:off x="54864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black-box attack checks, all passing</a:t>
            </a:r>
            <a:endParaRPr lang="en-US" sz="1400" dirty="0"/>
          </a:p>
        </p:txBody>
      </p:sp>
      <p:sp>
        <p:nvSpPr>
          <p:cNvPr id="6" name="stat"/>
          <p:cNvSpPr txBox="1"/>
          <p:nvPr/>
        </p:nvSpPr>
        <p:spPr>
          <a:xfrm>
            <a:off x="338328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4800" dirty="0"/>
          </a:p>
        </p:txBody>
      </p:sp>
      <p:sp>
        <p:nvSpPr>
          <p:cNvPr id="7" name="stat label"/>
          <p:cNvSpPr txBox="1"/>
          <p:nvPr/>
        </p:nvSpPr>
        <p:spPr>
          <a:xfrm>
            <a:off x="338328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deliberate breakages of the security and queue rules, each caught by a test</a:t>
            </a:r>
            <a:endParaRPr lang="en-US" sz="1400" dirty="0"/>
          </a:p>
        </p:txBody>
      </p:sp>
      <p:sp>
        <p:nvSpPr>
          <p:cNvPr id="8" name="stat"/>
          <p:cNvSpPr txBox="1"/>
          <p:nvPr/>
        </p:nvSpPr>
        <p:spPr>
          <a:xfrm>
            <a:off x="621792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400,000</a:t>
            </a:r>
            <a:endParaRPr lang="en-US" sz="4800" dirty="0"/>
          </a:p>
        </p:txBody>
      </p:sp>
      <p:sp>
        <p:nvSpPr>
          <p:cNvPr id="9" name="stat label"/>
          <p:cNvSpPr txBox="1"/>
          <p:nvPr/>
        </p:nvSpPr>
        <p:spPr>
          <a:xfrm>
            <a:off x="621792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fuzzed requests through the API</a:t>
            </a:r>
            <a:endParaRPr lang="en-US" sz="1400" dirty="0"/>
          </a:p>
        </p:txBody>
      </p:sp>
      <p:sp>
        <p:nvSpPr>
          <p:cNvPr id="10" name="stat"/>
          <p:cNvSpPr txBox="1"/>
          <p:nvPr/>
        </p:nvSpPr>
        <p:spPr>
          <a:xfrm>
            <a:off x="905256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1474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800" dirty="0"/>
          </a:p>
        </p:txBody>
      </p:sp>
      <p:sp>
        <p:nvSpPr>
          <p:cNvPr id="11" name="stat label"/>
          <p:cNvSpPr txBox="1"/>
          <p:nvPr/>
        </p:nvSpPr>
        <p:spPr>
          <a:xfrm>
            <a:off x="9052560" y="2286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checks on the deployment: nothing but the proxy reachable</a:t>
            </a:r>
            <a:endParaRPr lang="en-US" sz="1400" dirty="0"/>
          </a:p>
        </p:txBody>
      </p:sp>
      <p:sp>
        <p:nvSpPr>
          <p:cNvPr id="12" name="sec 1"/>
          <p:cNvSpPr/>
          <p:nvPr/>
        </p:nvSpPr>
        <p:spPr>
          <a:xfrm>
            <a:off x="548640" y="32918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3" name="sec text"/>
          <p:cNvSpPr txBox="1"/>
          <p:nvPr/>
        </p:nvSpPr>
        <p:spPr>
          <a:xfrm>
            <a:off x="73152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Identity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badge, password, authenticator code. Four clearance levels, enforced on the server. A hidden action is not offered, not just disabled</a:t>
            </a:r>
            <a:endParaRPr lang="en-US" sz="1500" dirty="0"/>
          </a:p>
        </p:txBody>
      </p:sp>
      <p:sp>
        <p:nvSpPr>
          <p:cNvPr id="14" name="sec 2"/>
          <p:cNvSpPr/>
          <p:nvPr/>
        </p:nvSpPr>
        <p:spPr>
          <a:xfrm>
            <a:off x="6126480" y="32918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5" name="sec text"/>
          <p:cNvSpPr txBox="1"/>
          <p:nvPr/>
        </p:nvSpPr>
        <p:spPr>
          <a:xfrm>
            <a:off x="630936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Privacy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reviewers see pseudonyms. Unmasking needs its own permission, a reason without the identifier, and an hourly limit</a:t>
            </a:r>
            <a:endParaRPr lang="en-US" sz="1500" dirty="0"/>
          </a:p>
        </p:txBody>
      </p:sp>
      <p:sp>
        <p:nvSpPr>
          <p:cNvPr id="16" name="sec 3"/>
          <p:cNvSpPr/>
          <p:nvPr/>
        </p:nvSpPr>
        <p:spPr>
          <a:xfrm>
            <a:off x="548640" y="46634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7" name="sec text"/>
          <p:cNvSpPr txBox="1"/>
          <p:nvPr/>
        </p:nvSpPr>
        <p:spPr>
          <a:xfrm>
            <a:off x="731520" y="466344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Two people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the most dangerous administrator actions need a second administrator with a fresh code</a:t>
            </a:r>
            <a:endParaRPr lang="en-US" sz="1500" dirty="0"/>
          </a:p>
        </p:txBody>
      </p:sp>
      <p:sp>
        <p:nvSpPr>
          <p:cNvPr id="18" name="sec 4"/>
          <p:cNvSpPr/>
          <p:nvPr/>
        </p:nvSpPr>
        <p:spPr>
          <a:xfrm>
            <a:off x="6126480" y="466344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9" name="sec text"/>
          <p:cNvSpPr txBox="1"/>
          <p:nvPr/>
        </p:nvSpPr>
        <p:spPr>
          <a:xfrm>
            <a:off x="6309360" y="466344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At rest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claims, results and corrections are encrypted in MongoDB. Audit logs encrypted, key rotation tested</a:t>
            </a:r>
            <a:endParaRPr lang="en-US" sz="1500" dirty="0"/>
          </a:p>
        </p:txBody>
      </p:sp>
      <p:sp>
        <p:nvSpPr>
          <p:cNvPr id="20" name="footnote"/>
          <p:cNvSpPr txBox="1"/>
          <p:nvPr/>
        </p:nvSpPr>
        <p:spPr>
          <a:xfrm>
            <a:off x="548640" y="6263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Not done: nobody outside the team has attacked it, and a lone administrator or one person holding two accounts is logged but not prevented.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on record, and an edit is caught</a:t>
            </a:r>
            <a:endParaRPr lang="en-US" sz="32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Moment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What is written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Claim received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input hash, rule pack hash, result hash, lane and score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A finding is decided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badge, action, reason, original status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A what-if is tried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who, which claim, how many changes (nothing else is kept)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A correction is saved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both versions linked by input hash, each change from and to, findings cleared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An identifier is unmasked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292B"/>
                          </a:solidFill>
                        </a:rPr>
                        <a:t>badge, claim, reason, counted against an hourly limit</a:t>
                      </a:r>
                      <a:endParaRPr lang="en-US" sz="13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mper card"/>
          <p:cNvSpPr/>
          <p:nvPr/>
        </p:nvSpPr>
        <p:spPr>
          <a:xfrm>
            <a:off x="7772400" y="1417320"/>
            <a:ext cx="3840480" cy="3429000"/>
          </a:xfrm>
          <a:prstGeom prst="roundRect">
            <a:avLst>
              <a:gd name="adj" fmla="val 3200"/>
            </a:avLst>
          </a:prstGeom>
          <a:solidFill>
            <a:srgbClr val="0E3B3F"/>
          </a:solidFill>
          <a:ln w="12700">
            <a:solidFill>
              <a:srgbClr val="0E3B3F"/>
            </a:solidFill>
            <a:prstDash val="solid"/>
          </a:ln>
        </p:spPr>
      </p:sp>
      <p:sp>
        <p:nvSpPr>
          <p:cNvPr id="6" name="h"/>
          <p:cNvSpPr txBox="1"/>
          <p:nvPr/>
        </p:nvSpPr>
        <p:spPr>
          <a:xfrm>
            <a:off x="800100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 evidence</a:t>
            </a:r>
            <a:endParaRPr lang="en-US" sz="1700" dirty="0"/>
          </a:p>
        </p:txBody>
      </p:sp>
      <p:sp>
        <p:nvSpPr>
          <p:cNvPr id="7" name="tamper text"/>
          <p:cNvSpPr txBox="1"/>
          <p:nvPr/>
        </p:nvSpPr>
        <p:spPr>
          <a:xfrm>
            <a:off x="8001000" y="196596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DEEEB"/>
                </a:solidFill>
              </a:rPr>
              <a:t>Hash-chained, signed logs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DEEEB"/>
                </a:solidFill>
              </a:rPr>
              <a:t>An append-only mirror that refuses to follow an edited log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DEEEB"/>
                </a:solidFill>
              </a:rPr>
              <a:t>Ed25519 ledger with checkpoints and Merkle proofs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DDEEEB"/>
                </a:solidFill>
              </a:rPr>
              <a:t>Demo: rewrite a row, the health panel goes red within seconds</a:t>
            </a:r>
            <a:endParaRPr lang="en-US" sz="135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263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173"/>
                </a:solidFill>
              </a:rPr>
              <a:t>Trace panel: both versions of a corrected claim, side by side, with their events and decisions.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on premises, written for the hospital's own servers</a:t>
            </a:r>
            <a:endParaRPr lang="en-US" sz="32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Piece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Docker Compose stack: API, worker, MongoDB, Redis, proxy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746F"/>
                          </a:solidFill>
                        </a:rPr>
                        <a:t>Tested: attack test 50 of 50, backup and restore 23 of 23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Encrypted backup and restore, runbook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746F"/>
                          </a:solidFill>
                        </a:rPr>
                        <a:t>Tested end to end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Model server (vLLM, one model per server, offline weights)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2A541"/>
                          </a:solidFill>
                        </a:rPr>
                        <a:t>Designed and scripted, benchmark on slide 20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Kubernetes manifests, network policies, restricted pods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</a:rPr>
                        <a:t>Written, structurally tested, no cluster to apply them to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Host firewall and port scan from outside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</a:rPr>
                        <a:t>Tested in throwaway containers, not on the real server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Target server: RTX 3080 10 GB, 12 GB RAM, Linux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8553D"/>
                          </a:solidFill>
                        </a:rPr>
                        <a:t>Not run on it yet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</a:tbl>
          </a:graphicData>
        </a:graphic>
      </p:graphicFrame>
      <p:sp>
        <p:nvSpPr>
          <p:cNvPr id="5" name="pdpl card"/>
          <p:cNvSpPr/>
          <p:nvPr/>
        </p:nvSpPr>
        <p:spPr>
          <a:xfrm>
            <a:off x="548640" y="53035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6" name="pdpl text"/>
          <p:cNvSpPr txBox="1"/>
          <p:nvPr/>
        </p:nvSpPr>
        <p:spPr>
          <a:xfrm>
            <a:off x="777240" y="5303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3F"/>
                </a:solidFill>
              </a:rPr>
              <a:t>Data protection (PDPL family): </a:t>
            </a:r>
            <a:pPr indent="0" marL="0">
              <a:buNone/>
            </a:pPr>
            <a:r>
              <a:rPr lang="en-US" sz="1400" dirty="0">
                <a:solidFill>
                  <a:srgbClr val="17292B"/>
                </a:solidFill>
              </a:rPr>
              <a:t>each obligation is mapped to what the system does. Two things are not built yet: subject access and erasure, and a retention period.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the model: what this laptop measured</a:t>
            </a:r>
            <a:endParaRPr lang="en-US" sz="32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1234440"/>
                <a:gridCol w="1280160"/>
                <a:gridCol w="1188720"/>
                <a:gridCol w="1417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Parallel requests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Default: per minute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Default: median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8 slots: per minute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8 slots: median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8 slots: tokens per second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52.2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1.17 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746F"/>
                          </a:solidFill>
                        </a:rPr>
                        <a:t>52.4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1.16 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62.7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54.5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4.36 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746F"/>
                          </a:solidFill>
                        </a:rPr>
                        <a:t>116.6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2 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139.9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52.8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8.9 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746F"/>
                          </a:solidFill>
                        </a:rPr>
                        <a:t>142.7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3.16 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171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51.3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18.59 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746F"/>
                          </a:solidFill>
                        </a:rPr>
                        <a:t>131.9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6.79 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92B"/>
                          </a:solidFill>
                        </a:rPr>
                        <a:t>158.9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5"/>
                    </a:solidFill>
                  </a:tcPr>
                </a:tc>
              </a:tr>
            </a:tbl>
          </a:graphicData>
        </a:graphic>
      </p:graphicFrame>
      <p:sp>
        <p:nvSpPr>
          <p:cNvPr id="5" name="stat"/>
          <p:cNvSpPr txBox="1"/>
          <p:nvPr/>
        </p:nvSpPr>
        <p:spPr>
          <a:xfrm>
            <a:off x="8412480" y="13258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5400" dirty="0"/>
          </a:p>
        </p:txBody>
      </p:sp>
      <p:sp>
        <p:nvSpPr>
          <p:cNvPr id="6" name="stat label"/>
          <p:cNvSpPr txBox="1"/>
          <p:nvPr/>
        </p:nvSpPr>
        <p:spPr>
          <a:xfrm>
            <a:off x="8412480" y="2194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173"/>
                </a:solidFill>
              </a:rPr>
              <a:t>explanations a minute with 8 slots (gemma3:4b, laptop RTX 4060). Default: 54, one at a time</a:t>
            </a:r>
            <a:endParaRPr lang="en-US" sz="1400" dirty="0"/>
          </a:p>
        </p:txBody>
      </p:sp>
      <p:sp>
        <p:nvSpPr>
          <p:cNvPr id="7" name="vllm card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1DB"/>
          </a:solidFill>
          <a:ln w="12700">
            <a:solidFill>
              <a:srgbClr val="FFF1DB"/>
            </a:solidFill>
            <a:prstDash val="solid"/>
          </a:ln>
        </p:spPr>
      </p:sp>
      <p:sp>
        <p:nvSpPr>
          <p:cNvPr id="8" name="vllm text"/>
          <p:cNvSpPr txBox="1"/>
          <p:nvPr/>
        </p:nvSpPr>
        <p:spPr>
          <a:xfrm>
            <a:off x="777240" y="42976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3B3F"/>
                </a:solidFill>
              </a:rPr>
              <a:t>vLLM is the planned production server, and it has not been run.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92B"/>
                </a:solidFill>
              </a:rPr>
              <a:t>Ollama's downloaded model cannot be reused by vLLM, the Hugging Face cache holds no chat model, and the laptop's system drive has under 9 GB free (vLLM with a 4B model needs about 15 GB). Only 5% of findings need a model call once the template cache is warm, so 140 calls a minute can cover roughly 2,800 findings a minute. The benchmark script works against any server, so the same table can be made on the target.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not done, said before you ask</a:t>
            </a:r>
            <a:endParaRPr lang="en-US" sz="3200" dirty="0"/>
          </a:p>
        </p:txBody>
      </p:sp>
      <p:sp>
        <p:nvSpPr>
          <p:cNvPr id="4" name="limit 1"/>
          <p:cNvSpPr/>
          <p:nvPr/>
        </p:nvSpPr>
        <p:spPr>
          <a:xfrm>
            <a:off x="548640" y="1417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31520" y="17282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badge text"/>
          <p:cNvSpPr txBox="1"/>
          <p:nvPr/>
        </p:nvSpPr>
        <p:spPr>
          <a:xfrm>
            <a:off x="73152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limit text"/>
          <p:cNvSpPr txBox="1"/>
          <p:nvPr/>
        </p:nvSpPr>
        <p:spPr>
          <a:xfrm>
            <a:off x="1280160" y="1417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Public data is synthetic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Perfect scores on it do not show how real claims behave.</a:t>
            </a:r>
            <a:endParaRPr lang="en-US" sz="1500" dirty="0"/>
          </a:p>
        </p:txBody>
      </p:sp>
      <p:sp>
        <p:nvSpPr>
          <p:cNvPr id="8" name="limit 2"/>
          <p:cNvSpPr/>
          <p:nvPr/>
        </p:nvSpPr>
        <p:spPr>
          <a:xfrm>
            <a:off x="6126480" y="1417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309360" y="17282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badge text"/>
          <p:cNvSpPr txBox="1"/>
          <p:nvPr/>
        </p:nvSpPr>
        <p:spPr>
          <a:xfrm>
            <a:off x="630936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limit text"/>
          <p:cNvSpPr txBox="1"/>
          <p:nvPr/>
        </p:nvSpPr>
        <p:spPr>
          <a:xfrm>
            <a:off x="6858000" y="1417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Savings are simulated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No timed session with real reviewers yet.</a:t>
            </a:r>
            <a:endParaRPr lang="en-US" sz="1500" dirty="0"/>
          </a:p>
        </p:txBody>
      </p:sp>
      <p:sp>
        <p:nvSpPr>
          <p:cNvPr id="12" name="limit 3"/>
          <p:cNvSpPr/>
          <p:nvPr/>
        </p:nvSpPr>
        <p:spPr>
          <a:xfrm>
            <a:off x="548640" y="2560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731520" y="28712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4" name="badge text"/>
          <p:cNvSpPr txBox="1"/>
          <p:nvPr/>
        </p:nvSpPr>
        <p:spPr>
          <a:xfrm>
            <a:off x="73152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limit text"/>
          <p:cNvSpPr txBox="1"/>
          <p:nvPr/>
        </p:nvSpPr>
        <p:spPr>
          <a:xfrm>
            <a:off x="1280160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No run on the target server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Throughput on an RTX 3080 and vLLM are unmeasured.</a:t>
            </a:r>
            <a:endParaRPr lang="en-US" sz="1500" dirty="0"/>
          </a:p>
        </p:txBody>
      </p:sp>
      <p:sp>
        <p:nvSpPr>
          <p:cNvPr id="16" name="limit 4"/>
          <p:cNvSpPr/>
          <p:nvPr/>
        </p:nvSpPr>
        <p:spPr>
          <a:xfrm>
            <a:off x="6126480" y="2560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309360" y="28712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8" name="badge text"/>
          <p:cNvSpPr txBox="1"/>
          <p:nvPr/>
        </p:nvSpPr>
        <p:spPr>
          <a:xfrm>
            <a:off x="630936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limit text"/>
          <p:cNvSpPr txBox="1"/>
          <p:nvPr/>
        </p:nvSpPr>
        <p:spPr>
          <a:xfrm>
            <a:off x="6858000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No Kubernetes cluster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Manifests are written and structurally tested only.</a:t>
            </a:r>
            <a:endParaRPr lang="en-US" sz="1500" dirty="0"/>
          </a:p>
        </p:txBody>
      </p:sp>
      <p:sp>
        <p:nvSpPr>
          <p:cNvPr id="20" name="limit 5"/>
          <p:cNvSpPr/>
          <p:nvPr/>
        </p:nvSpPr>
        <p:spPr>
          <a:xfrm>
            <a:off x="548640" y="3703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21" name="badge"/>
          <p:cNvSpPr/>
          <p:nvPr/>
        </p:nvSpPr>
        <p:spPr>
          <a:xfrm>
            <a:off x="731520" y="40142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2" name="badge text"/>
          <p:cNvSpPr txBox="1"/>
          <p:nvPr/>
        </p:nvSpPr>
        <p:spPr>
          <a:xfrm>
            <a:off x="73152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limit text"/>
          <p:cNvSpPr txBox="1"/>
          <p:nvPr/>
        </p:nvSpPr>
        <p:spPr>
          <a:xfrm>
            <a:off x="1280160" y="3703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Documents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Real paper, handwriting and Arabic are untested.</a:t>
            </a:r>
            <a:endParaRPr lang="en-US" sz="1500" dirty="0"/>
          </a:p>
        </p:txBody>
      </p:sp>
      <p:sp>
        <p:nvSpPr>
          <p:cNvPr id="24" name="limit 6"/>
          <p:cNvSpPr/>
          <p:nvPr/>
        </p:nvSpPr>
        <p:spPr>
          <a:xfrm>
            <a:off x="6126480" y="3703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25" name="badge"/>
          <p:cNvSpPr/>
          <p:nvPr/>
        </p:nvSpPr>
        <p:spPr>
          <a:xfrm>
            <a:off x="6309360" y="40142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6" name="badge text"/>
          <p:cNvSpPr txBox="1"/>
          <p:nvPr/>
        </p:nvSpPr>
        <p:spPr>
          <a:xfrm>
            <a:off x="630936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limit text"/>
          <p:cNvSpPr txBox="1"/>
          <p:nvPr/>
        </p:nvSpPr>
        <p:spPr>
          <a:xfrm>
            <a:off x="6858000" y="3703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Data subject rights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Access, erasure and retention are designed, not built.</a:t>
            </a:r>
            <a:endParaRPr lang="en-US" sz="1500" dirty="0"/>
          </a:p>
        </p:txBody>
      </p:sp>
      <p:sp>
        <p:nvSpPr>
          <p:cNvPr id="28" name="limit 7"/>
          <p:cNvSpPr/>
          <p:nvPr/>
        </p:nvSpPr>
        <p:spPr>
          <a:xfrm>
            <a:off x="548640" y="4846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731520" y="51572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0" name="badge text"/>
          <p:cNvSpPr txBox="1"/>
          <p:nvPr/>
        </p:nvSpPr>
        <p:spPr>
          <a:xfrm>
            <a:off x="73152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limit text"/>
          <p:cNvSpPr txBox="1"/>
          <p:nvPr/>
        </p:nvSpPr>
        <p:spPr>
          <a:xfrm>
            <a:off x="1280160" y="4846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Copilot proposals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Three rules have computable fixes. The rest ask or check.</a:t>
            </a:r>
            <a:endParaRPr lang="en-US" sz="1500" dirty="0"/>
          </a:p>
        </p:txBody>
      </p:sp>
      <p:sp>
        <p:nvSpPr>
          <p:cNvPr id="32" name="limit 8"/>
          <p:cNvSpPr/>
          <p:nvPr/>
        </p:nvSpPr>
        <p:spPr>
          <a:xfrm>
            <a:off x="6126480" y="484632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33" name="badge"/>
          <p:cNvSpPr/>
          <p:nvPr/>
        </p:nvSpPr>
        <p:spPr>
          <a:xfrm>
            <a:off x="6309360" y="51572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4" name="badge text"/>
          <p:cNvSpPr txBox="1"/>
          <p:nvPr/>
        </p:nvSpPr>
        <p:spPr>
          <a:xfrm>
            <a:off x="6309360" y="5157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5" name="limit text"/>
          <p:cNvSpPr txBox="1"/>
          <p:nvPr/>
        </p:nvSpPr>
        <p:spPr>
          <a:xfrm>
            <a:off x="6858000" y="4846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3F"/>
                </a:solidFill>
              </a:rPr>
              <a:t>Nobody outside the team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7292B"/>
                </a:solidFill>
              </a:rPr>
              <a:t>has attacked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minutes of demo, and four questions for you</a:t>
            </a:r>
            <a:endParaRPr lang="en-US" sz="3200" dirty="0"/>
          </a:p>
        </p:txBody>
      </p:sp>
      <p:sp>
        <p:nvSpPr>
          <p:cNvPr id="4" name="demo card"/>
          <p:cNvSpPr/>
          <p:nvPr/>
        </p:nvSpPr>
        <p:spPr>
          <a:xfrm>
            <a:off x="548640" y="1417320"/>
            <a:ext cx="5760720" cy="4663440"/>
          </a:xfrm>
          <a:prstGeom prst="roundRect">
            <a:avLst>
              <a:gd name="adj" fmla="val 2353"/>
            </a:avLst>
          </a:prstGeom>
          <a:solidFill>
            <a:srgbClr val="F2F6F5"/>
          </a:solidFill>
          <a:ln w="12700">
            <a:solidFill>
              <a:srgbClr val="F2F6F5"/>
            </a:solidFill>
            <a:prstDash val="solid"/>
          </a:ln>
        </p:spPr>
      </p:sp>
      <p:sp>
        <p:nvSpPr>
          <p:cNvPr id="5" name="h"/>
          <p:cNvSpPr txBox="1"/>
          <p:nvPr/>
        </p:nvSpPr>
        <p:spPr>
          <a:xfrm>
            <a:off x="777240" y="1508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3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</a:t>
            </a:r>
            <a:endParaRPr lang="en-US" sz="1800" dirty="0"/>
          </a:p>
        </p:txBody>
      </p:sp>
      <p:sp>
        <p:nvSpPr>
          <p:cNvPr id="6" name="badge"/>
          <p:cNvSpPr/>
          <p:nvPr/>
        </p:nvSpPr>
        <p:spPr>
          <a:xfrm>
            <a:off x="777240" y="2057400"/>
            <a:ext cx="365760" cy="36576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7" name="badge text"/>
          <p:cNvSpPr txBox="1"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demo step"/>
          <p:cNvSpPr txBox="1"/>
          <p:nvPr/>
        </p:nvSpPr>
        <p:spPr>
          <a:xfrm>
            <a:off x="13258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92B"/>
                </a:solidFill>
              </a:rPr>
              <a:t>A claim with a wrong amount arrives</a:t>
            </a:r>
            <a:endParaRPr lang="en-US" sz="1450" dirty="0"/>
          </a:p>
        </p:txBody>
      </p:sp>
      <p:sp>
        <p:nvSpPr>
          <p:cNvPr id="9" name="badge"/>
          <p:cNvSpPr/>
          <p:nvPr/>
        </p:nvSpPr>
        <p:spPr>
          <a:xfrm>
            <a:off x="777240" y="2697480"/>
            <a:ext cx="365760" cy="36576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0" name="badge text"/>
          <p:cNvSpPr txBox="1"/>
          <p:nvPr/>
        </p:nvSpPr>
        <p:spPr>
          <a:xfrm>
            <a:off x="7772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demo step"/>
          <p:cNvSpPr txBox="1"/>
          <p:nvPr/>
        </p:nvSpPr>
        <p:spPr>
          <a:xfrm>
            <a:off x="132588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92B"/>
                </a:solidFill>
              </a:rPr>
              <a:t>The senior opens it: summary and evidence</a:t>
            </a:r>
            <a:endParaRPr lang="en-US" sz="1450" dirty="0"/>
          </a:p>
        </p:txBody>
      </p:sp>
      <p:sp>
        <p:nvSpPr>
          <p:cNvPr id="12" name="badge"/>
          <p:cNvSpPr/>
          <p:nvPr/>
        </p:nvSpPr>
        <p:spPr>
          <a:xfrm>
            <a:off x="777240" y="3337560"/>
            <a:ext cx="365760" cy="36576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3" name="badge text"/>
          <p:cNvSpPr txBox="1"/>
          <p:nvPr/>
        </p:nvSpPr>
        <p:spPr>
          <a:xfrm>
            <a:off x="7772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demo step"/>
          <p:cNvSpPr txBox="1"/>
          <p:nvPr/>
        </p:nvSpPr>
        <p:spPr>
          <a:xfrm>
            <a:off x="132588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92B"/>
                </a:solidFill>
              </a:rPr>
              <a:t>What-if: every check would pass</a:t>
            </a:r>
            <a:endParaRPr lang="en-US" sz="1450" dirty="0"/>
          </a:p>
        </p:txBody>
      </p:sp>
      <p:sp>
        <p:nvSpPr>
          <p:cNvPr id="15" name="badge"/>
          <p:cNvSpPr/>
          <p:nvPr/>
        </p:nvSpPr>
        <p:spPr>
          <a:xfrm>
            <a:off x="777240" y="3977640"/>
            <a:ext cx="365760" cy="36576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6" name="badge text"/>
          <p:cNvSpPr txBox="1"/>
          <p:nvPr/>
        </p:nvSpPr>
        <p:spPr>
          <a:xfrm>
            <a:off x="7772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demo step"/>
          <p:cNvSpPr txBox="1"/>
          <p:nvPr/>
        </p:nvSpPr>
        <p:spPr>
          <a:xfrm>
            <a:off x="132588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92B"/>
                </a:solidFill>
              </a:rPr>
              <a:t>Apply with a reason: version 2</a:t>
            </a:r>
            <a:endParaRPr lang="en-US" sz="1450" dirty="0"/>
          </a:p>
        </p:txBody>
      </p:sp>
      <p:sp>
        <p:nvSpPr>
          <p:cNvPr id="18" name="badge"/>
          <p:cNvSpPr/>
          <p:nvPr/>
        </p:nvSpPr>
        <p:spPr>
          <a:xfrm>
            <a:off x="777240" y="4617720"/>
            <a:ext cx="365760" cy="36576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19" name="badge text"/>
          <p:cNvSpPr txBox="1"/>
          <p:nvPr/>
        </p:nvSpPr>
        <p:spPr>
          <a:xfrm>
            <a:off x="7772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demo step"/>
          <p:cNvSpPr txBox="1"/>
          <p:nvPr/>
        </p:nvSpPr>
        <p:spPr>
          <a:xfrm>
            <a:off x="132588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92B"/>
                </a:solidFill>
              </a:rPr>
              <a:t>Trace: both versions, who, what, why</a:t>
            </a:r>
            <a:endParaRPr lang="en-US" sz="1450" dirty="0"/>
          </a:p>
        </p:txBody>
      </p:sp>
      <p:sp>
        <p:nvSpPr>
          <p:cNvPr id="21" name="badge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14746F"/>
          </a:solidFill>
          <a:ln w="12700">
            <a:solidFill>
              <a:srgbClr val="14746F"/>
            </a:solidFill>
            <a:prstDash val="solid"/>
          </a:ln>
        </p:spPr>
      </p:sp>
      <p:sp>
        <p:nvSpPr>
          <p:cNvPr id="22" name="badge text"/>
          <p:cNvSpPr txBox="1"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demo step"/>
          <p:cNvSpPr txBox="1"/>
          <p:nvPr/>
        </p:nvSpPr>
        <p:spPr>
          <a:xfrm>
            <a:off x="1325880" y="5257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92B"/>
                </a:solidFill>
              </a:rPr>
              <a:t>Rewrite an audit row: the alarm goes red</a:t>
            </a:r>
            <a:endParaRPr lang="en-US" sz="1450" dirty="0"/>
          </a:p>
        </p:txBody>
      </p:sp>
      <p:sp>
        <p:nvSpPr>
          <p:cNvPr id="24" name="questions card"/>
          <p:cNvSpPr/>
          <p:nvPr/>
        </p:nvSpPr>
        <p:spPr>
          <a:xfrm>
            <a:off x="6492240" y="141732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0E3B3F"/>
          </a:solidFill>
          <a:ln w="12700">
            <a:solidFill>
              <a:srgbClr val="0E3B3F"/>
            </a:solidFill>
            <a:prstDash val="solid"/>
          </a:ln>
        </p:spPr>
      </p:sp>
      <p:sp>
        <p:nvSpPr>
          <p:cNvPr id="25" name="h"/>
          <p:cNvSpPr txBox="1"/>
          <p:nvPr/>
        </p:nvSpPr>
        <p:spPr>
          <a:xfrm>
            <a:off x="6720840" y="1508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mentor</a:t>
            </a:r>
            <a:endParaRPr lang="en-US" sz="1800" dirty="0"/>
          </a:p>
        </p:txBody>
      </p:sp>
      <p:sp>
        <p:nvSpPr>
          <p:cNvPr id="26" name="questions"/>
          <p:cNvSpPr txBox="1"/>
          <p:nvPr/>
        </p:nvSpPr>
        <p:spPr>
          <a:xfrm>
            <a:off x="6720840" y="205740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DEEEB"/>
                </a:solidFill>
              </a:rPr>
              <a:t>R006 and R013: three public claims split one service into a plain line and an EDU-SEPARATE line (CG-B10B19D8A56A, CG-00348A9B1AAD, CG-EC233ACB399D). The rules pass them as documented, but the total quantity exceeds the per-line limit. Intended?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DEEEB"/>
                </a:solidFill>
              </a:rPr>
              <a:t>Is 'pre-validation clear' the right label for a claim a person confirmed or the system cleared?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DEEEB"/>
                </a:solidFill>
              </a:rPr>
              <a:t>A Redis Streams queue in Rust: acceptable in place of Celery or ARQ?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DDEEEB"/>
                </a:solidFill>
              </a:rPr>
              <a:t>Would a timed session with a few officers be possible, to measure real time saved?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1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imGuard">
  <a:themeElements>
    <a:clrScheme name="ClaimGuard">
      <a:dk1>
        <a:srgbClr val="17292B"/>
      </a:dk1>
      <a:lt1>
        <a:srgbClr val="FFFFFF"/>
      </a:lt1>
      <a:dk2>
        <a:srgbClr val="0E3B3F"/>
      </a:dk2>
      <a:lt2>
        <a:srgbClr val="F2F6F5"/>
      </a:lt2>
      <a:accent1>
        <a:srgbClr val="14746F"/>
      </a:accent1>
      <a:accent2>
        <a:srgbClr val="F2A541"/>
      </a:accent2>
      <a:accent3>
        <a:srgbClr val="C8553D"/>
      </a:accent3>
      <a:accent4>
        <a:srgbClr val="5C7173"/>
      </a:accent4>
      <a:accent5>
        <a:srgbClr val="2E9E8F"/>
      </a:accent5>
      <a:accent6>
        <a:srgbClr val="8FB8B3"/>
      </a:accent6>
      <a:hlink>
        <a:srgbClr val="14746F"/>
      </a:hlink>
      <a:folHlink>
        <a:srgbClr val="5C7173"/>
      </a:folHlink>
    </a:clrScheme>
    <a:fontScheme name="ClaimGu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ClaimGuard: mentor session</dc:title>
  <dc:subject>PptxGenJS Presentation</dc:subject>
  <dc:creator>ClaimGuard team</dc:creator>
  <cp:lastModifiedBy>ClaimGuard team</cp:lastModifiedBy>
  <cp:revision>1</cp:revision>
  <dcterms:created xsi:type="dcterms:W3CDTF">2026-10-16T21:23:40Z</dcterms:created>
  <dcterms:modified xsi:type="dcterms:W3CDTF">2026-10-16T21:23:40Z</dcterms:modified>
</cp:coreProperties>
</file>